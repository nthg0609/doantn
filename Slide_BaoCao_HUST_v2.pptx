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68" r:id="rId21"/>
  </p:sldIdLst>
  <p:sldSz cx="9144000" cy="6858000"/>
  <p:notesSz cx="6858000" cy="9144000"/>
  <p:embeddedFontLst>
    <p:embeddedFont>
      <p:font typeface="Lato" panose="020F0502020204030203"/>
      <p:regular r:id="rId25"/>
    </p:embeddedFont>
    <p:embeddedFont>
      <p:font typeface="Calibri" panose="020F0502020204030204"/>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79"/>
        <p:cNvGrpSpPr/>
        <p:nvPr/>
      </p:nvGrpSpPr>
      <p:grpSpPr>
        <a:xfrm>
          <a:off x="0" y="0"/>
          <a:ext cx="0" cy="0"/>
          <a:chOff x="0" y="0"/>
          <a:chExt cx="0" cy="0"/>
        </a:xfrm>
      </p:grpSpPr>
      <p:sp>
        <p:nvSpPr>
          <p:cNvPr id="80" name="Google Shape;80;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Kính chào quý Thầy Cô trong Hội đồng chấm đồ án tốt nghiệp. Em tên là Nguyễn Thành Nghĩa, sinh viên ngành Khoa học Máy tính. Hôm nay, em xin phép trình bày báo cáo đồ án tốt nghiệp đại học của mình với đề tài: 'Xây dựng hệ thống chẩn đoán đa phương thức hỗ trợ lâm sàng bệnh lý da liễu tích hợp thị giác máy tính, VQA y văn và quản lý EHR'.</a:t>
            </a:r>
          </a:p>
        </p:txBody>
      </p:sp>
      <p:sp>
        <p:nvSpPr>
          <p:cNvPr id="81" name="Google Shape;81;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 name="Shape 83"/>
        <p:cNvGrpSpPr/>
        <p:nvPr/>
      </p:nvGrpSpPr>
      <p:grpSpPr>
        <a:xfrm>
          <a:off x="0" y="0"/>
          <a:ext cx="0" cy="0"/>
          <a:chOff x="0" y="0"/>
          <a:chExt cx="0" cy="0"/>
        </a:xfrm>
      </p:grpSpPr>
      <p:sp>
        <p:nvSpPr>
          <p:cNvPr id="84" name="Google Shape;84;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Đồ án được thực hiện dưới sự hướng dẫn khoa học của PGS. TS. Giảng Viên Hướng Dẫn.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113" name="Google Shape;113;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stretch>
            <a:fillRect/>
          </a:stretch>
        </a:blipFill>
        <a:effectLst/>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panose="020F0502020204030203"/>
              <a:buNone/>
              <a:defRPr sz="4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stretch>
            <a:fillRect/>
          </a:stretch>
        </a:blipFill>
        <a:effectLst/>
      </p:bgPr>
    </p:bg>
    <p:spTree>
      <p:nvGrpSpPr>
        <p:cNvPr id="13" name="Shape 13"/>
        <p:cNvGrpSpPr/>
        <p:nvPr/>
      </p:nvGrpSpPr>
      <p:grpSpPr>
        <a:xfrm>
          <a:off x="0" y="0"/>
          <a:ext cx="0" cy="0"/>
          <a:chOff x="0" y="0"/>
          <a:chExt cx="0" cy="0"/>
        </a:xfrm>
      </p:grpSpPr>
      <p:sp>
        <p:nvSpPr>
          <p:cNvPr id="14" name="Google Shape;14;p17"/>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 name="Google Shape;15;p17"/>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 name="Google Shape;16;p1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stretch>
            <a:fillRect/>
          </a:stretch>
        </a:blipFill>
        <a:effectLst/>
      </p:bgPr>
    </p:bg>
    <p:spTree>
      <p:nvGrpSpPr>
        <p:cNvPr id="17" name="Shape 17"/>
        <p:cNvGrpSpPr/>
        <p:nvPr/>
      </p:nvGrpSpPr>
      <p:grpSpPr>
        <a:xfrm>
          <a:off x="0" y="0"/>
          <a:ext cx="0" cy="0"/>
          <a:chOff x="0" y="0"/>
          <a:chExt cx="0" cy="0"/>
        </a:xfrm>
      </p:grpSpPr>
      <p:sp>
        <p:nvSpPr>
          <p:cNvPr id="18" name="Google Shape;18;p18"/>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8"/>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0" name="Google Shape;20;p18"/>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1" name="Google Shape;21;p18"/>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stretch>
            <a:fillRect/>
          </a:stretch>
        </a:blipFill>
        <a:effectLst/>
      </p:bgPr>
    </p:bg>
    <p:spTree>
      <p:nvGrpSpPr>
        <p:cNvPr id="23" name="Shape 23"/>
        <p:cNvGrpSpPr/>
        <p:nvPr/>
      </p:nvGrpSpPr>
      <p:grpSpPr>
        <a:xfrm>
          <a:off x="0" y="0"/>
          <a:ext cx="0" cy="0"/>
          <a:chOff x="0" y="0"/>
          <a:chExt cx="0" cy="0"/>
        </a:xfrm>
      </p:grpSpPr>
      <p:sp>
        <p:nvSpPr>
          <p:cNvPr id="24" name="Google Shape;24;p19"/>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5" name="Google Shape;25;p19"/>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6" name="Google Shape;26;p19"/>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27" name="Google Shape;27;p19"/>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9" name="Google Shape;29;p19"/>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stretch>
            <a:fillRect/>
          </a:stretch>
        </a:blipFill>
        <a:effectLst/>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3" name="Google Shape;33;p20"/>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4" name="Google Shape;34;p20"/>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5" name="Google Shape;35;p20"/>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stretch>
            <a:fillRect/>
          </a:stretch>
        </a:blipFill>
        <a:effectLst/>
      </p:bgPr>
    </p:bg>
    <p:spTree>
      <p:nvGrpSpPr>
        <p:cNvPr id="36" name="Shape 36"/>
        <p:cNvGrpSpPr/>
        <p:nvPr/>
      </p:nvGrpSpPr>
      <p:grpSpPr>
        <a:xfrm>
          <a:off x="0" y="0"/>
          <a:ext cx="0" cy="0"/>
          <a:chOff x="0" y="0"/>
          <a:chExt cx="0" cy="0"/>
        </a:xfrm>
      </p:grpSpPr>
      <p:sp>
        <p:nvSpPr>
          <p:cNvPr id="37" name="Google Shape;37;p21"/>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8" name="Google Shape;38;p21"/>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9" name="Google Shape;39;p21"/>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0" name="Google Shape;40;p21"/>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 name="Google Shape;42;p2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stretch>
            <a:fillRect/>
          </a:stretch>
        </a:blipFill>
        <a:effectLst/>
      </p:bgPr>
    </p:bg>
    <p:spTree>
      <p:nvGrpSpPr>
        <p:cNvPr id="43" name="Shape 43"/>
        <p:cNvGrpSpPr/>
        <p:nvPr/>
      </p:nvGrpSpPr>
      <p:grpSpPr>
        <a:xfrm>
          <a:off x="0" y="0"/>
          <a:ext cx="0" cy="0"/>
          <a:chOff x="0" y="0"/>
          <a:chExt cx="0" cy="0"/>
        </a:xfrm>
      </p:grpSpPr>
      <p:sp>
        <p:nvSpPr>
          <p:cNvPr id="44" name="Google Shape;44;p22"/>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5" name="Google Shape;45;p22"/>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6" name="Google Shape;46;p22"/>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47" name="Google Shape;47;p22"/>
          <p:cNvSpPr txBox="1"/>
          <p:nvPr>
            <p:ph type="body" idx="1"/>
          </p:nvPr>
        </p:nvSpPr>
        <p:spPr>
          <a:xfrm>
            <a:off x="4558372" y="1248325"/>
            <a:ext cx="7391400" cy="52054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panose="020F0502020204030203"/>
              <a:buNone/>
              <a:defRPr sz="2800" b="1" i="0" u="none" strike="noStrike" cap="none">
                <a:solidFill>
                  <a:schemeClr val="dk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stretch>
            <a:fillRect/>
          </a:stretch>
        </a:blipFill>
        <a:effectLst/>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2" name="Google Shape;52;p23"/>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23"/>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2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stretch>
            <a:fillRect/>
          </a:stretch>
        </a:blipFill>
        <a:effectLst/>
      </p:bgPr>
    </p:bg>
    <p:spTree>
      <p:nvGrpSpPr>
        <p:cNvPr id="55" name="Shape 55"/>
        <p:cNvGrpSpPr/>
        <p:nvPr/>
      </p:nvGrpSpPr>
      <p:grpSpPr>
        <a:xfrm>
          <a:off x="0" y="0"/>
          <a:ext cx="0" cy="0"/>
          <a:chOff x="0" y="0"/>
          <a:chExt cx="0" cy="0"/>
        </a:xfrm>
      </p:grpSpPr>
      <p:sp>
        <p:nvSpPr>
          <p:cNvPr id="56" name="Google Shape;56;p24"/>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7" name="Google Shape;57;p24"/>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8" name="Google Shape;58;p2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59" name="Google Shape;59;p24"/>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1" name="Google Shape;61;p24"/>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stretch>
            <a:fillRect/>
          </a:stretch>
        </a:blipFill>
        <a:effectLst/>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5" name="Google Shape;65;p25"/>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6" name="Google Shape;66;p25"/>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7" name="Google Shape;67;p2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stretch>
            <a:fillRect/>
          </a:stretch>
        </a:blipFill>
        <a:effectLst/>
      </p:bgPr>
    </p:bg>
    <p:spTree>
      <p:nvGrpSpPr>
        <p:cNvPr id="68" name="Shape 68"/>
        <p:cNvGrpSpPr/>
        <p:nvPr/>
      </p:nvGrpSpPr>
      <p:grpSpPr>
        <a:xfrm>
          <a:off x="0" y="0"/>
          <a:ext cx="0" cy="0"/>
          <a:chOff x="0" y="0"/>
          <a:chExt cx="0" cy="0"/>
        </a:xfrm>
      </p:grpSpPr>
      <p:sp>
        <p:nvSpPr>
          <p:cNvPr id="69" name="Google Shape;69;p26"/>
          <p:cNvSpPr txBox="1"/>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0" name="Google Shape;70;p26"/>
          <p:cNvSpPr txBox="1"/>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1" name="Google Shape;71;p2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
        <p:nvSpPr>
          <p:cNvPr id="72" name="Google Shape;72;p26"/>
          <p:cNvSpPr txBox="1"/>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4" name="Google Shape;74;p26"/>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stretch>
            <a:fillRect/>
          </a:stretch>
        </a:blipFill>
        <a:effectLst/>
      </p:bgPr>
    </p:bg>
    <p:spTree>
      <p:nvGrpSpPr>
        <p:cNvPr id="75" name="Shape 75"/>
        <p:cNvGrpSpPr/>
        <p:nvPr/>
      </p:nvGrpSpPr>
      <p:grpSpPr>
        <a:xfrm>
          <a:off x="0" y="0"/>
          <a:ext cx="0" cy="0"/>
          <a:chOff x="0" y="0"/>
          <a:chExt cx="0" cy="0"/>
        </a:xfrm>
      </p:grpSpPr>
      <p:sp>
        <p:nvSpPr>
          <p:cNvPr id="76" name="Google Shape;76;p27"/>
          <p:cNvSpPr txBox="1"/>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7" name="Google Shape;77;p27"/>
          <p:cNvSpPr txBox="1"/>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8" name="Google Shape;78;p2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3200" b="1">
                <a:solidFill>
                  <a:srgbClr val="FFFFFF"/>
                </a:solidFill>
                <a:latin typeface="Arial" panose="020B0604020202020204"/>
              </a:defRPr>
            </a:pPr>
            <a:r>
              <a:t>HỆ THỐNG CHẨN ĐOÁN DA LIỄU ĐA PHƯƠNG THỨC</a:t>
            </a:r>
          </a:p>
          <a:p>
            <a:pPr>
              <a:spcBef>
                <a:spcPts val="1500"/>
              </a:spcBef>
              <a:defRPr sz="1600" b="1">
                <a:solidFill>
                  <a:srgbClr val="E2E8F0"/>
                </a:solidFill>
                <a:latin typeface="Arial" panose="020B0604020202020204"/>
              </a:defRPr>
            </a:pPr>
            <a:r>
              <a:t>HỖ TRỢ QUYẾT ĐỊNH LÂM SÀNG TÍCH HỢP TRỢ LÝ VQA VÀ EHR BẢO MẬT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panose="020B0604020202020204"/>
              </a:defRPr>
            </a:pPr>
            <a:r>
              <a:t>ĐẠI HỌC BÁCH KHOA HÀ NỘI</a:t>
            </a:r>
            <a:br/>
            <a:r>
              <a:t>Trường Công nghệ Thông tin và Truyền thông</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panose="020B0604020202020204"/>
              </a:defRPr>
            </a:pPr>
            <a:r>
              <a:t>ĐỒ ÁN TỐT NGHIỆP ĐẠI HỌC</a:t>
            </a:r>
            <a:br/>
            <a:br/>
            <a:r>
              <a:t>Xây dựng hệ thống chẩn đoán đa phương thức hỗ trợ lâm sàng bệnh lý da liễu tích hợp thị giác máy tính, VQA y văn và quản lý EHR</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panose="020B0604020202020204"/>
              </a:defRPr>
            </a:pPr>
            <a:r>
              <a:t>Sinh viên thực hiện: Nguyễn Thành Nghĩa - MSSV: 2021XXXX</a:t>
            </a:r>
          </a:p>
          <a:p>
            <a:pPr>
              <a:spcAft>
                <a:spcPts val="800"/>
              </a:spcAft>
              <a:defRPr sz="1300" b="1">
                <a:solidFill>
                  <a:srgbClr val="E2E8F0"/>
                </a:solidFill>
                <a:latin typeface="Arial" panose="020B0604020202020204"/>
              </a:defRPr>
            </a:pPr>
            <a:r>
              <a:t>Ngành học: Khoa học Máy tính / Hệ thống thông minh</a:t>
            </a:r>
          </a:p>
          <a:p>
            <a:pPr>
              <a:spcAft>
                <a:spcPts val="800"/>
              </a:spcAft>
              <a:defRPr sz="1300" b="1">
                <a:solidFill>
                  <a:srgbClr val="E2E8F0"/>
                </a:solidFill>
                <a:latin typeface="Arial" panose="020B0604020202020204"/>
              </a:defRPr>
            </a:pPr>
            <a:r>
              <a:t>Giảng viên hướng dẫn: PGS. TS. Giảng Viên Hướng Dẫn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1"/>
          <a:srcRect/>
          <a:stretch>
            <a:fillRect/>
          </a:stretch>
        </p:blipFill>
        <p:spPr>
          <a:xfrm>
            <a:off x="386634" y="331380"/>
            <a:ext cx="3174367" cy="952975"/>
          </a:xfrm>
          <a:prstGeom prst="rect">
            <a:avLst/>
          </a:prstGeom>
          <a:noFill/>
          <a:ln>
            <a:noFill/>
          </a:ln>
        </p:spPr>
      </p:pic>
      <p:sp>
        <p:nvSpPr>
          <p:cNvPr id="95" name="Google Shape;95;p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NỘI DUNG TRÌNH BÀY</a:t>
            </a:r>
          </a:p>
        </p:txBody>
      </p:sp>
      <p:sp>
        <p:nvSpPr>
          <p:cNvPr id="97" name="TextBox 96"/>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Phần 1: Đặt vấn đề &amp; Mục tiêu đề tài</a:t>
            </a:r>
            <a:r>
              <a:rPr sz="1300">
                <a:solidFill>
                  <a:srgbClr val="1E293B"/>
                </a:solidFill>
                <a:latin typeface="Arial" panose="020B0604020202020204"/>
              </a:rPr>
              <a:t>: Tính cấp thiết của chẩn đoán sớm và các mục tiêu cốt lõi.</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Phần 2: Phân tích &amp; Thiết kế hệ thống</a:t>
            </a:r>
            <a:r>
              <a:rPr sz="1300">
                <a:solidFill>
                  <a:srgbClr val="1E293B"/>
                </a:solidFill>
                <a:latin typeface="Arial" panose="020B0604020202020204"/>
              </a:rPr>
              <a:t>: Phân luồng song song, bộ lọc Safety Gate và Use Cases.</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Phần 3: Thuật toán &amp; Giải thuật nâng cấp</a:t>
            </a:r>
            <a:r>
              <a:rPr sz="1300">
                <a:solidFill>
                  <a:srgbClr val="1E293B"/>
                </a:solidFill>
                <a:latin typeface="Arial" panose="020B0604020202020204"/>
              </a:rPr>
              <a:t>: SAM + GrabCut tương tác, OTSU fallback, late fusion Bayes và VQA RAG Offline.</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Phần 4: Thiết kế CSDL &amp; Bảo mật bệnh án EHR</a:t>
            </a:r>
            <a:r>
              <a:rPr sz="1300">
                <a:solidFill>
                  <a:srgbClr val="1E293B"/>
                </a:solidFill>
                <a:latin typeface="Arial" panose="020B0604020202020204"/>
              </a:rPr>
              <a:t>: CSDL Firestore phân cấp, mã hóa SHA-256 &amp; XOR-Base64, ThreadPoolExecutor tối ưu.</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Phần 5: Kết quả thực nghiệm &amp; Kết luận</a:t>
            </a:r>
            <a:r>
              <a:rPr sz="1300">
                <a:solidFill>
                  <a:srgbClr val="1E293B"/>
                </a:solidFill>
                <a:latin typeface="Arial" panose="020B0604020202020204"/>
              </a:rPr>
              <a:t>: Đánh giá độ chính xác (95.01%), Latency (232.27ms) và đóng góp xã hội đề tài.</a:t>
            </a:r>
            <a:endParaRPr sz="1300">
              <a:solidFill>
                <a:srgbClr val="1E293B"/>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2" name="Google Shape;102;p4"/>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solidFill>
                  <a:schemeClr val="tx1"/>
                </a:solidFill>
              </a:rPr>
            </a:fld>
            <a:endParaRPr lang="en-US">
              <a:solidFill>
                <a:schemeClr val="tx1"/>
              </a:solidFill>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panose="020B0604020202020204"/>
              </a:defRPr>
            </a:pPr>
            <a:r>
              <a:rPr>
                <a:solidFill>
                  <a:schemeClr val="tx1"/>
                </a:solidFill>
              </a:rPr>
              <a:t>PHẦN 1: ĐẶT VẤN ĐỀ &amp; MỤC TIÊU ĐỀ TÀI</a:t>
            </a:r>
            <a:endParaRPr>
              <a:solidFill>
                <a:schemeClr val="tx1"/>
              </a:solidFill>
            </a:endParaRP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chemeClr val="tx1"/>
                </a:solidFill>
                <a:latin typeface="Arial" panose="020B0604020202020204"/>
              </a:rPr>
              <a:t>Nội dung chính</a:t>
            </a:r>
            <a:r>
              <a:rPr sz="1300">
                <a:solidFill>
                  <a:schemeClr val="tx1"/>
                </a:solidFill>
                <a:latin typeface="Arial" panose="020B0604020202020204"/>
              </a:rPr>
              <a:t>:</a:t>
            </a:r>
            <a:endParaRPr sz="1300">
              <a:solidFill>
                <a:schemeClr val="tx1"/>
              </a:solidFill>
              <a:latin typeface="Arial" panose="020B0604020202020204"/>
            </a:endParaRPr>
          </a:p>
          <a:p>
            <a:pPr>
              <a:lnSpc>
                <a:spcPct val="115000"/>
              </a:lnSpc>
              <a:spcAft>
                <a:spcPts val="1000"/>
              </a:spcAft>
              <a:defRPr sz="1300">
                <a:solidFill>
                  <a:srgbClr val="FFFFFF"/>
                </a:solidFill>
                <a:latin typeface="Arial" panose="020B0604020202020204"/>
              </a:defRPr>
            </a:pPr>
            <a:r>
              <a:rPr>
                <a:solidFill>
                  <a:schemeClr val="tx1"/>
                </a:solidFill>
              </a:rPr>
              <a:t>- Đặt vấn đề và tính cấp thiết trong chẩn đoán sớm bệnh lý da liễu.</a:t>
            </a:r>
            <a:endParaRPr>
              <a:solidFill>
                <a:schemeClr val="tx1"/>
              </a:solidFill>
            </a:endParaRPr>
          </a:p>
          <a:p>
            <a:pPr>
              <a:lnSpc>
                <a:spcPct val="115000"/>
              </a:lnSpc>
              <a:spcAft>
                <a:spcPts val="1000"/>
              </a:spcAft>
              <a:defRPr sz="1300">
                <a:solidFill>
                  <a:srgbClr val="FFFFFF"/>
                </a:solidFill>
                <a:latin typeface="Arial" panose="020B0604020202020204"/>
              </a:defRPr>
            </a:pPr>
            <a:r>
              <a:rPr>
                <a:solidFill>
                  <a:schemeClr val="tx1"/>
                </a:solidFill>
              </a:rPr>
              <a:t>- Khảo sát hạn chế của các giải pháp AI hộp đen hiện tại.</a:t>
            </a:r>
            <a:endParaRPr>
              <a:solidFill>
                <a:schemeClr val="tx1"/>
              </a:solidFill>
            </a:endParaRPr>
          </a:p>
          <a:p>
            <a:pPr>
              <a:lnSpc>
                <a:spcPct val="115000"/>
              </a:lnSpc>
              <a:spcAft>
                <a:spcPts val="1000"/>
              </a:spcAft>
              <a:defRPr sz="1300">
                <a:solidFill>
                  <a:srgbClr val="FFFFFF"/>
                </a:solidFill>
                <a:latin typeface="Arial" panose="020B0604020202020204"/>
              </a:defRPr>
            </a:pPr>
            <a:r>
              <a:rPr>
                <a:solidFill>
                  <a:schemeClr val="tx1"/>
                </a:solidFill>
              </a:rPr>
              <a:t>- Phát biểu đối tượng, phạm vi nghiên cứu và mục tiêu đề tài đề xuất.</a:t>
            </a:r>
            <a:endParaRPr>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10" name="Google Shape;110;p5"/>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ĐẶT VẤN ĐỀ &amp; TÍNH CẤP THIẾT</a:t>
            </a:r>
          </a:p>
        </p:txBody>
      </p:sp>
      <p:sp>
        <p:nvSpPr>
          <p:cNvPr id="112" name="TextBox 111"/>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Gánh nặng bệnh ác tính</a:t>
            </a:r>
            <a:r>
              <a:rPr sz="1300">
                <a:solidFill>
                  <a:srgbClr val="1E293B"/>
                </a:solidFill>
                <a:latin typeface="Arial" panose="020B0604020202020204"/>
              </a:rPr>
              <a:t>: Các bệnh ung thư hắc tố (Melanoma, BCC) tăng trưởng nhanh. Chẩn đoán và điều trị sớm quyết định trên </a:t>
            </a:r>
            <a:r>
              <a:rPr sz="1300" b="1">
                <a:solidFill>
                  <a:srgbClr val="990000"/>
                </a:solidFill>
                <a:latin typeface="Arial" panose="020B0604020202020204"/>
              </a:rPr>
              <a:t>95%</a:t>
            </a:r>
            <a:r>
              <a:rPr sz="1300">
                <a:solidFill>
                  <a:srgbClr val="1E293B"/>
                </a:solidFill>
                <a:latin typeface="Arial" panose="020B0604020202020204"/>
              </a:rPr>
              <a:t> tỷ lệ sống sót.</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Thực trạng tuyến cơ sở</a:t>
            </a:r>
            <a:r>
              <a:rPr sz="1300">
                <a:solidFill>
                  <a:srgbClr val="1E293B"/>
                </a:solidFill>
                <a:latin typeface="Arial" panose="020B0604020202020204"/>
              </a:rPr>
              <a:t>: Thiếu hụt nghiêm trọng bác sĩ chuyên khoa sâu và các thiết bị soi chuyên dụng ở tuyến huyện, xã.</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Giới hạn của mô hình AI cũ</a:t>
            </a:r>
            <a:r>
              <a:rPr sz="1300">
                <a:solidFill>
                  <a:srgbClr val="1E293B"/>
                </a:solidFill>
                <a:latin typeface="Arial" panose="020B0604020202020204"/>
              </a:rPr>
              <a:t>: Hầu hết là mô hình 'hộp đen' (Black-box) không có giải thích lâm sàng, hoạt động đơn phương thức và có nguy cơ rò rỉ dữ liệu qua Cloud API công cộng.</a:t>
            </a:r>
            <a:endParaRPr sz="1300">
              <a:solidFill>
                <a:srgbClr val="1E293B"/>
              </a:solidFill>
              <a:latin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7" name="Google Shape;117;p6"/>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ĐỐI TƯỢNG &amp; MỤC TIÊU ĐỀ TÀI</a:t>
            </a:r>
          </a:p>
        </p:txBody>
      </p:sp>
      <p:sp>
        <p:nvSpPr>
          <p:cNvPr id="119" name="TextBox 118"/>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Đối tượng nghiên cứu</a:t>
            </a:r>
            <a:r>
              <a:rPr sz="1300">
                <a:solidFill>
                  <a:srgbClr val="1E293B"/>
                </a:solidFill>
                <a:latin typeface="Arial" panose="020B0604020202020204"/>
              </a:rPr>
              <a:t>: 7 lớp bệnh da liễu phổ biến (HAM10000: AKIEC, BCC, BKL, DF, MEL, NV, VASC). Dữ liệu ảnh da RGB thường/DICOM và demographics bệnh nhân.</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Đối tượng thụ hưởng</a:t>
            </a:r>
            <a:r>
              <a:rPr sz="1300">
                <a:solidFill>
                  <a:srgbClr val="1E293B"/>
                </a:solidFill>
                <a:latin typeface="Arial" panose="020B0604020202020204"/>
              </a:rPr>
              <a:t>: Bác sĩ đa khoa tại phòng khám, trạm y tế tuyến cơ sở.</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Mục tiêu đồ án</a:t>
            </a:r>
            <a:r>
              <a:rPr sz="1300">
                <a:solidFill>
                  <a:srgbClr val="1E293B"/>
                </a:solidFill>
                <a:latin typeface="Arial" panose="020B0604020202020204"/>
              </a:rPr>
              <a:t>: Xây dựng hệ thống CDSS đa phương thức toàn diện giúp chẩn đoán chính xác, biện giải minh bạch (ABCD, Grad-CAM), hỗ trợ offline (VQA Ollama) và quản lý EHR bảo mật.</a:t>
            </a:r>
            <a:endParaRPr sz="1300">
              <a:solidFill>
                <a:srgbClr val="1E293B"/>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5" name="Google Shape;125;p7"/>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Phân luồng song song độc lập</a:t>
            </a:r>
            <a:r>
              <a:rPr sz="1300">
                <a:solidFill>
                  <a:srgbClr val="1E293B"/>
                </a:solidFill>
                <a:latin typeface="Arial" panose="020B0604020202020204"/>
              </a:rPr>
              <a:t>: Nhánh Phân đoạn ảnh (ABCD) và nhánh Phân loại (Vision Classifier) chạy độc lập song song để tránh gây nhiễu chéo dữ liệu lâm sàng.</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Bộ lọc Safety Gate</a:t>
            </a:r>
            <a:r>
              <a:rPr sz="1300">
                <a:solidFill>
                  <a:srgbClr val="1E293B"/>
                </a:solidFill>
                <a:latin typeface="Arial" panose="020B0604020202020204"/>
              </a:rPr>
              <a:t>: Tự động đánh giá chất lượng ảnh (độ mờ Laplacian, phơi sáng thích ứng chủng tộc Fitzpatrick) trước khi chạy.</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Hợp nhất Bayes &amp; VQA</a:t>
            </a:r>
            <a:r>
              <a:rPr sz="1300">
                <a:solidFill>
                  <a:srgbClr val="1E293B"/>
                </a:solidFill>
                <a:latin typeface="Arial" panose="020B0604020202020204"/>
              </a:rPr>
              <a:t>: Late Fusion Bayes kết hợp kết quả vision với demographics, đưa vào trợ lý đàm thoại VQA y văn RAG.</a:t>
            </a:r>
            <a:endParaRPr sz="1300">
              <a:solidFill>
                <a:srgbClr val="1E293B"/>
              </a:solidFill>
              <a:latin typeface="Arial" panose="020B0604020202020204"/>
            </a:endParaRPr>
          </a:p>
        </p:txBody>
      </p:sp>
      <p:pic>
        <p:nvPicPr>
          <p:cNvPr id="128" name="Picture 127" descr="architecture_diagram_1783443735021.png"/>
          <p:cNvPicPr>
            <a:picLocks noChangeAspect="1"/>
          </p:cNvPicPr>
          <p:nvPr/>
        </p:nvPicPr>
        <p:blipFill>
          <a:blip r:embed="rId1"/>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2" name="Google Shape;132;p8"/>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Tác nhân chính (Actors)</a:t>
            </a:r>
            <a:r>
              <a:rPr sz="1300">
                <a:solidFill>
                  <a:srgbClr val="1E293B"/>
                </a:solidFill>
                <a:latin typeface="Arial" panose="020B0604020202020204"/>
              </a:rPr>
              <a:t>: Bác sĩ lâm sàng (thực hiện chẩn đoán, hỏi đáp VQA, quản lý bệnh án) và Quản trị viên (quản lý tài khoản, thông số hệ thống).</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Chẩn đoán đa phương thức</a:t>
            </a:r>
            <a:r>
              <a:rPr sz="1300">
                <a:solidFill>
                  <a:srgbClr val="1E293B"/>
                </a:solidFill>
                <a:latin typeface="Arial" panose="020B0604020202020204"/>
              </a:rPr>
              <a:t>: Tải ảnh/DICOM, phân đoạn tự động/tương tác, tính chỉ số hình học ABCD, late fusion Bayes.</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Tư vấn y văn &amp; EHR</a:t>
            </a:r>
            <a:r>
              <a:rPr sz="1300">
                <a:solidFill>
                  <a:srgbClr val="1E293B"/>
                </a:solidFill>
                <a:latin typeface="Arial" panose="020B0604020202020204"/>
              </a:rPr>
              <a:t>: Hỏi đáp y khoa VQA kết hợp RAG, đồng bộ hóa bệnh án EHR và theo dõi tiến triển bệnh nhân qua sơ đồ timeline.</a:t>
            </a:r>
            <a:endParaRPr sz="1300">
              <a:solidFill>
                <a:srgbClr val="1E293B"/>
              </a:solidFill>
              <a:latin typeface="Arial" panose="020B0604020202020204"/>
            </a:endParaRPr>
          </a:p>
        </p:txBody>
      </p:sp>
      <p:pic>
        <p:nvPicPr>
          <p:cNvPr id="135" name="Picture 134" descr="use_case_diagram_1783443747688.png"/>
          <p:cNvPicPr>
            <a:picLocks noChangeAspect="1"/>
          </p:cNvPicPr>
          <p:nvPr/>
        </p:nvPicPr>
        <p:blipFill>
          <a:blip r:embed="rId1"/>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9" name="Google Shape;139;p9"/>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Phân đoạn tự động</a:t>
            </a:r>
            <a:r>
              <a:rPr sz="1300">
                <a:solidFill>
                  <a:srgbClr val="1E293B"/>
                </a:solidFill>
                <a:latin typeface="Arial" panose="020B0604020202020204"/>
              </a:rPr>
              <a:t>: Sử dụng mạng DeepLabV3+ (ResNet50) và Multi-scale TTA ({1.0, 0.75, 0.5}) tối ưu phân đoạn trên ảnh chụp di động.</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GrabCut tương tác</a:t>
            </a:r>
            <a:r>
              <a:rPr sz="1300">
                <a:solidFill>
                  <a:srgbClr val="1E293B"/>
                </a:solidFill>
                <a:latin typeface="Arial" panose="020B0604020202020204"/>
              </a:rPr>
              <a:t>: Tích hợp thuật toán GrabCut nâng cấp khởi tạo bằng mặt nạ mồi (`GC_INIT_WITH_MASK`) định vị chính xác vùng click chuột của bác sĩ.</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OTSU dự phòng y khoa</a:t>
            </a:r>
            <a:r>
              <a:rPr sz="1300">
                <a:solidFill>
                  <a:srgbClr val="1E293B"/>
                </a:solidFill>
                <a:latin typeface="Arial" panose="020B0604020202020204"/>
              </a:rPr>
              <a:t>: Tự động fallback về bộ lọc OTSU nghịch đảo (`cv2.THRESH_BINARY_INV`) nếu mô hình deep learning phân đoạn lỗi (mặt nạ rỗng), đảm bảo đo đạc chỉ số ABCD luôn ổn định.</a:t>
            </a:r>
            <a:endParaRPr sz="1300">
              <a:solidFill>
                <a:srgbClr val="1E293B"/>
              </a:solidFill>
              <a:latin typeface="Arial" panose="020B0604020202020204"/>
            </a:endParaRPr>
          </a:p>
        </p:txBody>
      </p:sp>
      <p:pic>
        <p:nvPicPr>
          <p:cNvPr id="142" name="Picture 141" descr="seg_comparison.png"/>
          <p:cNvPicPr>
            <a:picLocks noChangeAspect="1"/>
          </p:cNvPicPr>
          <p:nvPr/>
        </p:nvPicPr>
        <p:blipFill>
          <a:blip r:embed="rId1"/>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10"/>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ĐO ĐẠC CHỈ SỐ HÌNH HỌC LÂM SÀNG ABCD</a:t>
            </a:r>
          </a:p>
        </p:txBody>
      </p:sp>
      <p:sp>
        <p:nvSpPr>
          <p:cNvPr id="146" name="TextBox 145"/>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Asymmetry (Bất đối xứng)</a:t>
            </a:r>
            <a:r>
              <a:rPr sz="1300">
                <a:solidFill>
                  <a:srgbClr val="1E293B"/>
                </a:solidFill>
                <a:latin typeface="Arial" panose="020B0604020202020204"/>
              </a:rPr>
              <a:t>: Tính tỷ lệ bất đối xứng của mặt nạ tổn thương qua hai trục đối xứng trực quan X và Y.</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Border (Biên bờ)</a:t>
            </a:r>
            <a:r>
              <a:rPr sz="1300">
                <a:solidFill>
                  <a:srgbClr val="1E293B"/>
                </a:solidFill>
                <a:latin typeface="Arial" panose="020B0604020202020204"/>
              </a:rPr>
              <a:t>: Tính độ phức tạp bờ tổn thương dựa trên chu vi và diện tích mặt nạ, giúp bác sĩ phát hiện bờ không đều.</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Color (Màu sắc)</a:t>
            </a:r>
            <a:r>
              <a:rPr sz="1300">
                <a:solidFill>
                  <a:srgbClr val="1E293B"/>
                </a:solidFill>
                <a:latin typeface="Arial" panose="020B0604020202020204"/>
              </a:rPr>
              <a:t>: Đo độ lệch chuẩn màu sắc RGB trong vùng tổn thương.</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Diameter (Đường kính)</a:t>
            </a:r>
            <a:r>
              <a:rPr sz="1300">
                <a:solidFill>
                  <a:srgbClr val="1E293B"/>
                </a:solidFill>
                <a:latin typeface="Arial" panose="020B0604020202020204"/>
              </a:rPr>
              <a:t>: Siêu dữ liệu `PixelSpacing` từ tệp DICOM được trích xuất để quy đổi pixel sang kích thước thực tế ($mm$), đảm bảo tính chính xác lâm sàng.</a:t>
            </a:r>
            <a:endParaRPr sz="1300">
              <a:solidFill>
                <a:srgbClr val="1E293B"/>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4" name="Google Shape;154;p11"/>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Phân loại ảnh (Classifier)</a:t>
            </a:r>
            <a:r>
              <a:rPr sz="1300">
                <a:solidFill>
                  <a:srgbClr val="1E293B"/>
                </a:solidFill>
                <a:latin typeface="Arial" panose="020B0604020202020204"/>
              </a:rPr>
              <a:t>: Kiến trúc EfficientNet-B1 nhúng khối chú ý CBAM giúp hội tụ chính xác vào tổn thương da sắc tố.</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Late Fusion Bayes</a:t>
            </a:r>
            <a:r>
              <a:rPr sz="1300">
                <a:solidFill>
                  <a:srgbClr val="1E293B"/>
                </a:solidFill>
                <a:latin typeface="Arial" panose="020B0604020202020204"/>
              </a:rPr>
              <a:t>: Hợp nhất xác suất hình ảnh với demographics dịch tễ (tuổi, giới tính, vị trí giải phẫu) theo công thức Bayes.</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Trọng số điều phối ($\lambda$)</a:t>
            </a:r>
            <a:r>
              <a:rPr sz="1300">
                <a:solidFill>
                  <a:srgbClr val="1E293B"/>
                </a:solidFill>
                <a:latin typeface="Arial" panose="020B0604020202020204"/>
              </a:rPr>
              <a:t>: Tích hợp slider trọng số $\lambda$ trên giao diện giúp bác sĩ chủ động kiểm soát và giảm bớt ảnh hưởng của thiên lệch địa lý HAM10000 (da trắng) khi chẩn đoán cho người Việt.</a:t>
            </a:r>
            <a:endParaRPr sz="1300">
              <a:solidFill>
                <a:srgbClr val="1E293B"/>
              </a:solidFill>
              <a:latin typeface="Arial" panose="020B0604020202020204"/>
            </a:endParaRPr>
          </a:p>
        </p:txBody>
      </p:sp>
      <p:pic>
        <p:nvPicPr>
          <p:cNvPr id="157" name="Picture 156" descr="training_history.png"/>
          <p:cNvPicPr>
            <a:picLocks noChangeAspect="1"/>
          </p:cNvPicPr>
          <p:nvPr/>
        </p:nvPicPr>
        <p:blipFill>
          <a:blip r:embed="rId1"/>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12"/>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VQA ngoại tuyến (Offline)</a:t>
            </a:r>
            <a:r>
              <a:rPr sz="1300">
                <a:solidFill>
                  <a:srgbClr val="1E293B"/>
                </a:solidFill>
                <a:latin typeface="Arial" panose="020B0604020202020204"/>
              </a:rPr>
              <a:t>: Tinh chỉnh DistilGPT-2 LoRA (rank 8, chỉ huấn luyện 2.13% tham số) chạy trên CPU, hoặc kết nối Ollama API cục bộ để chạy các LLM 3B/7B lớn hơn.</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RAG y văn ngoại tuyến</a:t>
            </a:r>
            <a:r>
              <a:rPr sz="1300">
                <a:solidFill>
                  <a:srgbClr val="1E293B"/>
                </a:solidFill>
                <a:latin typeface="Arial" panose="020B0604020202020204"/>
              </a:rPr>
              <a:t>: So khớp tài liệu y văn từ ChromaDB bằng khoảng cách Cosine, nhồi hướng dẫn điều trị của Bộ Y tế vào prompt để LLM giải đáp chính xác, tránh ảo giác.</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Rào cản an toàn thuốc</a:t>
            </a:r>
            <a:r>
              <a:rPr sz="1300">
                <a:solidFill>
                  <a:srgbClr val="1E293B"/>
                </a:solidFill>
                <a:latin typeface="Arial" panose="020B0604020202020204"/>
              </a:rPr>
              <a:t>: Medication Guardrails tự động lọc ngăn chặn các câu trả lời tự kê đơn thuốc của AI trực tuyến.</a:t>
            </a:r>
            <a:endParaRPr sz="1300">
              <a:solidFill>
                <a:srgbClr val="1E293B"/>
              </a:solidFill>
              <a:latin typeface="Arial" panose="020B0604020202020204"/>
            </a:endParaRPr>
          </a:p>
        </p:txBody>
      </p:sp>
      <p:pic>
        <p:nvPicPr>
          <p:cNvPr id="162" name="Picture 161" descr="vqa_loss_curves.png"/>
          <p:cNvPicPr>
            <a:picLocks noChangeAspect="1"/>
          </p:cNvPicPr>
          <p:nvPr/>
        </p:nvPicPr>
        <p:blipFill>
          <a:blip r:embed="rId1"/>
          <a:stretch>
            <a:fillRect/>
          </a:stretch>
        </p:blipFill>
        <p:spPr>
          <a:xfrm>
            <a:off x="4937760" y="1188720"/>
            <a:ext cx="3657600" cy="20900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THIẾT KẾ CƠ SỞ DỮ LIỆU EHR BỆNH ÁN</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CSDL Firestore phân cấp</a:t>
            </a:r>
            <a:r>
              <a:rPr sz="1300">
                <a:solidFill>
                  <a:srgbClr val="1E293B"/>
                </a:solidFill>
                <a:latin typeface="Arial" panose="020B0604020202020204"/>
              </a:rPr>
              <a:t>: Phân tách dữ liệu thành 3 collection chính: `users`, `patients` và `records` giúp quản lý dễ dàng.</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Hồ sơ EHR chi tiết</a:t>
            </a:r>
            <a:r>
              <a:rPr sz="1300">
                <a:solidFill>
                  <a:srgbClr val="1E293B"/>
                </a:solidFill>
                <a:latin typeface="Arial" panose="020B0604020202020204"/>
              </a:rPr>
              <a:t>: Lưu trữ toàn bộ ảnh gốc, mặt nạ, Grad-CAM, kết quả ABCD và nhật ký hỏi đáp VQA.</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Dòng thời gian lâm sàng</a:t>
            </a:r>
            <a:r>
              <a:rPr sz="1300">
                <a:solidFill>
                  <a:srgbClr val="1E293B"/>
                </a:solidFill>
                <a:latin typeface="Arial" panose="020B0604020202020204"/>
              </a:rPr>
              <a:t>: Theo dõi trực quan tiến triển kích thước tổn thương qua nhiều mốc thời gian khám bệnh, giúp bác sĩ đánh giá hiệu quả điều trị.</a:t>
            </a:r>
            <a:endParaRPr sz="1300">
              <a:solidFill>
                <a:srgbClr val="1E293B"/>
              </a:solidFill>
              <a:latin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Ẩn danh &amp; Mã hóa bệnh án</a:t>
            </a:r>
            <a:r>
              <a:rPr sz="1300">
                <a:solidFill>
                  <a:srgbClr val="1E293B"/>
                </a:solidFill>
                <a:latin typeface="Arial" panose="020B0604020202020204"/>
              </a:rPr>
              <a:t>: Băm SHA-256 CCCD/Tên làm Document ID, và mã hóa đối xứng XOR + Base64 toàn bộ thông tin nhạy cảm của bệnh nhân trước khi lưu Firestore để tuân thủ HIPAA.</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ThreadPool song song hóa</a:t>
            </a:r>
            <a:r>
              <a:rPr sz="1300">
                <a:solidFill>
                  <a:srgbClr val="1E293B"/>
                </a:solidFill>
                <a:latin typeface="Arial" panose="020B0604020202020204"/>
              </a:rPr>
              <a:t>: Tải đồng thời 3 ảnh lên cloud (gốc, mặt nạ, Grad-CAM) bằng `ThreadPoolExecutor` thay vì tuần tự.</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Giảm thiểu độ trễ UI</a:t>
            </a:r>
            <a:r>
              <a:rPr sz="1300">
                <a:solidFill>
                  <a:srgbClr val="1E293B"/>
                </a:solidFill>
                <a:latin typeface="Arial" panose="020B0604020202020204"/>
              </a:rPr>
              <a:t>: Rút ngắn thời gian khóa giao diện chính (freeze latency) của Streamlit từ 5 giây xuống chỉ còn </a:t>
            </a:r>
            <a:r>
              <a:rPr sz="1300" b="1">
                <a:solidFill>
                  <a:srgbClr val="990000"/>
                </a:solidFill>
                <a:latin typeface="Arial" panose="020B0604020202020204"/>
              </a:rPr>
              <a:t>1.5 giây</a:t>
            </a:r>
            <a:r>
              <a:rPr sz="1300">
                <a:solidFill>
                  <a:srgbClr val="1E293B"/>
                </a:solidFill>
                <a:latin typeface="Arial" panose="020B0604020202020204"/>
              </a:rPr>
              <a:t>.</a:t>
            </a:r>
            <a:endParaRPr sz="1300">
              <a:solidFill>
                <a:srgbClr val="1E293B"/>
              </a:solidFill>
              <a:latin typeface="Arial" panose="020B0604020202020204"/>
            </a:endParaRPr>
          </a:p>
        </p:txBody>
      </p:sp>
      <p:pic>
        <p:nvPicPr>
          <p:cNvPr id="4" name="Picture 3" descr="security_diagram_1783443759217.png"/>
          <p:cNvPicPr>
            <a:picLocks noChangeAspect="1"/>
          </p:cNvPicPr>
          <p:nvPr/>
        </p:nvPicPr>
        <p:blipFill>
          <a:blip r:embed="rId1"/>
          <a:stretch>
            <a:fillRect/>
          </a:stretch>
        </p:blipFill>
        <p:spPr>
          <a:xfrm>
            <a:off x="4937760" y="1188720"/>
            <a:ext cx="3657600" cy="3657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KIẾN TRÚC PHẦN MỀM &amp; BIỂU ĐỒ LỚP</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Thiết kế hướng đối tượng (OOP)</a:t>
            </a:r>
            <a:r>
              <a:rPr sz="1300">
                <a:solidFill>
                  <a:srgbClr val="1E293B"/>
                </a:solidFill>
                <a:latin typeface="Arial" panose="020B0604020202020204"/>
              </a:rPr>
              <a:t>: Phân rã hệ thống thành các module nghiệp vụ tách biệt, độc lập và dễ bảo trì.</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Lớp điều phối trung tâm</a:t>
            </a:r>
            <a:r>
              <a:rPr sz="1300">
                <a:solidFill>
                  <a:srgbClr val="1E293B"/>
                </a:solidFill>
                <a:latin typeface="Arial" panose="020B0604020202020204"/>
              </a:rPr>
              <a:t>: `UnifiedDermatologyPipeline` đóng vai trò Controller quản lý luồng dữ liệu chẩn đoán.</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Các lớp dịch vụ</a:t>
            </a:r>
            <a:r>
              <a:rPr sz="1300">
                <a:solidFill>
                  <a:srgbClr val="1E293B"/>
                </a:solidFill>
                <a:latin typeface="Arial" panose="020B0604020202020204"/>
              </a:rPr>
              <a:t>: `SafetyGate` (kiểm tra chất lượng), `InteractiveSAM` (phân đoạn), `MultimodalBayesianFusion` (late fusion), và `EHRManager` (mã hóa &amp; lưu trữ).</a:t>
            </a:r>
            <a:endParaRPr sz="1300">
              <a:solidFill>
                <a:srgbClr val="1E293B"/>
              </a:solidFill>
              <a:latin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Triển khai &amp; Kiểm thử</a:t>
            </a:r>
            <a:r>
              <a:rPr sz="1300">
                <a:solidFill>
                  <a:srgbClr val="1E293B"/>
                </a:solidFill>
                <a:latin typeface="Arial" panose="020B0604020202020204"/>
              </a:rPr>
              <a:t>: Đánh giá độ chính xác chẩn đoán toàn luồng đạt </a:t>
            </a:r>
            <a:r>
              <a:rPr sz="1300" b="1">
                <a:solidFill>
                  <a:srgbClr val="990000"/>
                </a:solidFill>
                <a:latin typeface="Arial" panose="020B0604020202020204"/>
              </a:rPr>
              <a:t>95.01%</a:t>
            </a:r>
            <a:r>
              <a:rPr sz="1300">
                <a:solidFill>
                  <a:srgbClr val="1E293B"/>
                </a:solidFill>
                <a:latin typeface="Arial" panose="020B0604020202020204"/>
              </a:rPr>
              <a:t>, độ trễ suy luận trung bình </a:t>
            </a:r>
            <a:r>
              <a:rPr sz="1300" b="1">
                <a:solidFill>
                  <a:srgbClr val="990000"/>
                </a:solidFill>
                <a:latin typeface="Arial" panose="020B0604020202020204"/>
              </a:rPr>
              <a:t>232.27 ms</a:t>
            </a:r>
            <a:r>
              <a:rPr sz="1300">
                <a:solidFill>
                  <a:srgbClr val="1E293B"/>
                </a:solidFill>
                <a:latin typeface="Arial" panose="020B0604020202020204"/>
              </a:rPr>
              <a:t> đầu cuối.</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Kịch bản y khoa đặc thù</a:t>
            </a:r>
            <a:r>
              <a:rPr sz="1300">
                <a:solidFill>
                  <a:srgbClr val="1E293B"/>
                </a:solidFill>
                <a:latin typeface="Arial" panose="020B0604020202020204"/>
              </a:rPr>
              <a:t>: Kiểm thử thành công kịch bản ảnh phơi sáng kém, ảnh chứa nhiễu, và bác sĩ vẽ tay mồi bị lỗi.</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Ablation Study</a:t>
            </a:r>
            <a:r>
              <a:rPr sz="1300">
                <a:solidFill>
                  <a:srgbClr val="1E293B"/>
                </a:solidFill>
                <a:latin typeface="Arial" panose="020B0604020202020204"/>
              </a:rPr>
              <a:t>: Việc trích xuất vùng tổn thương cắt ROI bằng mặt nạ giúp tăng độ chính xác phân loại thêm </a:t>
            </a:r>
            <a:r>
              <a:rPr sz="1300" b="1">
                <a:solidFill>
                  <a:srgbClr val="990000"/>
                </a:solidFill>
                <a:latin typeface="Arial" panose="020B0604020202020204"/>
              </a:rPr>
              <a:t>7%</a:t>
            </a:r>
            <a:r>
              <a:rPr sz="1300">
                <a:solidFill>
                  <a:srgbClr val="1E293B"/>
                </a:solidFill>
                <a:latin typeface="Arial" panose="020B0604020202020204"/>
              </a:rPr>
              <a:t> so với ảnh thô.</a:t>
            </a:r>
            <a:endParaRPr sz="1300">
              <a:solidFill>
                <a:srgbClr val="1E293B"/>
              </a:solidFill>
              <a:latin typeface="Arial" panose="020B0604020202020204"/>
            </a:endParaRPr>
          </a:p>
        </p:txBody>
      </p:sp>
      <p:pic>
        <p:nvPicPr>
          <p:cNvPr id="4" name="Picture 3" descr="inference_breakdown.png"/>
          <p:cNvPicPr>
            <a:picLocks noChangeAspect="1"/>
          </p:cNvPicPr>
          <p:nvPr/>
        </p:nvPicPr>
        <p:blipFill>
          <a:blip r:embed="rId1"/>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2"/>
          <a:stretch>
            <a:fillRect/>
          </a:stretch>
        </p:blipFill>
        <p:spPr>
          <a:xfrm>
            <a:off x="4937760" y="3749039"/>
            <a:ext cx="3657600" cy="2377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panose="020B0604020202020204"/>
              </a:defRPr>
            </a:pPr>
            <a:r>
              <a:t>KẾT LUẬN &amp; ĐỐNG GÓP XÃ HỘI</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sz="1300" b="1">
                <a:solidFill>
                  <a:srgbClr val="990000"/>
                </a:solidFill>
                <a:latin typeface="Arial" panose="020B0604020202020204"/>
              </a:rPr>
              <a:t>Bình đẳng hóa y tế cơ sở</a:t>
            </a:r>
            <a:r>
              <a:rPr sz="1300">
                <a:solidFill>
                  <a:srgbClr val="1E293B"/>
                </a:solidFill>
                <a:latin typeface="Arial" panose="020B0604020202020204"/>
              </a:rPr>
              <a:t>: Cho phép các trạm y tế tuyến trạm/huyện tầm soát sớm ung thư da với chi phí tối thiểu, mang công nghệ chất lượng cao đến vùng sâu vùng xa.</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Hỗ trợ tự đào tạo bác sĩ</a:t>
            </a:r>
            <a:r>
              <a:rPr sz="1300">
                <a:solidFill>
                  <a:srgbClr val="1E293B"/>
                </a:solidFill>
                <a:latin typeface="Arial" panose="020B0604020202020204"/>
              </a:rPr>
              <a:t>: Trợ lý VQA RAG y văn Bộ Y tế hoạt động như cố vấn y khoa 24/7 trực quan cho bác sĩ đa khoa.</a:t>
            </a:r>
            <a:endParaRPr sz="1300">
              <a:solidFill>
                <a:srgbClr val="1E293B"/>
              </a:solidFill>
              <a:latin typeface="Arial" panose="020B0604020202020204"/>
            </a:endParaRPr>
          </a:p>
          <a:p>
            <a:pPr>
              <a:lnSpc>
                <a:spcPct val="115000"/>
              </a:lnSpc>
              <a:spcAft>
                <a:spcPts val="1000"/>
              </a:spcAft>
            </a:pPr>
            <a:r>
              <a:rPr sz="1300" b="1">
                <a:solidFill>
                  <a:srgbClr val="990000"/>
                </a:solidFill>
                <a:latin typeface="Arial" panose="020B0604020202020204"/>
              </a:rPr>
              <a:t>Kết luận</a:t>
            </a:r>
            <a:r>
              <a:rPr sz="1300">
                <a:solidFill>
                  <a:srgbClr val="1E293B"/>
                </a:solidFill>
                <a:latin typeface="Arial" panose="020B0604020202020204"/>
              </a:rPr>
              <a:t>: Xây dựng thành công hệ thống hỗ trợ chẩn đoán CDSS da liễu đa phương thức hoàn chỉnh, hoạt động offline ổn định, bảo mật cao và tối ưu tốc độ phản hồi lâm sàng.</a:t>
            </a:r>
            <a:endParaRPr sz="1300">
              <a:solidFill>
                <a:srgbClr val="1E293B"/>
              </a:solidFill>
              <a:latin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8" name="Google Shape;168;p13"/>
          <p:cNvSpPr txBox="1"/>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panose="020B0604020202020204"/>
              </a:defRPr>
            </a:pPr>
            <a:r>
              <a:t>XIN CHÂN THÀNH CẢM ƠN !</a:t>
            </a:r>
          </a:p>
          <a:p>
            <a:pPr algn="l">
              <a:defRPr sz="1400" b="1">
                <a:solidFill>
                  <a:srgbClr val="E2E8F0"/>
                </a:solidFill>
                <a:latin typeface="Arial" panose="020B0604020202020204"/>
              </a:defRPr>
            </a:pPr>
            <a:b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7355</Words>
  <Application>WPS Presentation</Application>
  <PresentationFormat/>
  <Paragraphs>130</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Arial</vt:lpstr>
      <vt:lpstr>Lato</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Phong TT &amp; QTTH</dc:creator>
  <cp:lastModifiedBy>Hương Giang Nguyễn</cp:lastModifiedBy>
  <cp:revision>1</cp:revision>
  <dcterms:created xsi:type="dcterms:W3CDTF">2026-07-07T17:38:49Z</dcterms:created>
  <dcterms:modified xsi:type="dcterms:W3CDTF">2026-07-07T17:38:50Z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BF9F1AAD8671447B88557F2E946EAFA3_12</vt:lpwstr>
  </property>
  <property fmtid="{D5CDD505-2E9C-101B-9397-08002B2CF9AE}" pid="3" name="KSOProductBuildVer">
    <vt:lpwstr>2057-12.2.0.23203</vt:lpwstr>
  </property>
</Properties>
</file>