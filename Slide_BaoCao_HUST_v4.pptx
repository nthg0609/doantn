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9" r:id="rId23"/>
    <p:sldId id="270" r:id="rId24"/>
    <p:sldId id="271" r:id="rId25"/>
    <p:sldId id="272" r:id="rId26"/>
    <p:sldId id="273" r:id="rId27"/>
    <p:sldId id="268" r:id="rId17"/>
  </p:sldIdLst>
  <p:sldSz cy="6858000" cx="9144000"/>
  <p:notesSz cx="6858000" cy="9144000"/>
  <p:embeddedFontLs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xSEXPPle+d9XRCQMbfUasXnnv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font" Target="fonts/Lato-regular.fntdata"/><Relationship Id="rId19" Type="http://schemas.openxmlformats.org/officeDocument/2006/relationships/font" Target="fonts/Lato-bold.fntdata"/><Relationship Id="rId20" Type="http://schemas.openxmlformats.org/officeDocument/2006/relationships/font" Target="fonts/Lato-italic.fntdata"/><Relationship Id="rId21" Type="http://schemas.openxmlformats.org/officeDocument/2006/relationships/font" Target="fonts/Lato-boldItalic.fntdata"/><Relationship Id="rId22" Type="http://customschemas.google.com/relationships/presentationmetadata" Target="metadata"/><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Kính chào quý Thầy Cô trong Hội đồng chấm đồ án tốt nghiệp. Em tên là Nguyễn Thành Nghĩa, sinh viên ngành Khoa học Máy tính. Hôm nay, em xin phép trình bày báo cáo đồ án tốt nghiệp đại học của mình với đề tài: 'Xây dựng hệ thống chẩn đoán đa phương thức hỗ trợ lâm sàng bệnh lý da liễu tích hợp thị giác máy tính, VQA y văn và quản lý EHR'.</a:t>
            </a:r>
          </a:p>
        </p:txBody>
      </p:sp>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Đồ án được thực hiện dưới sự hướng dẫn khoa học của PGS. TS. Giảng Viên Hướng Dẫn. Nội dung báo cáo hôm nay tập trung chủ yếu vào các công việc thực tế em đã triển khai nghiên cứu, phát triển ứng dụng và kết quả thử nghiệm nổi bật nhằm giải quyết các bài toán lâm sàng.</a:t>
            </a:r>
          </a:p>
        </p:txBody>
      </p:sp>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Nội dung trình bày của em gồm 5 phần lớn: Phần 1 - Đặt vấn đề &amp; Mục tiêu đề tài. Phần 2 - Phân tích &amp; Thiết kế hệ thống với các sơ đồ use-case và kiến trúc song song. Phần 3 - Thuật toán &amp; Giải thuật nâng cấp là đóng góp nghiên cứu cốt lõi của đồ án. Phần 4 - Thiết kế CSDL &amp; cơ chế bảo mật thông tin EHR. Phần 5 - Kết quả thực nghiệm định lượng và kết luận.</a:t>
            </a:r>
          </a:p>
        </p:txBody>
      </p:sp>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Sau đây, em xin phép bắt đầu trình bày Phần đầu tiên của báo cáo: Đặt vấn đề và Mục tiêu nghiên cứu của đề tài đồ án tốt nghiệp.</a:t>
            </a:r>
          </a:p>
        </p:txBody>
      </p:sp>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Bệnh lý ung thư da đang gia tăng nhanh chóng, việc tầm soát sớm quyết định trên 95% tỷ lệ sống sót. Tuy nhiên y tế tuyến cơ sở đang gặp khoảng cách rất lớn khi thiếu thiết bị soi và chuyên gia sâu. Các giải pháp AI cũ hầu hết là hộp đen, đơn phương thức và có nguy cơ rò rỉ dữ liệu qua Cloud API công cộng.</a:t>
            </a:r>
          </a:p>
        </p:txBody>
      </p:sp>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Đối tượng nghiên cứu là 7 lớp bệnh da liễu phổ biến từ bộ dữ liệu HAM10000 bao gồm cả ảnh chụp RGB thường, tệp DICOM và demographics dịch tễ. Mục tiêu đề tài là xây dựng hệ thống CDSS toàn diện: chẩn đoán chính xác đa phương thức, biện giải hình học ABCD, trợ lý VQA offline hỗ trợ bác sĩ cơ sở và quản lý bệnh án EHR bảo mật.</a:t>
            </a:r>
          </a:p>
        </p:txBody>
      </p:sp>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Đây là sơ đồ kiến trúc tổng quan hệ thống. Nhánh phân đoạn ảnh và nhánh phân loại chạy song song độc lập để đảm bảo khách quan lâm sàng. Ảnh đầu vào phải đi qua Safety Gate kiểm tra chất lượng (độ mờ Laplacian, độ phơi sáng). Xác suất vision được hợp nhất Bayes với demographics dịch tễ, kết hợp VQA RAG.</a:t>
            </a:r>
          </a:p>
        </p:txBody>
      </p:sp>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Về phân tích chức năng, hệ thống phục vụ hai tác nhân chính: Bác sĩ lâm sàng và Quản trị viên. Bác sĩ thực hiện chẩn đoán đa phương thức, vẽ mồi tương tác hiệu chỉnh mặt nạ phân đoạn, hỏi đáp VQA y văn để tham khảo cẩm nang Bộ Y tế, và lưu trữ, đồng bộ bệnh án EHR để theo dõi bệnh nhân.</a:t>
            </a:r>
          </a:p>
        </p:txBody>
      </p:sp>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sử dụng DeepLabV3+ làm bộ phân đoạn tự động. Để nâng cao tính tương tác, em tích hợp GrabCut cải tiến khởi tạo bằng mặt nạ mồi click chuột của bác sĩ. Đặc biệt, em thiết kế cơ chế dự phòng OTSU nghịch đảo y khoa để tự động fallback khi mô hình deep learning gặp ảnh lỗi hoặc mờ, đảm bảo luồng đo ABCD luôn chạy ổn định.</a:t>
            </a:r>
          </a:p>
        </p:txBody>
      </p:sp>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Từ mặt nạ phân đoạn, hệ thống tính toán định lượng các chỉ số hình học ABCD: độ bất đối xứng tâm (Asymmetry), biên bờ không đều (Border Complexity), độ lệch màu sắc (Color Std-dev) và đường kính vật lý thực tế (Diameter) quy đổi từ PixelSpacing của tệp DICOM. Các chỉ số này giúp tăng tính biện giải lâm sàng (XAI).</a:t>
            </a:r>
          </a:p>
        </p:txBody>
      </p:sp>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Nhánh phân loại sử dụng EfficientNet-B1 nhúng khối chú ý kép CBAM. Xác suất vision được fusion muộn Bayes với dữ liệu demographics. Đặc biệt, em thiết kế thanh trượt lambda trên UI để bác sĩ chủ động hạ trọng số dịch tễ HAM10000 của người da trắng nhằm triệt tiêu thiên lệch chủng tộc địa lý khi khám cho người Việt.</a:t>
            </a: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Trợ lý VQA offline hỗ trợ chạy mô hình DistilGPT-2 LoRA cục bộ hoặc kết nối Ollama chạy LLM Qwen 3B/7B. Tài liệu y văn của Bộ Y tế được lưu trong ChromaDB RAG để tiêm ngữ cảnh chuẩn vào prompt, triệt tiêu ảo giác LLM. Hệ thống cũng tích hợp Medication Guardrails lọc chặn các câu trả lời kê đơn thuốc bừa bãi.</a:t>
            </a:r>
          </a:p>
        </p:txBody>
      </p:sp>
      <p:sp>
        <p:nvSpPr>
          <p:cNvPr id="157" name="Google Shape;1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xin chân thành cảm ơn quý Thầy Cô trong Hội đồng đã lắng nghe bài trình bày đồ án tốt nghiệp của em. Em rất mong nhận được những ý kiến đóng góp, nhận xét và câu hỏi của các Thầy Cô để hoàn thiện đề tài hơn nữa. Em xin phép sẵn sàng trả lời các câu hỏi chất vấn từ phía Thầy Cô.</a:t>
            </a:r>
          </a:p>
        </p:txBody>
      </p:sp>
      <p:sp>
        <p:nvSpPr>
          <p:cNvPr id="165" name="Google Shape;1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CSDL EHR thiết kế dạng NoSQL phân cấp trên Cloud Firestore gồm các collection users, patients và records. Mỗi record lưu trữ toàn bộ ảnh gốc, mask, biểu đồ nhiệt Grad-CAM, kết quả ABCD và nhật ký hỏi đáp VQA. Hệ thống hỗ trợ vẽ biểu đồ timeline để bác sĩ theo dõi trực quan xu hướng tiến triển tổn thương da.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Bảo mật y tế được đặt lên hàng đầu. Tên và CCCD được băm SHA-256 làm Document ID và mã hóa đối xứng XOR + Base64 trước khi đồng bộ lên Cloud Firestore để tuân thủ HIPAA. Luồng upload ảnh được song song hóa bằng ThreadPoolExecutor, giúp giảm thời gian khóa giao diện Streamlit từ 5 giây xuống chỉ còn 1.5 giây.</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được thiết kế hướng đối tượng hoàn chỉnh để dễ mở rộng và bảo trì. Lớp điều phối UnifiedDermatologyPipeline kết nối trực tiếp các lớp nghiệp vụ SafetyGate, InteractiveSAM, MultimodalBayesianFusion và EHRManager, giúp tách biệt độc lập các module xử lý.</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Kết quả thực nghiệm trên ứng dụng Streamlit cho thấy độ chính xác toàn luồng chẩn đoán đạt 95.01% với độ trễ suy luận trung bình 232.27 ms. Nghiên cứu cắt bỏ chứng minh việc cắt ROI theo mặt nạ phân đoạn đóng góp mức tăng độ chính xác phân loại cao nhất là 7% so với chạy ảnh gốc.</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Đồ án đã xây dựng thành công giải pháp CDSS da liễu đa phương thức hoàn chỉnh. Đóng góp xã hội nổi bật là bình đẳng hóa y tế cơ sở qua chẩn đoán tầm soát sớm ung thư da chi phí thấp, nâng cao kỹ năng bác sĩ đa khoa tuyến dưới qua trợ lý VQA offline và bảo mật an toàn thông tin bệnh nhân theo chuẩn HIPAA.</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6"/>
          <p:cNvSpPr txBox="1"/>
          <p:nvPr>
            <p:ph type="title"/>
          </p:nvPr>
        </p:nvSpPr>
        <p:spPr>
          <a:xfrm>
            <a:off x="3788898" y="2461846"/>
            <a:ext cx="4614203" cy="1934307"/>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4800"/>
              <a:buFont typeface="Lato"/>
              <a:buNone/>
              <a:defRPr b="1" i="0" sz="4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17"/>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7"/>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18"/>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8"/>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1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1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8"/>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19"/>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19"/>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1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1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9"/>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19"/>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2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0"/>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20"/>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20"/>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2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21"/>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21"/>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2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21"/>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21"/>
          <p:cNvSpPr/>
          <p:nvPr>
            <p:ph idx="2" type="chart"/>
          </p:nvPr>
        </p:nvSpPr>
        <p:spPr>
          <a:xfrm>
            <a:off x="338736" y="1406525"/>
            <a:ext cx="5757264" cy="46704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21"/>
          <p:cNvSpPr/>
          <p:nvPr>
            <p:ph idx="3" type="tbl"/>
          </p:nvPr>
        </p:nvSpPr>
        <p:spPr>
          <a:xfrm>
            <a:off x="6210300" y="1392239"/>
            <a:ext cx="5592763" cy="468471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22"/>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22"/>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2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22"/>
          <p:cNvSpPr txBox="1"/>
          <p:nvPr>
            <p:ph idx="1" type="body"/>
          </p:nvPr>
        </p:nvSpPr>
        <p:spPr>
          <a:xfrm>
            <a:off x="4558372" y="1248325"/>
            <a:ext cx="7391400" cy="520541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22"/>
          <p:cNvSpPr txBox="1"/>
          <p:nvPr>
            <p:ph type="title"/>
          </p:nvPr>
        </p:nvSpPr>
        <p:spPr>
          <a:xfrm>
            <a:off x="4558372" y="404265"/>
            <a:ext cx="7391400"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Lato"/>
              <a:buNone/>
              <a:defRPr b="1" i="0" sz="2800" u="none" cap="none" strike="noStrik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2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23"/>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23"/>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23"/>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2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24"/>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24"/>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24"/>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24"/>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1" name="Google Shape;61;p24"/>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2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25"/>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25"/>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25"/>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2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26"/>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6"/>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p2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26"/>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 name="Google Shape;74;p26"/>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27"/>
          <p:cNvSpPr txBox="1"/>
          <p:nvPr>
            <p:ph idx="10" type="dt"/>
          </p:nvPr>
        </p:nvSpPr>
        <p:spPr>
          <a:xfrm>
            <a:off x="838200" y="6492875"/>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7"/>
          <p:cNvSpPr txBox="1"/>
          <p:nvPr>
            <p:ph idx="11" type="ftr"/>
          </p:nvPr>
        </p:nvSpPr>
        <p:spPr>
          <a:xfrm>
            <a:off x="4038600" y="6492875"/>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jpg"/><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TextBox 82"/>
          <p:cNvSpPr txBox="1"/>
          <p:nvPr/>
        </p:nvSpPr>
        <p:spPr>
          <a:xfrm>
            <a:off x="548640" y="2011680"/>
            <a:ext cx="8046720" cy="2286000"/>
          </a:xfrm>
          <a:prstGeom prst="rect">
            <a:avLst/>
          </a:prstGeom>
          <a:noFill/>
        </p:spPr>
        <p:txBody>
          <a:bodyPr wrap="square">
            <a:spAutoFit/>
          </a:bodyPr>
          <a:lstStyle/>
          <a:p>
            <a:pPr>
              <a:defRPr sz="3200" b="1">
                <a:solidFill>
                  <a:srgbClr val="FFFFFF"/>
                </a:solidFill>
                <a:latin typeface="Arial"/>
              </a:defRPr>
            </a:pPr>
            <a:r>
              <a:t>HỆ THỐNG CHẨN ĐOÁN DA LIỄU ĐA PHƯƠNG THỨC</a:t>
            </a:r>
          </a:p>
          <a:p>
            <a:pPr>
              <a:spcBef>
                <a:spcPts val="1500"/>
              </a:spcBef>
              <a:defRPr sz="1600" b="1">
                <a:solidFill>
                  <a:srgbClr val="E2E8F0"/>
                </a:solidFill>
                <a:latin typeface="Arial"/>
              </a:defRPr>
            </a:pPr>
            <a:r>
              <a:t>HỖ TRỢ QUYẾT ĐỊNH LÂM SÀNG TÍCH HỢP TRỢ LÝ VQA VÀ EHR BẢO MẬT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TextBox 86"/>
          <p:cNvSpPr txBox="1"/>
          <p:nvPr/>
        </p:nvSpPr>
        <p:spPr>
          <a:xfrm>
            <a:off x="548640" y="365760"/>
            <a:ext cx="8046720" cy="731520"/>
          </a:xfrm>
          <a:prstGeom prst="rect">
            <a:avLst/>
          </a:prstGeom>
          <a:noFill/>
        </p:spPr>
        <p:txBody>
          <a:bodyPr wrap="none">
            <a:spAutoFit/>
          </a:bodyPr>
          <a:lstStyle/>
          <a:p>
            <a:pPr>
              <a:defRPr sz="1300" b="1">
                <a:solidFill>
                  <a:srgbClr val="FFFFFF"/>
                </a:solidFill>
                <a:latin typeface="Arial"/>
              </a:defRPr>
            </a:pPr>
            <a:r>
              <a:t>ĐẠI HỌC BÁCH KHOA HÀ NỘI</a:t>
            </a:r>
            <a:br/>
            <a:r>
              <a:t>Trường Công nghệ Thông tin và Truyền thông</a:t>
            </a:r>
          </a:p>
        </p:txBody>
      </p:sp>
      <p:sp>
        <p:nvSpPr>
          <p:cNvPr id="88" name="TextBox 87"/>
          <p:cNvSpPr txBox="1"/>
          <p:nvPr/>
        </p:nvSpPr>
        <p:spPr>
          <a:xfrm>
            <a:off x="548640" y="1463040"/>
            <a:ext cx="8046720" cy="1828800"/>
          </a:xfrm>
          <a:prstGeom prst="rect">
            <a:avLst/>
          </a:prstGeom>
          <a:noFill/>
        </p:spPr>
        <p:txBody>
          <a:bodyPr wrap="square">
            <a:spAutoFit/>
          </a:bodyPr>
          <a:lstStyle/>
          <a:p>
            <a:pPr>
              <a:defRPr sz="1800" b="1">
                <a:solidFill>
                  <a:srgbClr val="FFFFFF"/>
                </a:solidFill>
                <a:latin typeface="Arial"/>
              </a:defRPr>
            </a:pPr>
            <a:r>
              <a:t>ĐỒ ÁN TỐT NGHIỆP ĐẠI HỌC</a:t>
            </a:r>
            <a:br/>
            <a:br/>
            <a:r>
              <a:t>Xây dựng hệ thống chẩn đoán đa phương thức hỗ trợ lâm sàng bệnh lý da liễu tích hợp thị giác máy tính, VQA y văn và quản lý EHR</a:t>
            </a:r>
          </a:p>
        </p:txBody>
      </p:sp>
      <p:sp>
        <p:nvSpPr>
          <p:cNvPr id="89" name="TextBox 88"/>
          <p:cNvSpPr txBox="1"/>
          <p:nvPr/>
        </p:nvSpPr>
        <p:spPr>
          <a:xfrm>
            <a:off x="548640" y="3840480"/>
            <a:ext cx="8046720" cy="2286000"/>
          </a:xfrm>
          <a:prstGeom prst="rect">
            <a:avLst/>
          </a:prstGeom>
          <a:noFill/>
        </p:spPr>
        <p:txBody>
          <a:bodyPr wrap="square">
            <a:spAutoFit/>
          </a:bodyPr>
          <a:lstStyle/>
          <a:p>
            <a:pPr>
              <a:spcAft>
                <a:spcPts val="800"/>
              </a:spcAft>
              <a:defRPr sz="1300" b="1">
                <a:solidFill>
                  <a:srgbClr val="E2E8F0"/>
                </a:solidFill>
                <a:latin typeface="Arial"/>
              </a:defRPr>
            </a:pPr>
            <a:r>
              <a:t>Sinh viên thực hiện: Nguyễn Thành Nghĩa - MSSV: 2021XXXX</a:t>
            </a:r>
          </a:p>
          <a:p>
            <a:pPr>
              <a:spcAft>
                <a:spcPts val="800"/>
              </a:spcAft>
              <a:defRPr sz="1300" b="1">
                <a:solidFill>
                  <a:srgbClr val="E2E8F0"/>
                </a:solidFill>
                <a:latin typeface="Arial"/>
              </a:defRPr>
            </a:pPr>
            <a:r>
              <a:t>Ngành học: Khoa học Máy tính / Hệ thống thông minh</a:t>
            </a:r>
          </a:p>
          <a:p>
            <a:pPr>
              <a:spcAft>
                <a:spcPts val="800"/>
              </a:spcAft>
              <a:defRPr sz="1300" b="1">
                <a:solidFill>
                  <a:srgbClr val="E2E8F0"/>
                </a:solidFill>
                <a:latin typeface="Arial"/>
              </a:defRPr>
            </a:pPr>
            <a:r>
              <a:t>Giảng viên hướng dẫn: PGS. TS. Giảng Viên Hướng Dẫn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3"/>
          <p:cNvPicPr preferRelativeResize="0"/>
          <p:nvPr/>
        </p:nvPicPr>
        <p:blipFill rotWithShape="1">
          <a:blip r:embed="rId3">
            <a:alphaModFix/>
          </a:blip>
          <a:srcRect b="0" l="0" r="0" t="0"/>
          <a:stretch/>
        </p:blipFill>
        <p:spPr>
          <a:xfrm>
            <a:off x="386634" y="331380"/>
            <a:ext cx="3174367" cy="952975"/>
          </a:xfrm>
          <a:prstGeom prst="rect">
            <a:avLst/>
          </a:prstGeom>
          <a:noFill/>
          <a:ln>
            <a:noFill/>
          </a:ln>
        </p:spPr>
      </p:pic>
      <p:sp>
        <p:nvSpPr>
          <p:cNvPr id="95" name="Google Shape;95;p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6" name="TextBox 9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NỘI DUNG TRÌNH BÀY</a:t>
            </a:r>
          </a:p>
        </p:txBody>
      </p:sp>
      <p:sp>
        <p:nvSpPr>
          <p:cNvPr id="97" name="TextBox 96"/>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Phần 1: Đặt vấn đề &amp; Mục tiêu đề tài</a:t>
            </a:r>
            <a:r>
              <a:rPr sz="1300">
                <a:solidFill>
                  <a:srgbClr val="1E293B"/>
                </a:solidFill>
                <a:latin typeface="Arial"/>
              </a:rPr>
              <a:t>: Tính cấp thiết của chẩn đoán sớm và các mục tiêu cốt lõi.</a:t>
            </a:r>
          </a:p>
          <a:p>
            <a:pPr>
              <a:lnSpc>
                <a:spcPct val="115000"/>
              </a:lnSpc>
              <a:spcAft>
                <a:spcPts val="1000"/>
              </a:spcAft>
            </a:pPr>
            <a:r>
              <a:rPr b="1" sz="1300">
                <a:solidFill>
                  <a:srgbClr val="990000"/>
                </a:solidFill>
                <a:latin typeface="Arial"/>
              </a:rPr>
              <a:t>Phần 2: Phân tích &amp; Thiết kế hệ thống</a:t>
            </a:r>
            <a:r>
              <a:rPr sz="1300">
                <a:solidFill>
                  <a:srgbClr val="1E293B"/>
                </a:solidFill>
                <a:latin typeface="Arial"/>
              </a:rPr>
              <a:t>: Phân luồng song song, bộ lọc Safety Gate và Use Cases.</a:t>
            </a:r>
          </a:p>
          <a:p>
            <a:pPr>
              <a:lnSpc>
                <a:spcPct val="115000"/>
              </a:lnSpc>
              <a:spcAft>
                <a:spcPts val="1000"/>
              </a:spcAft>
            </a:pPr>
            <a:r>
              <a:rPr b="1" sz="1300">
                <a:solidFill>
                  <a:srgbClr val="990000"/>
                </a:solidFill>
                <a:latin typeface="Arial"/>
              </a:rPr>
              <a:t>Phần 3: Thuật toán &amp; Giải thuật nâng cấp</a:t>
            </a:r>
            <a:r>
              <a:rPr sz="1300">
                <a:solidFill>
                  <a:srgbClr val="1E293B"/>
                </a:solidFill>
                <a:latin typeface="Arial"/>
              </a:rPr>
              <a:t>: SAM + GrabCut tương tác, OTSU fallback, late fusion Bayes và VQA RAG Offline.</a:t>
            </a:r>
          </a:p>
          <a:p>
            <a:pPr>
              <a:lnSpc>
                <a:spcPct val="115000"/>
              </a:lnSpc>
              <a:spcAft>
                <a:spcPts val="1000"/>
              </a:spcAft>
            </a:pPr>
            <a:r>
              <a:rPr b="1" sz="1300">
                <a:solidFill>
                  <a:srgbClr val="990000"/>
                </a:solidFill>
                <a:latin typeface="Arial"/>
              </a:rPr>
              <a:t>Phần 4: Thiết kế CSDL &amp; Bảo mật bệnh án EHR</a:t>
            </a:r>
            <a:r>
              <a:rPr sz="1300">
                <a:solidFill>
                  <a:srgbClr val="1E293B"/>
                </a:solidFill>
                <a:latin typeface="Arial"/>
              </a:rPr>
              <a:t>: CSDL Firestore phân cấp, mã hóa SHA-256 &amp; XOR-Base64, ThreadPoolExecutor tối ưu.</a:t>
            </a:r>
          </a:p>
          <a:p>
            <a:pPr>
              <a:lnSpc>
                <a:spcPct val="115000"/>
              </a:lnSpc>
              <a:spcAft>
                <a:spcPts val="1000"/>
              </a:spcAft>
            </a:pPr>
            <a:r>
              <a:rPr b="1" sz="1300">
                <a:solidFill>
                  <a:srgbClr val="990000"/>
                </a:solidFill>
                <a:latin typeface="Arial"/>
              </a:rPr>
              <a:t>Phần 5: Kết quả thực nghiệm &amp; Kết luận</a:t>
            </a:r>
            <a:r>
              <a:rPr sz="1300">
                <a:solidFill>
                  <a:srgbClr val="1E293B"/>
                </a:solidFill>
                <a:latin typeface="Arial"/>
              </a:rPr>
              <a:t>: Đánh giá độ chính xác (95.01%), Latency (232.27ms) và đóng góp xã hội đề tài.</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2" name="Google Shape;102;p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3" name="TextBox 102"/>
          <p:cNvSpPr txBox="1"/>
          <p:nvPr/>
        </p:nvSpPr>
        <p:spPr>
          <a:xfrm>
            <a:off x="548640" y="365760"/>
            <a:ext cx="8046720" cy="731520"/>
          </a:xfrm>
          <a:prstGeom prst="rect">
            <a:avLst/>
          </a:prstGeom>
          <a:noFill/>
        </p:spPr>
        <p:txBody>
          <a:bodyPr wrap="none">
            <a:spAutoFit/>
          </a:bodyPr>
          <a:lstStyle/>
          <a:p>
            <a:pPr>
              <a:defRPr sz="2200" b="1">
                <a:solidFill>
                  <a:srgbClr val="FFFFFF"/>
                </a:solidFill>
                <a:latin typeface="Arial"/>
              </a:defRPr>
            </a:pPr>
            <a:r>
              <a:t>PHẦN 1: ĐẶT VẤN ĐỀ &amp; MỤC TIÊU ĐỀ TÀI</a:t>
            </a:r>
          </a:p>
        </p:txBody>
      </p:sp>
      <p:sp>
        <p:nvSpPr>
          <p:cNvPr id="104" name="TextBox 103"/>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FFFFFF"/>
                </a:solidFill>
                <a:latin typeface="Arial"/>
              </a:rPr>
              <a:t>Nội dung chính</a:t>
            </a:r>
            <a:r>
              <a:rPr sz="1300">
                <a:solidFill>
                  <a:srgbClr val="FFFFFF"/>
                </a:solidFill>
                <a:latin typeface="Arial"/>
              </a:rPr>
              <a:t>:</a:t>
            </a:r>
          </a:p>
          <a:p>
            <a:pPr>
              <a:lnSpc>
                <a:spcPct val="115000"/>
              </a:lnSpc>
              <a:spcAft>
                <a:spcPts val="1000"/>
              </a:spcAft>
              <a:defRPr sz="1300">
                <a:solidFill>
                  <a:srgbClr val="FFFFFF"/>
                </a:solidFill>
                <a:latin typeface="Arial"/>
              </a:defRPr>
            </a:pPr>
            <a:r>
              <a:t>- Đặt vấn đề và tính cấp thiết trong chẩn đoán sớm bệnh lý da liễu.</a:t>
            </a:r>
          </a:p>
          <a:p>
            <a:pPr>
              <a:lnSpc>
                <a:spcPct val="115000"/>
              </a:lnSpc>
              <a:spcAft>
                <a:spcPts val="1000"/>
              </a:spcAft>
              <a:defRPr sz="1300">
                <a:solidFill>
                  <a:srgbClr val="FFFFFF"/>
                </a:solidFill>
                <a:latin typeface="Arial"/>
              </a:defRPr>
            </a:pPr>
            <a:r>
              <a:t>- Khảo sát hạn chế của các giải pháp AI hộp đen hiện tại.</a:t>
            </a:r>
          </a:p>
          <a:p>
            <a:pPr>
              <a:lnSpc>
                <a:spcPct val="115000"/>
              </a:lnSpc>
              <a:spcAft>
                <a:spcPts val="1000"/>
              </a:spcAft>
              <a:defRPr sz="1300">
                <a:solidFill>
                  <a:srgbClr val="FFFFFF"/>
                </a:solidFill>
                <a:latin typeface="Arial"/>
              </a:defRPr>
            </a:pPr>
            <a:r>
              <a:t>- Phát biểu đối tượng, phạm vi nghiên cứu và mục tiêu đề tài đề xuất.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10" name="Google Shape;110;p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 name="TextBox 110"/>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ĐẶT VẤN ĐỀ &amp; TÍNH CẤP THIẾT</a:t>
            </a:r>
          </a:p>
        </p:txBody>
      </p:sp>
      <p:sp>
        <p:nvSpPr>
          <p:cNvPr id="112" name="TextBox 111"/>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Gánh nặng bệnh ác tính</a:t>
            </a:r>
            <a:r>
              <a:rPr sz="1300">
                <a:solidFill>
                  <a:srgbClr val="1E293B"/>
                </a:solidFill>
                <a:latin typeface="Arial"/>
              </a:rPr>
              <a:t>: Các bệnh ung thư hắc tố (Melanoma, BCC) tăng trưởng nhanh. Chẩn đoán và điều trị sớm quyết định trên </a:t>
            </a:r>
            <a:r>
              <a:rPr b="1" sz="1300">
                <a:solidFill>
                  <a:srgbClr val="990000"/>
                </a:solidFill>
                <a:latin typeface="Arial"/>
              </a:rPr>
              <a:t>95%</a:t>
            </a:r>
            <a:r>
              <a:rPr sz="1300">
                <a:solidFill>
                  <a:srgbClr val="1E293B"/>
                </a:solidFill>
                <a:latin typeface="Arial"/>
              </a:rPr>
              <a:t> tỷ lệ sống sót.</a:t>
            </a:r>
          </a:p>
          <a:p>
            <a:pPr>
              <a:lnSpc>
                <a:spcPct val="115000"/>
              </a:lnSpc>
              <a:spcAft>
                <a:spcPts val="1000"/>
              </a:spcAft>
            </a:pPr>
            <a:r>
              <a:rPr b="1" sz="1300">
                <a:solidFill>
                  <a:srgbClr val="990000"/>
                </a:solidFill>
                <a:latin typeface="Arial"/>
              </a:rPr>
              <a:t>Thực trạng tuyến cơ sở</a:t>
            </a:r>
            <a:r>
              <a:rPr sz="1300">
                <a:solidFill>
                  <a:srgbClr val="1E293B"/>
                </a:solidFill>
                <a:latin typeface="Arial"/>
              </a:rPr>
              <a:t>: Thiếu hụt nghiêm trọng bác sĩ chuyên khoa sâu và các thiết bị soi chuyên dụng ở tuyến huyện, xã.</a:t>
            </a:r>
          </a:p>
          <a:p>
            <a:pPr>
              <a:lnSpc>
                <a:spcPct val="115000"/>
              </a:lnSpc>
              <a:spcAft>
                <a:spcPts val="1000"/>
              </a:spcAft>
            </a:pPr>
            <a:r>
              <a:rPr b="1" sz="1300">
                <a:solidFill>
                  <a:srgbClr val="990000"/>
                </a:solidFill>
                <a:latin typeface="Arial"/>
              </a:rPr>
              <a:t>Giới hạn của mô hình AI cũ</a:t>
            </a:r>
            <a:r>
              <a:rPr sz="1300">
                <a:solidFill>
                  <a:srgbClr val="1E293B"/>
                </a:solidFill>
                <a:latin typeface="Arial"/>
              </a:rPr>
              <a:t>: Hầu hết là mô hình 'hộp đen' (Black-box) không có giải thích lâm sàng, hoạt động đơn phương thức và có nguy cơ rò rỉ dữ liệu qua Cloud API công cộng.</a:t>
            </a:r>
          </a:p>
        </p:txBody>
      </p:sp>
      <p:pic>
        <p:nvPicPr>
          <p:cNvPr id="113" name="Picture 112" descr="media__1783268147920.png"/>
          <p:cNvPicPr>
            <a:picLocks noChangeAspect="1"/>
          </p:cNvPicPr>
          <p:nvPr/>
        </p:nvPicPr>
        <p:blipFill>
          <a:blip r:embed="rId3"/>
          <a:stretch>
            <a:fillRect/>
          </a:stretch>
        </p:blipFill>
        <p:spPr>
          <a:xfrm>
            <a:off x="4937760" y="1188720"/>
            <a:ext cx="3657600" cy="1714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7" name="Google Shape;117;p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8" name="TextBox 117"/>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ĐỐI TƯỢNG &amp; MỤC TIÊU ĐỀ TÀI</a:t>
            </a:r>
          </a:p>
        </p:txBody>
      </p:sp>
      <p:sp>
        <p:nvSpPr>
          <p:cNvPr id="119" name="TextBox 118"/>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Đối tượng nghiên cứu</a:t>
            </a:r>
            <a:r>
              <a:rPr sz="1300">
                <a:solidFill>
                  <a:srgbClr val="1E293B"/>
                </a:solidFill>
                <a:latin typeface="Arial"/>
              </a:rPr>
              <a:t>: 7 lớp bệnh da liễu phổ biến (HAM10000: AKIEC, BCC, BKL, DF, MEL, NV, VASC). Dữ liệu ảnh da RGB thường/DICOM và demographics bệnh nhân.</a:t>
            </a:r>
          </a:p>
          <a:p>
            <a:pPr>
              <a:lnSpc>
                <a:spcPct val="115000"/>
              </a:lnSpc>
              <a:spcAft>
                <a:spcPts val="1000"/>
              </a:spcAft>
            </a:pPr>
            <a:r>
              <a:rPr b="1" sz="1300">
                <a:solidFill>
                  <a:srgbClr val="990000"/>
                </a:solidFill>
                <a:latin typeface="Arial"/>
              </a:rPr>
              <a:t>Đối tượng thụ hưởng</a:t>
            </a:r>
            <a:r>
              <a:rPr sz="1300">
                <a:solidFill>
                  <a:srgbClr val="1E293B"/>
                </a:solidFill>
                <a:latin typeface="Arial"/>
              </a:rPr>
              <a:t>: Bác sĩ đa khoa tại phòng khám, trạm y tế tuyến cơ sở.</a:t>
            </a:r>
          </a:p>
          <a:p>
            <a:pPr>
              <a:lnSpc>
                <a:spcPct val="115000"/>
              </a:lnSpc>
              <a:spcAft>
                <a:spcPts val="1000"/>
              </a:spcAft>
            </a:pPr>
            <a:r>
              <a:rPr b="1" sz="1300">
                <a:solidFill>
                  <a:srgbClr val="990000"/>
                </a:solidFill>
                <a:latin typeface="Arial"/>
              </a:rPr>
              <a:t>Mục tiêu đồ án</a:t>
            </a:r>
            <a:r>
              <a:rPr sz="1300">
                <a:solidFill>
                  <a:srgbClr val="1E293B"/>
                </a:solidFill>
                <a:latin typeface="Arial"/>
              </a:rPr>
              <a:t>: Xây dựng hệ thống CDSS đa phương thức toàn diện giúp chẩn đoán chính xác, biện giải minh bạch (ABCD, Grad-CAM), hỗ trợ offline (VQA Ollama) và quản lý EHR bảo mật.</a:t>
            </a:r>
          </a:p>
        </p:txBody>
      </p:sp>
      <p:pic>
        <p:nvPicPr>
          <p:cNvPr id="120" name="Picture 119" descr="ham10000_classes_1783445179379.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5" name="Google Shape;125;p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 name="TextBox 12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TỔNG QUAN HỆ THỐNG</a:t>
            </a:r>
          </a:p>
        </p:txBody>
      </p:sp>
      <p:sp>
        <p:nvSpPr>
          <p:cNvPr id="127" name="TextBox 12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luồng song song độc lập</a:t>
            </a:r>
            <a:r>
              <a:rPr sz="1300">
                <a:solidFill>
                  <a:srgbClr val="1E293B"/>
                </a:solidFill>
                <a:latin typeface="Arial"/>
              </a:rPr>
              <a:t>: Nhánh Phân đoạn ảnh (ABCD) và nhánh Phân loại (Vision Classifier) chạy độc lập song song để tránh gây nhiễu chéo dữ liệu lâm sàng.</a:t>
            </a:r>
          </a:p>
          <a:p>
            <a:pPr>
              <a:lnSpc>
                <a:spcPct val="115000"/>
              </a:lnSpc>
              <a:spcAft>
                <a:spcPts val="1000"/>
              </a:spcAft>
            </a:pPr>
            <a:r>
              <a:rPr b="1" sz="1300">
                <a:solidFill>
                  <a:srgbClr val="990000"/>
                </a:solidFill>
                <a:latin typeface="Arial"/>
              </a:rPr>
              <a:t>Bộ lọc Safety Gate</a:t>
            </a:r>
            <a:r>
              <a:rPr sz="1300">
                <a:solidFill>
                  <a:srgbClr val="1E293B"/>
                </a:solidFill>
                <a:latin typeface="Arial"/>
              </a:rPr>
              <a:t>: Tự động đánh giá chất lượng ảnh (độ mờ Laplacian, phơi sáng thích ứng chủng tộc Fitzpatrick) trước khi chạy.</a:t>
            </a:r>
          </a:p>
          <a:p>
            <a:pPr>
              <a:lnSpc>
                <a:spcPct val="115000"/>
              </a:lnSpc>
              <a:spcAft>
                <a:spcPts val="1000"/>
              </a:spcAft>
            </a:pPr>
            <a:r>
              <a:rPr b="1" sz="1300">
                <a:solidFill>
                  <a:srgbClr val="990000"/>
                </a:solidFill>
                <a:latin typeface="Arial"/>
              </a:rPr>
              <a:t>Hợp nhất Bayes &amp; VQA</a:t>
            </a:r>
            <a:r>
              <a:rPr sz="1300">
                <a:solidFill>
                  <a:srgbClr val="1E293B"/>
                </a:solidFill>
                <a:latin typeface="Arial"/>
              </a:rPr>
              <a:t>: Late Fusion Bayes kết hợp kết quả vision với demographics, đưa vào trợ lý đàm thoại VQA y văn RAG.</a:t>
            </a:r>
          </a:p>
        </p:txBody>
      </p:sp>
      <p:pic>
        <p:nvPicPr>
          <p:cNvPr id="128" name="Picture 127" descr="architecture_diagram_1783443735021.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2" name="Google Shape;132;p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TextBox 132"/>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TÍCH CHỨC NĂNG HỆ THỐNG</a:t>
            </a:r>
          </a:p>
        </p:txBody>
      </p:sp>
      <p:sp>
        <p:nvSpPr>
          <p:cNvPr id="134" name="TextBox 133"/>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Tác nhân chính (Actors)</a:t>
            </a:r>
            <a:r>
              <a:rPr sz="1300">
                <a:solidFill>
                  <a:srgbClr val="1E293B"/>
                </a:solidFill>
                <a:latin typeface="Arial"/>
              </a:rPr>
              <a:t>: Bác sĩ lâm sàng (thực hiện chẩn đoán, hỏi đáp VQA, quản lý bệnh án) và Quản trị viên (quản lý tài khoản, thông số hệ thống).</a:t>
            </a:r>
          </a:p>
          <a:p>
            <a:pPr>
              <a:lnSpc>
                <a:spcPct val="115000"/>
              </a:lnSpc>
              <a:spcAft>
                <a:spcPts val="1000"/>
              </a:spcAft>
            </a:pPr>
            <a:r>
              <a:rPr b="1" sz="1300">
                <a:solidFill>
                  <a:srgbClr val="990000"/>
                </a:solidFill>
                <a:latin typeface="Arial"/>
              </a:rPr>
              <a:t>Chẩn đoán đa phương thức</a:t>
            </a:r>
            <a:r>
              <a:rPr sz="1300">
                <a:solidFill>
                  <a:srgbClr val="1E293B"/>
                </a:solidFill>
                <a:latin typeface="Arial"/>
              </a:rPr>
              <a:t>: Tải ảnh/DICOM, phân đoạn tự động/tương tác, tính chỉ số hình học ABCD, late fusion Bayes.</a:t>
            </a:r>
          </a:p>
          <a:p>
            <a:pPr>
              <a:lnSpc>
                <a:spcPct val="115000"/>
              </a:lnSpc>
              <a:spcAft>
                <a:spcPts val="1000"/>
              </a:spcAft>
            </a:pPr>
            <a:r>
              <a:rPr b="1" sz="1300">
                <a:solidFill>
                  <a:srgbClr val="990000"/>
                </a:solidFill>
                <a:latin typeface="Arial"/>
              </a:rPr>
              <a:t>Tư vấn y văn &amp; EHR</a:t>
            </a:r>
            <a:r>
              <a:rPr sz="1300">
                <a:solidFill>
                  <a:srgbClr val="1E293B"/>
                </a:solidFill>
                <a:latin typeface="Arial"/>
              </a:rPr>
              <a:t>: Hỏi đáp y khoa VQA kết hợp RAG, đồng bộ hóa bệnh án EHR và theo dõi tiến triển bệnh nhân qua sơ đồ timeline.</a:t>
            </a:r>
          </a:p>
        </p:txBody>
      </p:sp>
      <p:pic>
        <p:nvPicPr>
          <p:cNvPr id="135" name="Picture 134" descr="use_case_diagram_1783443747688.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9" name="Google Shape;139;p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 name="TextBox 13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GIẢI THUẬT PHÂN ĐOẠN TỔN THƯƠNG</a:t>
            </a:r>
          </a:p>
        </p:txBody>
      </p:sp>
      <p:sp>
        <p:nvSpPr>
          <p:cNvPr id="141" name="TextBox 14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đoạn tự động</a:t>
            </a:r>
            <a:r>
              <a:rPr sz="1300">
                <a:solidFill>
                  <a:srgbClr val="1E293B"/>
                </a:solidFill>
                <a:latin typeface="Arial"/>
              </a:rPr>
              <a:t>: Sử dụng mạng DeepLabV3+ (ResNet50) và Multi-scale TTA ({1.0, 0.75, 0.5}) tối ưu phân đoạn trên ảnh chụp di động.</a:t>
            </a:r>
          </a:p>
          <a:p>
            <a:pPr>
              <a:lnSpc>
                <a:spcPct val="115000"/>
              </a:lnSpc>
              <a:spcAft>
                <a:spcPts val="1000"/>
              </a:spcAft>
            </a:pPr>
            <a:r>
              <a:rPr b="1" sz="1300">
                <a:solidFill>
                  <a:srgbClr val="990000"/>
                </a:solidFill>
                <a:latin typeface="Arial"/>
              </a:rPr>
              <a:t>GrabCut tương tác</a:t>
            </a:r>
            <a:r>
              <a:rPr sz="1300">
                <a:solidFill>
                  <a:srgbClr val="1E293B"/>
                </a:solidFill>
                <a:latin typeface="Arial"/>
              </a:rPr>
              <a:t>: Tích hợp thuật toán GrabCut nâng cấp khởi tạo bằng mặt nạ mồi (`GC_INIT_WITH_MASK`) định vị chính xác vùng click chuột của bác sĩ.</a:t>
            </a:r>
          </a:p>
          <a:p>
            <a:pPr>
              <a:lnSpc>
                <a:spcPct val="115000"/>
              </a:lnSpc>
              <a:spcAft>
                <a:spcPts val="1000"/>
              </a:spcAft>
            </a:pPr>
            <a:r>
              <a:rPr b="1" sz="1300">
                <a:solidFill>
                  <a:srgbClr val="990000"/>
                </a:solidFill>
                <a:latin typeface="Arial"/>
              </a:rPr>
              <a:t>OTSU dự phòng y khoa</a:t>
            </a:r>
            <a:r>
              <a:rPr sz="1300">
                <a:solidFill>
                  <a:srgbClr val="1E293B"/>
                </a:solidFill>
                <a:latin typeface="Arial"/>
              </a:rPr>
              <a:t>: Tự động fallback về bộ lọc OTSU nghịch đảo (`cv2.THRESH_BINARY_INV`) nếu mô hình deep learning phân đoạn lỗi (mặt nạ rỗng), đảm bảo đo đạc chỉ số ABCD luôn ổn định.</a:t>
            </a:r>
          </a:p>
        </p:txBody>
      </p:sp>
      <p:pic>
        <p:nvPicPr>
          <p:cNvPr id="142" name="Picture 141" descr="seg_comparison.png"/>
          <p:cNvPicPr>
            <a:picLocks noChangeAspect="1"/>
          </p:cNvPicPr>
          <p:nvPr/>
        </p:nvPicPr>
        <p:blipFill>
          <a:blip r:embed="rId3"/>
          <a:stretch>
            <a:fillRect/>
          </a:stretch>
        </p:blipFill>
        <p:spPr>
          <a:xfrm>
            <a:off x="4937760" y="1188720"/>
            <a:ext cx="3657600" cy="23513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5" name="TextBox 14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ĐO ĐẠC CHỈ SỐ HÌNH HỌC LÂM SÀNG ABCD</a:t>
            </a:r>
          </a:p>
        </p:txBody>
      </p:sp>
      <p:sp>
        <p:nvSpPr>
          <p:cNvPr id="146" name="TextBox 14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Asymmetry (Bất đối xứng)</a:t>
            </a:r>
            <a:r>
              <a:rPr sz="1300">
                <a:solidFill>
                  <a:srgbClr val="1E293B"/>
                </a:solidFill>
                <a:latin typeface="Arial"/>
              </a:rPr>
              <a:t>: Tính tỷ lệ bất đối xứng của mặt nạ tổn thương qua hai trục đối xứng trực quan X và Y.</a:t>
            </a:r>
          </a:p>
          <a:p>
            <a:pPr>
              <a:lnSpc>
                <a:spcPct val="115000"/>
              </a:lnSpc>
              <a:spcAft>
                <a:spcPts val="1000"/>
              </a:spcAft>
            </a:pPr>
            <a:r>
              <a:rPr b="1" sz="1300">
                <a:solidFill>
                  <a:srgbClr val="990000"/>
                </a:solidFill>
                <a:latin typeface="Arial"/>
              </a:rPr>
              <a:t>Border (Biên bờ)</a:t>
            </a:r>
            <a:r>
              <a:rPr sz="1300">
                <a:solidFill>
                  <a:srgbClr val="1E293B"/>
                </a:solidFill>
                <a:latin typeface="Arial"/>
              </a:rPr>
              <a:t>: Tính độ phức tạp bờ tổn thương dựa trên chu vi và diện tích mặt nạ, giúp bác sĩ phát hiện bờ không đều.</a:t>
            </a:r>
          </a:p>
          <a:p>
            <a:pPr>
              <a:lnSpc>
                <a:spcPct val="115000"/>
              </a:lnSpc>
              <a:spcAft>
                <a:spcPts val="1000"/>
              </a:spcAft>
            </a:pPr>
            <a:r>
              <a:rPr b="1" sz="1300">
                <a:solidFill>
                  <a:srgbClr val="990000"/>
                </a:solidFill>
                <a:latin typeface="Arial"/>
              </a:rPr>
              <a:t>Color (Màu sắc)</a:t>
            </a:r>
            <a:r>
              <a:rPr sz="1300">
                <a:solidFill>
                  <a:srgbClr val="1E293B"/>
                </a:solidFill>
                <a:latin typeface="Arial"/>
              </a:rPr>
              <a:t>: Đo độ lệch chuẩn màu sắc RGB trong vùng tổn thương.</a:t>
            </a:r>
          </a:p>
          <a:p>
            <a:pPr>
              <a:lnSpc>
                <a:spcPct val="115000"/>
              </a:lnSpc>
              <a:spcAft>
                <a:spcPts val="1000"/>
              </a:spcAft>
            </a:pPr>
            <a:r>
              <a:rPr b="1" sz="1300">
                <a:solidFill>
                  <a:srgbClr val="990000"/>
                </a:solidFill>
                <a:latin typeface="Arial"/>
              </a:rPr>
              <a:t>Diameter (Đường kính)</a:t>
            </a:r>
            <a:r>
              <a:rPr sz="1300">
                <a:solidFill>
                  <a:srgbClr val="1E293B"/>
                </a:solidFill>
                <a:latin typeface="Arial"/>
              </a:rPr>
              <a:t>: Siêu dữ liệu `PixelSpacing` từ tệp DICOM được trích xuất để quy đổi pixel sang kích thước thực tế ($mm$), đảm bảo tính chính xác lâm sàng.</a:t>
            </a:r>
          </a:p>
        </p:txBody>
      </p:sp>
      <p:pic>
        <p:nvPicPr>
          <p:cNvPr id="147" name="Picture 146" descr="media__1783331218262.png"/>
          <p:cNvPicPr>
            <a:picLocks noChangeAspect="1"/>
          </p:cNvPicPr>
          <p:nvPr/>
        </p:nvPicPr>
        <p:blipFill>
          <a:blip r:embed="rId3"/>
          <a:stretch>
            <a:fillRect/>
          </a:stretch>
        </p:blipFill>
        <p:spPr>
          <a:xfrm>
            <a:off x="4937760" y="1188720"/>
            <a:ext cx="3657600" cy="18680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4" name="Google Shape;154;p1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TextBox 15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LOẠI &amp; HỢP NHẤT BAYES</a:t>
            </a:r>
          </a:p>
        </p:txBody>
      </p:sp>
      <p:sp>
        <p:nvSpPr>
          <p:cNvPr id="156" name="TextBox 15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loại ảnh (Classifier)</a:t>
            </a:r>
            <a:r>
              <a:rPr sz="1300">
                <a:solidFill>
                  <a:srgbClr val="1E293B"/>
                </a:solidFill>
                <a:latin typeface="Arial"/>
              </a:rPr>
              <a:t>: Kiến trúc EfficientNet-B1 nhúng khối chú ý CBAM giúp hội tụ chính xác vào tổn thương da sắc tố.</a:t>
            </a:r>
          </a:p>
          <a:p>
            <a:pPr>
              <a:lnSpc>
                <a:spcPct val="115000"/>
              </a:lnSpc>
              <a:spcAft>
                <a:spcPts val="1000"/>
              </a:spcAft>
            </a:pPr>
            <a:r>
              <a:rPr b="1" sz="1300">
                <a:solidFill>
                  <a:srgbClr val="990000"/>
                </a:solidFill>
                <a:latin typeface="Arial"/>
              </a:rPr>
              <a:t>Late Fusion Bayes</a:t>
            </a:r>
            <a:r>
              <a:rPr sz="1300">
                <a:solidFill>
                  <a:srgbClr val="1E293B"/>
                </a:solidFill>
                <a:latin typeface="Arial"/>
              </a:rPr>
              <a:t>: Hợp nhất xác suất hình ảnh với demographics dịch tễ (tuổi, giới tính, vị trí giải phẫu) theo công thức Bayes.</a:t>
            </a:r>
          </a:p>
          <a:p>
            <a:pPr>
              <a:lnSpc>
                <a:spcPct val="115000"/>
              </a:lnSpc>
              <a:spcAft>
                <a:spcPts val="1000"/>
              </a:spcAft>
            </a:pPr>
            <a:r>
              <a:rPr b="1" sz="1300">
                <a:solidFill>
                  <a:srgbClr val="990000"/>
                </a:solidFill>
                <a:latin typeface="Arial"/>
              </a:rPr>
              <a:t>Trọng số điều phối ($\lambda$)</a:t>
            </a:r>
            <a:r>
              <a:rPr sz="1300">
                <a:solidFill>
                  <a:srgbClr val="1E293B"/>
                </a:solidFill>
                <a:latin typeface="Arial"/>
              </a:rPr>
              <a:t>: Tích hợp slider trọng số $\lambda$ trên giao diện giúp bác sĩ chủ động kiểm soát và giảm bớt ảnh hưởng của thiên lệch địa lý HAM10000 (da trắng) khi chẩn đoán cho người Việt.</a:t>
            </a:r>
          </a:p>
        </p:txBody>
      </p:sp>
      <p:pic>
        <p:nvPicPr>
          <p:cNvPr id="157" name="Picture 156" descr="training_history.png"/>
          <p:cNvPicPr>
            <a:picLocks noChangeAspect="1"/>
          </p:cNvPicPr>
          <p:nvPr/>
        </p:nvPicPr>
        <p:blipFill>
          <a:blip r:embed="rId3"/>
          <a:stretch>
            <a:fillRect/>
          </a:stretch>
        </p:blipFill>
        <p:spPr>
          <a:xfrm>
            <a:off x="4937760" y="1188720"/>
            <a:ext cx="3657600" cy="14983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0" name="TextBox 15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TRỢ LÝ ĐÀM THOẠI VQA &amp; RAG</a:t>
            </a:r>
          </a:p>
        </p:txBody>
      </p:sp>
      <p:sp>
        <p:nvSpPr>
          <p:cNvPr id="161" name="TextBox 16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VQA ngoại tuyến (Offline)</a:t>
            </a:r>
            <a:r>
              <a:rPr sz="1300">
                <a:solidFill>
                  <a:srgbClr val="1E293B"/>
                </a:solidFill>
                <a:latin typeface="Arial"/>
              </a:rPr>
              <a:t>: Tinh chỉnh DistilGPT-2 LoRA (rank 8, chỉ huấn luyện 2.13% tham số) chạy trên CPU, hoặc kết nối Ollama API cục bộ để chạy các LLM 3B/7B lớn hơn.</a:t>
            </a:r>
          </a:p>
          <a:p>
            <a:pPr>
              <a:lnSpc>
                <a:spcPct val="115000"/>
              </a:lnSpc>
              <a:spcAft>
                <a:spcPts val="1000"/>
              </a:spcAft>
            </a:pPr>
            <a:r>
              <a:rPr b="1" sz="1300">
                <a:solidFill>
                  <a:srgbClr val="990000"/>
                </a:solidFill>
                <a:latin typeface="Arial"/>
              </a:rPr>
              <a:t>RAG y văn ngoại tuyến</a:t>
            </a:r>
            <a:r>
              <a:rPr sz="1300">
                <a:solidFill>
                  <a:srgbClr val="1E293B"/>
                </a:solidFill>
                <a:latin typeface="Arial"/>
              </a:rPr>
              <a:t>: So khớp tài liệu y văn từ ChromaDB bằng khoảng cách Cosine, nhồi hướng dẫn điều trị của Bộ Y tế vào prompt để LLM giải đáp chính xác, tránh ảo giác.</a:t>
            </a:r>
          </a:p>
          <a:p>
            <a:pPr>
              <a:lnSpc>
                <a:spcPct val="115000"/>
              </a:lnSpc>
              <a:spcAft>
                <a:spcPts val="1000"/>
              </a:spcAft>
            </a:pPr>
            <a:r>
              <a:rPr b="1" sz="1300">
                <a:solidFill>
                  <a:srgbClr val="990000"/>
                </a:solidFill>
                <a:latin typeface="Arial"/>
              </a:rPr>
              <a:t>Rào cản an toàn thuốc</a:t>
            </a:r>
            <a:r>
              <a:rPr sz="1300">
                <a:solidFill>
                  <a:srgbClr val="1E293B"/>
                </a:solidFill>
                <a:latin typeface="Arial"/>
              </a:rPr>
              <a:t>: Medication Guardrails tự động lọc ngăn chặn các câu trả lời tự kê đơn thuốc của AI trực tuyến.</a:t>
            </a:r>
          </a:p>
        </p:txBody>
      </p:sp>
      <p:pic>
        <p:nvPicPr>
          <p:cNvPr id="162" name="Picture 161" descr="media__1783401356034.png"/>
          <p:cNvPicPr>
            <a:picLocks noChangeAspect="1"/>
          </p:cNvPicPr>
          <p:nvPr/>
        </p:nvPicPr>
        <p:blipFill>
          <a:blip r:embed="rId3"/>
          <a:stretch>
            <a:fillRect/>
          </a:stretch>
        </p:blipFill>
        <p:spPr>
          <a:xfrm>
            <a:off x="4937760" y="1188720"/>
            <a:ext cx="3657600" cy="1714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8" name="Google Shape;168;p1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9" name="TextBox 168"/>
          <p:cNvSpPr txBox="1"/>
          <p:nvPr/>
        </p:nvSpPr>
        <p:spPr>
          <a:xfrm>
            <a:off x="548640" y="2011680"/>
            <a:ext cx="8046720" cy="4114800"/>
          </a:xfrm>
          <a:prstGeom prst="rect">
            <a:avLst/>
          </a:prstGeom>
          <a:noFill/>
        </p:spPr>
        <p:txBody>
          <a:bodyPr wrap="square">
            <a:spAutoFit/>
          </a:bodyPr>
          <a:lstStyle/>
          <a:p>
            <a:pPr algn="l">
              <a:defRPr sz="3200" b="1">
                <a:solidFill>
                  <a:srgbClr val="FFFFFF"/>
                </a:solidFill>
                <a:latin typeface="Arial"/>
              </a:defRPr>
            </a:pPr>
            <a:r>
              <a:t>XIN CHÂN THÀNH CẢM ƠN !</a:t>
            </a:r>
          </a:p>
          <a:p>
            <a:br/>
            <a:pPr algn="l">
              <a:defRPr sz="1400" b="1">
                <a:solidFill>
                  <a:srgbClr val="E2E8F0"/>
                </a:solidFill>
                <a:latin typeface="Arial"/>
              </a:defRPr>
            </a:pPr>
            <a:r>
              <a:t>Em xin trân trọng cảm ơn các Thầy Cô trong Hội đồng đã lắng nghe</a:t>
            </a:r>
            <a:br/>
            <a:r>
              <a:t>và hướng dẫn em hoàn thành đồ án tốt nghiệp này!</a:t>
            </a:r>
            <a:br/>
            <a:br/>
            <a:r>
              <a:t>Q&amp;A - PHẦN TRẢ LỜI CÂU HỎI CỦA HỘI ĐỒNG BẢO VỆ</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THIẾT KẾ CƠ SỞ DỮ LIỆU EHR BỆNH ÁN</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CSDL Firestore phân cấp</a:t>
            </a:r>
            <a:r>
              <a:rPr sz="1300">
                <a:solidFill>
                  <a:srgbClr val="1E293B"/>
                </a:solidFill>
                <a:latin typeface="Arial"/>
              </a:rPr>
              <a:t>: Phân tách dữ liệu thành 3 collection chính: `users`, `patients` và `records` giúp quản lý dễ dàng.</a:t>
            </a:r>
          </a:p>
          <a:p>
            <a:pPr>
              <a:lnSpc>
                <a:spcPct val="115000"/>
              </a:lnSpc>
              <a:spcAft>
                <a:spcPts val="1000"/>
              </a:spcAft>
            </a:pPr>
            <a:r>
              <a:rPr b="1" sz="1300">
                <a:solidFill>
                  <a:srgbClr val="990000"/>
                </a:solidFill>
                <a:latin typeface="Arial"/>
              </a:rPr>
              <a:t>Hồ sơ EHR chi tiết</a:t>
            </a:r>
            <a:r>
              <a:rPr sz="1300">
                <a:solidFill>
                  <a:srgbClr val="1E293B"/>
                </a:solidFill>
                <a:latin typeface="Arial"/>
              </a:rPr>
              <a:t>: Lưu trữ toàn bộ ảnh gốc, mặt nạ, Grad-CAM, kết quả ABCD và nhật ký hỏi đáp VQA.</a:t>
            </a:r>
          </a:p>
          <a:p>
            <a:pPr>
              <a:lnSpc>
                <a:spcPct val="115000"/>
              </a:lnSpc>
              <a:spcAft>
                <a:spcPts val="1000"/>
              </a:spcAft>
            </a:pPr>
            <a:r>
              <a:rPr b="1" sz="1300">
                <a:solidFill>
                  <a:srgbClr val="990000"/>
                </a:solidFill>
                <a:latin typeface="Arial"/>
              </a:rPr>
              <a:t>Dòng thời gian lâm sàng</a:t>
            </a:r>
            <a:r>
              <a:rPr sz="1300">
                <a:solidFill>
                  <a:srgbClr val="1E293B"/>
                </a:solidFill>
                <a:latin typeface="Arial"/>
              </a:rPr>
              <a:t>: Theo dõi trực quan tiến triển kích thước tổn thương qua nhiều mốc thời gian khám bệnh, giúp bác sĩ đánh giá hiệu quả điều trị.</a:t>
            </a:r>
          </a:p>
        </p:txBody>
      </p:sp>
      <p:pic>
        <p:nvPicPr>
          <p:cNvPr id="4" name="Picture 3" descr="media__1783444694120.png"/>
          <p:cNvPicPr>
            <a:picLocks noChangeAspect="1"/>
          </p:cNvPicPr>
          <p:nvPr/>
        </p:nvPicPr>
        <p:blipFill>
          <a:blip r:embed="rId2"/>
          <a:stretch>
            <a:fillRect/>
          </a:stretch>
        </p:blipFill>
        <p:spPr>
          <a:xfrm>
            <a:off x="4937760" y="1188720"/>
            <a:ext cx="3657600" cy="240387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BẢO MẬT EHR &amp; TỐI ƯU HÓA LƯU TRỮ</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Ẩn danh &amp; Mã hóa bệnh án</a:t>
            </a:r>
            <a:r>
              <a:rPr sz="1300">
                <a:solidFill>
                  <a:srgbClr val="1E293B"/>
                </a:solidFill>
                <a:latin typeface="Arial"/>
              </a:rPr>
              <a:t>: Băm SHA-256 CCCD/Tên làm Document ID, và mã hóa đối xứng XOR + Base64 toàn bộ thông tin nhạy cảm của bệnh nhân trước khi lưu Firestore để tuân thủ HIPAA.</a:t>
            </a:r>
          </a:p>
          <a:p>
            <a:pPr>
              <a:lnSpc>
                <a:spcPct val="115000"/>
              </a:lnSpc>
              <a:spcAft>
                <a:spcPts val="1000"/>
              </a:spcAft>
            </a:pPr>
            <a:r>
              <a:rPr b="1" sz="1300">
                <a:solidFill>
                  <a:srgbClr val="990000"/>
                </a:solidFill>
                <a:latin typeface="Arial"/>
              </a:rPr>
              <a:t>ThreadPool song song hóa</a:t>
            </a:r>
            <a:r>
              <a:rPr sz="1300">
                <a:solidFill>
                  <a:srgbClr val="1E293B"/>
                </a:solidFill>
                <a:latin typeface="Arial"/>
              </a:rPr>
              <a:t>: Tải đồng thời 3 ảnh lên cloud (gốc, mặt nạ, Grad-CAM) bằng `ThreadPoolExecutor` thay vì tuần tự.</a:t>
            </a:r>
          </a:p>
          <a:p>
            <a:pPr>
              <a:lnSpc>
                <a:spcPct val="115000"/>
              </a:lnSpc>
              <a:spcAft>
                <a:spcPts val="1000"/>
              </a:spcAft>
            </a:pPr>
            <a:r>
              <a:rPr b="1" sz="1300">
                <a:solidFill>
                  <a:srgbClr val="990000"/>
                </a:solidFill>
                <a:latin typeface="Arial"/>
              </a:rPr>
              <a:t>Giảm thiểu độ trễ UI</a:t>
            </a:r>
            <a:r>
              <a:rPr sz="1300">
                <a:solidFill>
                  <a:srgbClr val="1E293B"/>
                </a:solidFill>
                <a:latin typeface="Arial"/>
              </a:rPr>
              <a:t>: Rút ngắn thời gian khóa giao diện chính (freeze latency) của Streamlit từ 5 giây xuống chỉ còn </a:t>
            </a:r>
            <a:r>
              <a:rPr b="1" sz="1300">
                <a:solidFill>
                  <a:srgbClr val="990000"/>
                </a:solidFill>
                <a:latin typeface="Arial"/>
              </a:rPr>
              <a:t>1.5 giây</a:t>
            </a:r>
            <a:r>
              <a:rPr sz="1300">
                <a:solidFill>
                  <a:srgbClr val="1E293B"/>
                </a:solidFill>
                <a:latin typeface="Arial"/>
              </a:rPr>
              <a:t>.</a:t>
            </a:r>
          </a:p>
        </p:txBody>
      </p:sp>
      <p:pic>
        <p:nvPicPr>
          <p:cNvPr id="4" name="Picture 3" descr="security_diagram_1783443759217.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PHẦN MỀM &amp; BIỂU ĐỒ LỚP</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Thiết kế hướng đối tượng (OOP)</a:t>
            </a:r>
            <a:r>
              <a:rPr sz="1300">
                <a:solidFill>
                  <a:srgbClr val="1E293B"/>
                </a:solidFill>
                <a:latin typeface="Arial"/>
              </a:rPr>
              <a:t>: Phân rã hệ thống thành các module nghiệp vụ tách biệt, độc lập và dễ bảo trì.</a:t>
            </a:r>
          </a:p>
          <a:p>
            <a:pPr>
              <a:lnSpc>
                <a:spcPct val="115000"/>
              </a:lnSpc>
              <a:spcAft>
                <a:spcPts val="1000"/>
              </a:spcAft>
            </a:pPr>
            <a:r>
              <a:rPr b="1" sz="1300">
                <a:solidFill>
                  <a:srgbClr val="990000"/>
                </a:solidFill>
                <a:latin typeface="Arial"/>
              </a:rPr>
              <a:t>Lớp điều phối trung tâm</a:t>
            </a:r>
            <a:r>
              <a:rPr sz="1300">
                <a:solidFill>
                  <a:srgbClr val="1E293B"/>
                </a:solidFill>
                <a:latin typeface="Arial"/>
              </a:rPr>
              <a:t>: `UnifiedDermatologyPipeline` đóng vai trò Controller quản lý luồng dữ liệu chẩn đoán.</a:t>
            </a:r>
          </a:p>
          <a:p>
            <a:pPr>
              <a:lnSpc>
                <a:spcPct val="115000"/>
              </a:lnSpc>
              <a:spcAft>
                <a:spcPts val="1000"/>
              </a:spcAft>
            </a:pPr>
            <a:r>
              <a:rPr b="1" sz="1300">
                <a:solidFill>
                  <a:srgbClr val="990000"/>
                </a:solidFill>
                <a:latin typeface="Arial"/>
              </a:rPr>
              <a:t>Các lớp dịch vụ</a:t>
            </a:r>
            <a:r>
              <a:rPr sz="1300">
                <a:solidFill>
                  <a:srgbClr val="1E293B"/>
                </a:solidFill>
                <a:latin typeface="Arial"/>
              </a:rPr>
              <a:t>: `SafetyGate` (kiểm tra chất lượng), `InteractiveSAM` (phân đoạn), `MultimodalBayesianFusion` (late fusion), và `EHRManager` (mã hóa &amp; lưu trữ).</a:t>
            </a:r>
          </a:p>
        </p:txBody>
      </p:sp>
      <p:pic>
        <p:nvPicPr>
          <p:cNvPr id="4" name="Picture 3" descr="software_class_diagram_1783445215248.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KỊCH BẢN THỬ NGHIỆM &amp; KẾT QUẢ</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Triển khai &amp; Kiểm thử</a:t>
            </a:r>
            <a:r>
              <a:rPr sz="1300">
                <a:solidFill>
                  <a:srgbClr val="1E293B"/>
                </a:solidFill>
                <a:latin typeface="Arial"/>
              </a:rPr>
              <a:t>: Đánh giá độ chính xác chẩn đoán toàn luồng đạt </a:t>
            </a:r>
            <a:r>
              <a:rPr b="1" sz="1300">
                <a:solidFill>
                  <a:srgbClr val="990000"/>
                </a:solidFill>
                <a:latin typeface="Arial"/>
              </a:rPr>
              <a:t>95.01%</a:t>
            </a:r>
            <a:r>
              <a:rPr sz="1300">
                <a:solidFill>
                  <a:srgbClr val="1E293B"/>
                </a:solidFill>
                <a:latin typeface="Arial"/>
              </a:rPr>
              <a:t>, độ trễ suy luận trung bình </a:t>
            </a:r>
            <a:r>
              <a:rPr b="1" sz="1300">
                <a:solidFill>
                  <a:srgbClr val="990000"/>
                </a:solidFill>
                <a:latin typeface="Arial"/>
              </a:rPr>
              <a:t>232.27 ms</a:t>
            </a:r>
            <a:r>
              <a:rPr sz="1300">
                <a:solidFill>
                  <a:srgbClr val="1E293B"/>
                </a:solidFill>
                <a:latin typeface="Arial"/>
              </a:rPr>
              <a:t> đầu cuối.</a:t>
            </a:r>
          </a:p>
          <a:p>
            <a:pPr>
              <a:lnSpc>
                <a:spcPct val="115000"/>
              </a:lnSpc>
              <a:spcAft>
                <a:spcPts val="1000"/>
              </a:spcAft>
            </a:pPr>
            <a:r>
              <a:rPr b="1" sz="1300">
                <a:solidFill>
                  <a:srgbClr val="990000"/>
                </a:solidFill>
                <a:latin typeface="Arial"/>
              </a:rPr>
              <a:t>Kịch bản y khoa đặc thù</a:t>
            </a:r>
            <a:r>
              <a:rPr sz="1300">
                <a:solidFill>
                  <a:srgbClr val="1E293B"/>
                </a:solidFill>
                <a:latin typeface="Arial"/>
              </a:rPr>
              <a:t>: Kiểm thử thành công kịch bản ảnh phơi sáng kém, ảnh chứa nhiễu, và bác sĩ vẽ tay mồi bị lỗi.</a:t>
            </a:r>
          </a:p>
          <a:p>
            <a:pPr>
              <a:lnSpc>
                <a:spcPct val="115000"/>
              </a:lnSpc>
              <a:spcAft>
                <a:spcPts val="1000"/>
              </a:spcAft>
            </a:pPr>
            <a:r>
              <a:rPr b="1" sz="1300">
                <a:solidFill>
                  <a:srgbClr val="990000"/>
                </a:solidFill>
                <a:latin typeface="Arial"/>
              </a:rPr>
              <a:t>Ablation Study</a:t>
            </a:r>
            <a:r>
              <a:rPr sz="1300">
                <a:solidFill>
                  <a:srgbClr val="1E293B"/>
                </a:solidFill>
                <a:latin typeface="Arial"/>
              </a:rPr>
              <a:t>: Việc trích xuất vùng tổn thương cắt ROI bằng mặt nạ giúp tăng độ chính xác phân loại thêm </a:t>
            </a:r>
            <a:r>
              <a:rPr b="1" sz="1300">
                <a:solidFill>
                  <a:srgbClr val="990000"/>
                </a:solidFill>
                <a:latin typeface="Arial"/>
              </a:rPr>
              <a:t>7%</a:t>
            </a:r>
            <a:r>
              <a:rPr sz="1300">
                <a:solidFill>
                  <a:srgbClr val="1E293B"/>
                </a:solidFill>
                <a:latin typeface="Arial"/>
              </a:rPr>
              <a:t> so với ảnh thô.</a:t>
            </a:r>
          </a:p>
        </p:txBody>
      </p:sp>
      <p:pic>
        <p:nvPicPr>
          <p:cNvPr id="4" name="Picture 3" descr="inference_breakdown.png"/>
          <p:cNvPicPr>
            <a:picLocks noChangeAspect="1"/>
          </p:cNvPicPr>
          <p:nvPr/>
        </p:nvPicPr>
        <p:blipFill>
          <a:blip r:embed="rId2"/>
          <a:stretch>
            <a:fillRect/>
          </a:stretch>
        </p:blipFill>
        <p:spPr>
          <a:xfrm>
            <a:off x="4937760" y="1188720"/>
            <a:ext cx="3657600" cy="2377440"/>
          </a:xfrm>
          <a:prstGeom prst="rect">
            <a:avLst/>
          </a:prstGeom>
        </p:spPr>
      </p:pic>
      <p:pic>
        <p:nvPicPr>
          <p:cNvPr id="5" name="Picture 4" descr="confusion_matrix.png"/>
          <p:cNvPicPr>
            <a:picLocks noChangeAspect="1"/>
          </p:cNvPicPr>
          <p:nvPr/>
        </p:nvPicPr>
        <p:blipFill>
          <a:blip r:embed="rId3"/>
          <a:stretch>
            <a:fillRect/>
          </a:stretch>
        </p:blipFill>
        <p:spPr>
          <a:xfrm>
            <a:off x="4937760" y="3749039"/>
            <a:ext cx="3657600" cy="23774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KẾT LUẬN &amp; ĐỐNG GÓP XÃ HỘI</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Bình đẳng hóa y tế cơ sở</a:t>
            </a:r>
            <a:r>
              <a:rPr sz="1300">
                <a:solidFill>
                  <a:srgbClr val="1E293B"/>
                </a:solidFill>
                <a:latin typeface="Arial"/>
              </a:rPr>
              <a:t>: Cho phép các trạm y tế tuyến trạm/huyện tầm soát sớm ung thư da với chi phí tối thiểu, mang công nghệ chất lượng cao đến vùng sâu vùng xa.</a:t>
            </a:r>
          </a:p>
          <a:p>
            <a:pPr>
              <a:lnSpc>
                <a:spcPct val="115000"/>
              </a:lnSpc>
              <a:spcAft>
                <a:spcPts val="1000"/>
              </a:spcAft>
            </a:pPr>
            <a:r>
              <a:rPr b="1" sz="1300">
                <a:solidFill>
                  <a:srgbClr val="990000"/>
                </a:solidFill>
                <a:latin typeface="Arial"/>
              </a:rPr>
              <a:t>Hỗ trợ tự đào tạo bác sĩ</a:t>
            </a:r>
            <a:r>
              <a:rPr sz="1300">
                <a:solidFill>
                  <a:srgbClr val="1E293B"/>
                </a:solidFill>
                <a:latin typeface="Arial"/>
              </a:rPr>
              <a:t>: Trợ lý VQA RAG y văn Bộ Y tế hoạt động như cố vấn y khoa 24/7 trực quan cho bác sĩ đa khoa.</a:t>
            </a:r>
          </a:p>
          <a:p>
            <a:pPr>
              <a:lnSpc>
                <a:spcPct val="115000"/>
              </a:lnSpc>
              <a:spcAft>
                <a:spcPts val="1000"/>
              </a:spcAft>
            </a:pPr>
            <a:r>
              <a:rPr b="1" sz="1300">
                <a:solidFill>
                  <a:srgbClr val="990000"/>
                </a:solidFill>
                <a:latin typeface="Arial"/>
              </a:rPr>
              <a:t>Kết luận</a:t>
            </a:r>
            <a:r>
              <a:rPr sz="1300">
                <a:solidFill>
                  <a:srgbClr val="1E293B"/>
                </a:solidFill>
                <a:latin typeface="Arial"/>
              </a:rPr>
              <a:t>: Xây dựng thành công hệ thống hỗ trợ chẩn đoán CDSS da liễu đa phương thức hoàn chỉnh, hoạt động offline ổn định, bảo mật cao và tối ưu tốc độ phản hồi lâm sàng.</a:t>
            </a:r>
          </a:p>
        </p:txBody>
      </p:sp>
      <p:pic>
        <p:nvPicPr>
          <p:cNvPr id="4" name="Picture 3" descr="social_impact_infographic_1783445227550.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2021-05-28T04:32:29Z</dcterms:created>
  <dc:creator>Phong TT &amp; QTTH</dc:creator>
</cp:coreProperties>
</file>