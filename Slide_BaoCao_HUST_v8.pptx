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8" r:id="rId3"/>
    <p:sldId id="259" r:id="rId5"/>
    <p:sldId id="270" r:id="rId6"/>
    <p:sldId id="260" r:id="rId7"/>
    <p:sldId id="271" r:id="rId8"/>
    <p:sldId id="273" r:id="rId9"/>
    <p:sldId id="272" r:id="rId10"/>
    <p:sldId id="274" r:id="rId11"/>
    <p:sldId id="276" r:id="rId12"/>
    <p:sldId id="277" r:id="rId13"/>
    <p:sldId id="278" r:id="rId14"/>
    <p:sldId id="279" r:id="rId15"/>
    <p:sldId id="280" r:id="rId16"/>
    <p:sldId id="281" r:id="rId17"/>
    <p:sldId id="282" r:id="rId18"/>
    <p:sldId id="283" r:id="rId19"/>
    <p:sldId id="284" r:id="rId20"/>
    <p:sldId id="268" r:id="rId30"/>
  </p:sldIdLst>
  <p:sldSz cx="9144000" cy="6858000"/>
  <p:notesSz cx="6858000" cy="9144000"/>
  <p:embeddedFontLst>
    <p:embeddedFont>
      <p:font typeface="Lato" panose="020F0502020204030203"/>
      <p:regular r:id="rId34"/>
    </p:embeddedFont>
    <p:embeddedFont>
      <p:font typeface="Calibri" panose="020F0502020204030204"/>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C"/>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ableStyles" Target="tableStyles.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Kính chào quý Thầy Cô trong Hội đồng chấm đồ án tốt nghiệp. Em tên là Nguyễn Thị Hương Giang, sinh viên khoa Toán - Tin. Hôm nay, em xin phép trình bày báo cáo đồ án tốt nghiệp đại học của mình với đề tài: 'Nghiên cứu và xây dựng hệ thống phân tích đa phương thức hỗ trợ chẩn đoán bệnh da liễu tích hợp hỏi đáp trực quan y tế'.</a:t>
            </a:r>
          </a:p>
        </p:txBody>
      </p:sp>
      <p:sp>
        <p:nvSpPr>
          <p:cNvPr id="90" name="Google Shape;90;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Đồ án được thực hiện dưới sự hướng dẫn khoa học của TS. Ngô Quốc Hoàn. Nội dung báo cáo hôm nay tập trung chủ yếu vào các công việc thực tế em đã triển khai nghiên cứu, phát triển ứng dụng và kết quả thử nghiệm nổi bật nhằm giải quyết các bài toán lâm sàng.</a:t>
            </a: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Nội dung trình bày của em gồm 5 phần lớn: Phần 1 - Đặt vấn đề &amp; Mục tiêu đề tài. Phần 2 - Phân tích &amp; Thiết kế hệ thống với các sơ đồ ca sử dụng của Bác sĩ và kiến trúc song song. Phần 3 - Thuật toán &amp; Giải thuật nâng cấp là đóng góp nghiên cứu cốt lõi của đồ án. Phần 4 - Thiết kế CSDL &amp; cơ chế bảo mật thông tin EHR. Phần 5 - Kết quả thực nghiệm định lượng và kết luận.</a:t>
            </a: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Sau đây, em xin phép bắt đầu trình bày Phần đầu tiên của báo cáo: Đặt vấn đề và Mục tiêu nghiên cứu của đề tài đồ án tốt nghiệp.</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Bệnh lý ung thư da đang gia tăng nhanh chóng, việc tầm soát sớm quyết định trên 95% tỷ lệ sống sót. Tuy nhiên y tế tuyến cơ sở đang gặp khoảng cách rất lớn khi thiếu thiết bị soi và chuyên gia sâu. Các giải pháp AI cũ hầu hết là hộp đen, đơn phương thức và có nguy cơ rò rỉ dữ liệu qua Cloud API công cộng.</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Đối tượng nghiên cứu là 7 lớp bệnh da liễu phổ biến từ bộ dữ liệu HAM10000 bao gồm cả ảnh chụp RGB thường, tệp DICOM và demographics dịch tễ. Mục tiêu đề tài là xây dựng hệ thống CDSS toàn diện: chẩn đoán chính xác đa phương thức, biện giải hình học ABCD, trợ lý VQA offline hỗ trợ bác sĩ cơ sở và quản lý bệnh án EHR bảo mật.</a:t>
            </a: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Đây là sơ đồ kiến trúc tổng quan hệ thống. Nhánh phân đoạn ảnh và nhánh phân loại chạy song song độc lập để đảm bảo khách quan lâm sàng. Ảnh đầu vào phải đi qua Safety Gate kiểm tra chất lượng (độ mờ Laplacian, độ phơi sáng). Xác suất vision được hợp nhất Bayes với demographics dịch tễ, kết hợp VQA RAG.</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Về phân tích chức năng, hệ thống được thiết kế tinh gọn xoay quanh quy trình nghiệp vụ của Bác sĩ lâm sàng. Bác sĩ thực hiện cấu hình cổng Safety Gate, tải ảnh chẩn đoán, tương tác hiệu chỉnh phân đoạn tổn thương, đo đạc chỉ số ABCD y văn, tinh chỉnh trọng số Bayes, hỏi đáp VQA y văn, quản lý bệnh án điện tử EHR và xuất báo cáo PDF.</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Em sử dụng DeepLabV3+ làm bộ phân đoạn tự động. Để nâng cao tính tương tác, em tích hợp GrabCut cải tiến khởi tạo bằng mặt nạ mồi click chuột của bác sĩ. Đặc biệt, em thiết kế cơ chế dự phòng OTSU nghịch đảo y khoa để tự động fallback khi mô hình deep learning gặp ảnh lỗi hoặc mờ, đảm bảo luồng đo ABCD luôn chạy ổn định.</a:t>
            </a: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Từ mặt nạ phân đoạn, hệ thống tính toán định lượng các chỉ số hình học ABCD: độ bất đối xứng tâm (Asymmetry), biên bờ không đều (Border Complexity), độ lệch màu sắc (Color Std-dev) và đường kính vật lý thực tế (Diameter) quy đổi từ PixelSpacing của tệp DICOM. Các chỉ số này giúp tăng tính biện giải lâm sàng (XAI).</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Nhánh phân loại sử dụng EfficientNet-B1 nhúng khối chú ý kép CBAM. Xác suất vision được fusion muộn Bayes với dữ liệu demographics. Đặc biệt, em thiết kế thanh trượt lambda trên UI để bác sĩ chủ động hạ trọng số dịch tễ HAM10000 của người da trắng nhằm triệt tiêu thiên lệch chủng tộc địa lý khi khám cho người Việt.</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Trợ lý VQA offline hỗ trợ chạy mô hình DistilGPT-2 LoRA cục bộ hoặc kết nối Ollama chạy LLM Qwen 3B/7B. Tài liệu y văn của Bộ Y tế được lưu trong ChromaDB RAG để tiêm ngữ cảnh chuẩn vào prompt, triệt tiêu ảo giác LLM. Hệ thống cũng tích hợp Medication Guardrails lọc chặn các câu trả lời kê đơn thuốc bừa bãi.</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Hệ thống CSDL EHR thiết kế dạng NoSQL phân cấp trên Cloud Firestore gồm các collection users, patients và records. Mỗi record lưu trữ toàn bộ ảnh gốc, mask, biểu đồ nhiệt Grad-CAM, kết quả ABCD và nhật ký hỏi đáp VQA. Hệ thống hỗ trợ vẽ biểu đồ timeline để bác sĩ theo dõi trực quan xu hướng tiến triển tổn thương da.</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Bảo mật y tế được đặt lên hàng đầu. Tên và CCCD được băm SHA-256 làm Document ID và mã hóa đối xứng XOR + Base64 trước khi đồng bộ lên Cloud Firestore để tuân thủ HIPAA. Luồng upload ảnh được song song hóa bằng ThreadPoolExecutor, giúp giảm thời gian khóa giao diện Streamlit từ 5 giây xuống chỉ còn 1.5 giây.</a:t>
            </a: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ảnh gốc.</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chạy ảnh gốc.</a:t>
            </a:r>
            <a:endParaRPr>
              <a:sym typeface="+mn-ea"/>
            </a:endParaRP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a:sym typeface="+mn-ea"/>
              </a:rP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113" name="Google Shape;113;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0" name="Google Shape;120;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 name="Google Shape;128;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5" name="Google Shape;135;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2" name="Google Shape;142;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p1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0" name="Google Shape;150;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7" name="Google Shape;157;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Em xin chân thành cảm ơn quý Thầy Cô trong Hội đồng đã lắng nghe bài trình bày đồ án tốt nghiệp của em. Em rất mong nhận được những ý kiến đóng góp, nhận xét và câu hỏi của các Thầy Cô để hoàn thiện đề tài hơn nữa. Em xin phép sẵn sàng trả lời các câu hỏi chất vấn từ phía Thầy Cô.</a:t>
            </a:r>
          </a:p>
        </p:txBody>
      </p:sp>
      <p:sp>
        <p:nvSpPr>
          <p:cNvPr id="165" name="Google Shape;165;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stretch>
            <a:fillRect/>
          </a:stretch>
        </a:blipFill>
        <a:effectLst/>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800"/>
              <a:buFont typeface="Lato" panose="020F0502020204030203"/>
              <a:buNone/>
              <a:defRPr sz="4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blipFill>
          <a:blip r:embed="rId2"/>
          <a:stretch>
            <a:fillRect/>
          </a:stretch>
        </a:blipFill>
        <a:effectLst/>
      </p:bgPr>
    </p:bg>
    <p:spTree>
      <p:nvGrpSpPr>
        <p:cNvPr id="13" name="Shape 13"/>
        <p:cNvGrpSpPr/>
        <p:nvPr/>
      </p:nvGrpSpPr>
      <p:grpSpPr>
        <a:xfrm>
          <a:off x="0" y="0"/>
          <a:ext cx="0" cy="0"/>
          <a:chOff x="0" y="0"/>
          <a:chExt cx="0" cy="0"/>
        </a:xfrm>
      </p:grpSpPr>
      <p:sp>
        <p:nvSpPr>
          <p:cNvPr id="14" name="Google Shape;14;p17"/>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 name="Google Shape;15;p17"/>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6" name="Google Shape;16;p17"/>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bg>
      <p:bgPr>
        <a:blipFill>
          <a:blip r:embed="rId2"/>
          <a:stretch>
            <a:fillRect/>
          </a:stretch>
        </a:blipFill>
        <a:effectLst/>
      </p:bgPr>
    </p:bg>
    <p:spTree>
      <p:nvGrpSpPr>
        <p:cNvPr id="17" name="Shape 17"/>
        <p:cNvGrpSpPr/>
        <p:nvPr/>
      </p:nvGrpSpPr>
      <p:grpSpPr>
        <a:xfrm>
          <a:off x="0" y="0"/>
          <a:ext cx="0" cy="0"/>
          <a:chOff x="0" y="0"/>
          <a:chExt cx="0" cy="0"/>
        </a:xfrm>
      </p:grpSpPr>
      <p:sp>
        <p:nvSpPr>
          <p:cNvPr id="18" name="Google Shape;18;p18"/>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9" name="Google Shape;19;p18"/>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0" name="Google Shape;20;p18"/>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21" name="Google Shape;21;p18"/>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bg>
      <p:bgPr>
        <a:blipFill>
          <a:blip r:embed="rId2"/>
          <a:stretch>
            <a:fillRect/>
          </a:stretch>
        </a:blipFill>
        <a:effectLst/>
      </p:bgPr>
    </p:bg>
    <p:spTree>
      <p:nvGrpSpPr>
        <p:cNvPr id="23" name="Shape 23"/>
        <p:cNvGrpSpPr/>
        <p:nvPr/>
      </p:nvGrpSpPr>
      <p:grpSpPr>
        <a:xfrm>
          <a:off x="0" y="0"/>
          <a:ext cx="0" cy="0"/>
          <a:chOff x="0" y="0"/>
          <a:chExt cx="0" cy="0"/>
        </a:xfrm>
      </p:grpSpPr>
      <p:sp>
        <p:nvSpPr>
          <p:cNvPr id="24" name="Google Shape;24;p19"/>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5" name="Google Shape;25;p19"/>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6" name="Google Shape;26;p19"/>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27" name="Google Shape;27;p19"/>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9" name="Google Shape;29;p19"/>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bg>
      <p:bgPr>
        <a:blipFill>
          <a:blip r:embed="rId2"/>
          <a:stretch>
            <a:fillRect/>
          </a:stretch>
        </a:blipFill>
        <a:effectLst/>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3" name="Google Shape;33;p20"/>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4" name="Google Shape;34;p20"/>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5" name="Google Shape;35;p20"/>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bg>
      <p:bgPr>
        <a:blipFill>
          <a:blip r:embed="rId2"/>
          <a:stretch>
            <a:fillRect/>
          </a:stretch>
        </a:blipFill>
        <a:effectLst/>
      </p:bgPr>
    </p:bg>
    <p:spTree>
      <p:nvGrpSpPr>
        <p:cNvPr id="36" name="Shape 36"/>
        <p:cNvGrpSpPr/>
        <p:nvPr/>
      </p:nvGrpSpPr>
      <p:grpSpPr>
        <a:xfrm>
          <a:off x="0" y="0"/>
          <a:ext cx="0" cy="0"/>
          <a:chOff x="0" y="0"/>
          <a:chExt cx="0" cy="0"/>
        </a:xfrm>
      </p:grpSpPr>
      <p:sp>
        <p:nvSpPr>
          <p:cNvPr id="37" name="Google Shape;37;p21"/>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8" name="Google Shape;38;p21"/>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9" name="Google Shape;39;p21"/>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40" name="Google Shape;40;p21"/>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type="chart" idx="2"/>
          </p:nvPr>
        </p:nvSpPr>
        <p:spPr>
          <a:xfrm>
            <a:off x="338736" y="1406525"/>
            <a:ext cx="5757264" cy="46704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 name="Google Shape;42;p21"/>
          <p:cNvSpPr/>
          <p:nvPr>
            <p:ph type="tbl" idx="3"/>
          </p:nvPr>
        </p:nvSpPr>
        <p:spPr>
          <a:xfrm>
            <a:off x="6210300" y="1392239"/>
            <a:ext cx="5592763" cy="46847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bg>
      <p:bgPr>
        <a:blipFill>
          <a:blip r:embed="rId2"/>
          <a:stretch>
            <a:fillRect/>
          </a:stretch>
        </a:blipFill>
        <a:effectLst/>
      </p:bgPr>
    </p:bg>
    <p:spTree>
      <p:nvGrpSpPr>
        <p:cNvPr id="43" name="Shape 43"/>
        <p:cNvGrpSpPr/>
        <p:nvPr/>
      </p:nvGrpSpPr>
      <p:grpSpPr>
        <a:xfrm>
          <a:off x="0" y="0"/>
          <a:ext cx="0" cy="0"/>
          <a:chOff x="0" y="0"/>
          <a:chExt cx="0" cy="0"/>
        </a:xfrm>
      </p:grpSpPr>
      <p:sp>
        <p:nvSpPr>
          <p:cNvPr id="44" name="Google Shape;44;p22"/>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5" name="Google Shape;45;p22"/>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6" name="Google Shape;46;p22"/>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47" name="Google Shape;47;p22"/>
          <p:cNvSpPr txBox="1"/>
          <p:nvPr>
            <p:ph type="body" idx="1"/>
          </p:nvPr>
        </p:nvSpPr>
        <p:spPr>
          <a:xfrm>
            <a:off x="4558372" y="1248325"/>
            <a:ext cx="7391400" cy="520541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2800"/>
              <a:buFont typeface="Lato" panose="020F0502020204030203"/>
              <a:buNone/>
              <a:defRPr sz="2800" b="1" i="0" u="none" strike="noStrike" cap="none">
                <a:solidFill>
                  <a:schemeClr val="dk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stretch>
            <a:fillRect/>
          </a:stretch>
        </a:blipFill>
        <a:effectLst/>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2" name="Google Shape;52;p23"/>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3" name="Google Shape;53;p23"/>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4" name="Google Shape;54;p23"/>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wo Content">
  <p:cSld name="1_Two Content">
    <p:bg>
      <p:bgPr>
        <a:blipFill>
          <a:blip r:embed="rId2"/>
          <a:stretch>
            <a:fillRect/>
          </a:stretch>
        </a:blipFill>
        <a:effectLst/>
      </p:bgPr>
    </p:bg>
    <p:spTree>
      <p:nvGrpSpPr>
        <p:cNvPr id="55" name="Shape 55"/>
        <p:cNvGrpSpPr/>
        <p:nvPr/>
      </p:nvGrpSpPr>
      <p:grpSpPr>
        <a:xfrm>
          <a:off x="0" y="0"/>
          <a:ext cx="0" cy="0"/>
          <a:chOff x="0" y="0"/>
          <a:chExt cx="0" cy="0"/>
        </a:xfrm>
      </p:grpSpPr>
      <p:sp>
        <p:nvSpPr>
          <p:cNvPr id="56" name="Google Shape;56;p24"/>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7" name="Google Shape;57;p24"/>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8" name="Google Shape;58;p2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59" name="Google Shape;59;p2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1" name="Google Shape;61;p24"/>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stretch>
            <a:fillRect/>
          </a:stretch>
        </a:blipFill>
        <a:effectLst/>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5" name="Google Shape;65;p25"/>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6" name="Google Shape;66;p25"/>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7" name="Google Shape;67;p2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stretch>
            <a:fillRect/>
          </a:stretch>
        </a:blipFill>
        <a:effectLst/>
      </p:bgPr>
    </p:bg>
    <p:spTree>
      <p:nvGrpSpPr>
        <p:cNvPr id="68" name="Shape 68"/>
        <p:cNvGrpSpPr/>
        <p:nvPr/>
      </p:nvGrpSpPr>
      <p:grpSpPr>
        <a:xfrm>
          <a:off x="0" y="0"/>
          <a:ext cx="0" cy="0"/>
          <a:chOff x="0" y="0"/>
          <a:chExt cx="0" cy="0"/>
        </a:xfrm>
      </p:grpSpPr>
      <p:sp>
        <p:nvSpPr>
          <p:cNvPr id="69" name="Google Shape;69;p26"/>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0" name="Google Shape;70;p26"/>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1" name="Google Shape;71;p26"/>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72" name="Google Shape;72;p26"/>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4" name="Google Shape;74;p26"/>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blipFill>
          <a:blip r:embed="rId2"/>
          <a:stretch>
            <a:fillRect/>
          </a:stretch>
        </a:blipFill>
        <a:effectLst/>
      </p:bgPr>
    </p:bg>
    <p:spTree>
      <p:nvGrpSpPr>
        <p:cNvPr id="75" name="Shape 75"/>
        <p:cNvGrpSpPr/>
        <p:nvPr/>
      </p:nvGrpSpPr>
      <p:grpSpPr>
        <a:xfrm>
          <a:off x="0" y="0"/>
          <a:ext cx="0" cy="0"/>
          <a:chOff x="0" y="0"/>
          <a:chExt cx="0" cy="0"/>
        </a:xfrm>
      </p:grpSpPr>
      <p:sp>
        <p:nvSpPr>
          <p:cNvPr id="76" name="Google Shape;76;p27"/>
          <p:cNvSpPr txBox="1"/>
          <p:nvPr>
            <p:ph type="dt" idx="10"/>
          </p:nvPr>
        </p:nvSpPr>
        <p:spPr>
          <a:xfrm>
            <a:off x="838200" y="6492875"/>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7" name="Google Shape;77;p27"/>
          <p:cNvSpPr txBox="1"/>
          <p:nvPr>
            <p:ph type="ftr" idx="11"/>
          </p:nvPr>
        </p:nvSpPr>
        <p:spPr>
          <a:xfrm>
            <a:off x="4038600" y="6492875"/>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8" name="Google Shape;78;p27"/>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image" Target="../media/image12.png"/><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slideLayout" Target="../slideLayouts/slideLayout4.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tags" Target="../tags/tag14.xml"/><Relationship Id="rId5" Type="http://schemas.openxmlformats.org/officeDocument/2006/relationships/tags" Target="../tags/tag15.xml"/><Relationship Id="rId6" Type="http://schemas.openxmlformats.org/officeDocument/2006/relationships/tags" Target="../tags/tag16.xml"/><Relationship Id="rId7" Type="http://schemas.openxmlformats.org/officeDocument/2006/relationships/tags" Target="../tags/tag17.xml"/><Relationship Id="rId8" Type="http://schemas.openxmlformats.org/officeDocument/2006/relationships/tags" Target="../tags/tag18.xml"/><Relationship Id="rId9" Type="http://schemas.openxmlformats.org/officeDocument/2006/relationships/tags" Target="../tags/tag19.xml"/><Relationship Id="rId10" Type="http://schemas.openxmlformats.org/officeDocument/2006/relationships/tags" Target="../tags/tag20.xml"/><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5.xml"/><Relationship Id="rId3" Type="http://schemas.openxmlformats.org/officeDocument/2006/relationships/notesSlide" Target="../notesSlides/notesSlide5.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 Id="rId10" Type="http://schemas.openxmlformats.org/officeDocument/2006/relationships/tags" Target="../tags/tag30.xml"/><Relationship Id="rId11" Type="http://schemas.openxmlformats.org/officeDocument/2006/relationships/slideLayout" Target="../slideLayouts/slideLayout4.xml"/><Relationship Id="rId12" Type="http://schemas.openxmlformats.org/officeDocument/2006/relationships/notesSlide" Target="../notesSlides/notesSlide6.xml"/><Relationship Id="rId1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tags" Target="../tags/tag32.xml"/><Relationship Id="rId3" Type="http://schemas.openxmlformats.org/officeDocument/2006/relationships/tags" Target="../tags/tag33.xml"/><Relationship Id="rId4" Type="http://schemas.openxmlformats.org/officeDocument/2006/relationships/tags" Target="../tags/tag34.xml"/><Relationship Id="rId5" Type="http://schemas.openxmlformats.org/officeDocument/2006/relationships/tags" Target="../tags/tag35.xml"/><Relationship Id="rId6" Type="http://schemas.openxmlformats.org/officeDocument/2006/relationships/tags" Target="../tags/tag36.xml"/><Relationship Id="rId7" Type="http://schemas.openxmlformats.org/officeDocument/2006/relationships/tags" Target="../tags/tag37.xml"/><Relationship Id="rId8" Type="http://schemas.openxmlformats.org/officeDocument/2006/relationships/tags" Target="../tags/tag38.xml"/><Relationship Id="rId9" Type="http://schemas.openxmlformats.org/officeDocument/2006/relationships/tags" Target="../tags/tag39.xml"/><Relationship Id="rId10" Type="http://schemas.openxmlformats.org/officeDocument/2006/relationships/tags" Target="../tags/tag40.xml"/><Relationship Id="rId11" Type="http://schemas.openxmlformats.org/officeDocument/2006/relationships/slideLayout" Target="../slideLayouts/slideLayout4.xml"/><Relationship Id="rId12" Type="http://schemas.openxmlformats.org/officeDocument/2006/relationships/notesSlide" Target="../notesSlides/notesSlide9.xml"/><Relationship Id="rId1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5.xml"/><Relationship Id="rId3" Type="http://schemas.openxmlformats.org/officeDocument/2006/relationships/notesSlide" Target="../notesSlides/notesSlide10.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5.xml"/><Relationship Id="rId3" Type="http://schemas.openxmlformats.org/officeDocument/2006/relationships/notesSlide" Target="../notesSlides/notesSlide1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tags" Target="../tags/tag42.xml"/><Relationship Id="rId3" Type="http://schemas.openxmlformats.org/officeDocument/2006/relationships/tags" Target="../tags/tag43.xml"/><Relationship Id="rId4" Type="http://schemas.openxmlformats.org/officeDocument/2006/relationships/tags" Target="../tags/tag44.xml"/><Relationship Id="rId5" Type="http://schemas.openxmlformats.org/officeDocument/2006/relationships/tags" Target="../tags/tag45.xml"/><Relationship Id="rId6" Type="http://schemas.openxmlformats.org/officeDocument/2006/relationships/tags" Target="../tags/tag46.xml"/><Relationship Id="rId7" Type="http://schemas.openxmlformats.org/officeDocument/2006/relationships/tags" Target="../tags/tag47.xml"/><Relationship Id="rId8" Type="http://schemas.openxmlformats.org/officeDocument/2006/relationships/tags" Target="../tags/tag48.xml"/><Relationship Id="rId9" Type="http://schemas.openxmlformats.org/officeDocument/2006/relationships/tags" Target="../tags/tag49.xml"/><Relationship Id="rId10" Type="http://schemas.openxmlformats.org/officeDocument/2006/relationships/tags" Target="../tags/tag50.xml"/><Relationship Id="rId11" Type="http://schemas.openxmlformats.org/officeDocument/2006/relationships/slideLayout" Target="../slideLayouts/slideLayout4.xml"/><Relationship Id="rId12" Type="http://schemas.openxmlformats.org/officeDocument/2006/relationships/notesSlide" Target="../notesSlides/notesSlide14.xml"/><Relationship Id="rId13"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 Id="rId7" Type="http://schemas.openxmlformats.org/officeDocument/2006/relationships/tags" Target="../tags/tag57.xml"/><Relationship Id="rId8" Type="http://schemas.openxmlformats.org/officeDocument/2006/relationships/tags" Target="../tags/tag58.xml"/><Relationship Id="rId9" Type="http://schemas.openxmlformats.org/officeDocument/2006/relationships/tags" Target="../tags/tag59.xml"/><Relationship Id="rId10" Type="http://schemas.openxmlformats.org/officeDocument/2006/relationships/tags" Target="../tags/tag60.xml"/><Relationship Id="rId11" Type="http://schemas.openxmlformats.org/officeDocument/2006/relationships/slideLayout" Target="../slideLayouts/slideLayout4.xml"/><Relationship Id="rId12" Type="http://schemas.openxmlformats.org/officeDocument/2006/relationships/notesSlide" Target="../notesSlides/notesSlide17.xml"/><Relationship Id="rId13"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1"/>
          <a:srcRect/>
          <a:stretch>
            <a:fillRect/>
          </a:stretch>
        </p:blipFill>
        <p:spPr>
          <a:xfrm>
            <a:off x="386634" y="331380"/>
            <a:ext cx="3174367" cy="952975"/>
          </a:xfrm>
          <a:prstGeom prst="rect">
            <a:avLst/>
          </a:prstGeom>
          <a:noFill/>
          <a:ln>
            <a:noFill/>
          </a:ln>
        </p:spPr>
      </p:pic>
      <p:sp>
        <p:nvSpPr>
          <p:cNvPr id="93" name="TextBox 92"/>
          <p:cNvSpPr txBox="1"/>
          <p:nvPr/>
        </p:nvSpPr>
        <p:spPr>
          <a:xfrm>
            <a:off x="548640" y="2011680"/>
            <a:ext cx="8046720" cy="2286000"/>
          </a:xfrm>
          <a:prstGeom prst="rect">
            <a:avLst/>
          </a:prstGeom>
          <a:noFill/>
        </p:spPr>
        <p:txBody>
          <a:bodyPr wrap="square">
            <a:spAutoFit/>
          </a:bodyPr>
          <a:lstStyle/>
          <a:p>
            <a:pPr>
              <a:defRPr sz="2400" b="1">
                <a:solidFill>
                  <a:srgbClr val="FFFFFF"/>
                </a:solidFill>
                <a:latin typeface="Arial"/>
              </a:defRPr>
            </a:pPr>
            <a:r>
              <a:t>NGHIÊN CỨU VÀ XÂY DỰNG HỆ THỐNG PHÂN TÍCH ĐA PHƯƠNG THỨC</a:t>
            </a:r>
          </a:p>
          <a:p>
            <a:pPr>
              <a:spcBef>
                <a:spcPts val="1500"/>
              </a:spcBef>
              <a:defRPr sz="1600" b="1">
                <a:solidFill>
                  <a:srgbClr val="E2E8F0"/>
                </a:solidFill>
                <a:latin typeface="Arial"/>
              </a:defRPr>
            </a:pPr>
            <a:r>
              <a:t>HỖ TRỢ CHẨN ĐOÁN BỆNH DA LIỄU TÍCH HỢP HỎI ĐÁP TRỰC QUAN Y TẾ</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01</a:t>
            </a:r>
            <a:endParaRPr sz="2400"/>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02</a:t>
            </a:r>
            <a:endParaRPr sz="2400"/>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03</a:t>
            </a:r>
            <a:endParaRPr sz="2400"/>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04</a:t>
            </a:r>
            <a:endParaRPr sz="2400"/>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05</a:t>
            </a:r>
            <a:endParaRPr sz="2400"/>
          </a:p>
        </p:txBody>
      </p:sp>
      <p:sp>
        <p:nvSpPr>
          <p:cNvPr id="116" name="TextBox 115"/>
          <p:cNvSpPr txBox="1"/>
          <p:nvPr/>
        </p:nvSpPr>
        <p:spPr>
          <a:xfrm>
            <a:off x="548640" y="365760"/>
            <a:ext cx="8046720" cy="731520"/>
          </a:xfrm>
          <a:prstGeom prst="rect">
            <a:avLst/>
          </a:prstGeom>
          <a:noFill/>
        </p:spPr>
        <p:txBody>
          <a:bodyPr wrap="none">
            <a:spAutoFit/>
          </a:bodyPr>
          <a:lstStyle/>
          <a:p>
            <a:pPr>
              <a:defRPr sz="1300" b="1">
                <a:solidFill>
                  <a:srgbClr val="FFFFFF"/>
                </a:solidFill>
                <a:latin typeface="Arial"/>
              </a:defRPr>
            </a:pPr>
            <a:r>
              <a:t>ĐẠI HỌC BÁCH KHOA HÀ NỘI</a:t>
            </a:r>
            <a:br/>
            <a:r>
              <a:t>Khoa Toán - Tin</a:t>
            </a:r>
          </a:p>
        </p:txBody>
      </p:sp>
      <p:sp>
        <p:nvSpPr>
          <p:cNvPr id="117" name="TextBox 116"/>
          <p:cNvSpPr txBox="1"/>
          <p:nvPr/>
        </p:nvSpPr>
        <p:spPr>
          <a:xfrm>
            <a:off x="548640" y="1463040"/>
            <a:ext cx="8046720" cy="1828800"/>
          </a:xfrm>
          <a:prstGeom prst="rect">
            <a:avLst/>
          </a:prstGeom>
          <a:noFill/>
        </p:spPr>
        <p:txBody>
          <a:bodyPr wrap="square">
            <a:spAutoFit/>
          </a:bodyPr>
          <a:lstStyle/>
          <a:p>
            <a:pPr>
              <a:defRPr sz="1800" b="1">
                <a:solidFill>
                  <a:srgbClr val="FFFFFF"/>
                </a:solidFill>
                <a:latin typeface="Arial"/>
              </a:defRPr>
            </a:pPr>
            <a:r>
              <a:t>ĐỒ ÁN TỐT NGHIỆP</a:t>
            </a:r>
            <a:br/>
            <a:br/>
            <a:r>
              <a:t>Nghiên cứu và xây dựng hệ thống phân tích đa phương thức hỗ trợ chẩn đoán bệnh da liễu tích hợp hỏi đáp trực quan y tế</a:t>
            </a:r>
          </a:p>
        </p:txBody>
      </p:sp>
      <p:sp>
        <p:nvSpPr>
          <p:cNvPr id="118" name="TextBox 117"/>
          <p:cNvSpPr txBox="1"/>
          <p:nvPr/>
        </p:nvSpPr>
        <p:spPr>
          <a:xfrm>
            <a:off x="548640" y="3840480"/>
            <a:ext cx="8046720" cy="2286000"/>
          </a:xfrm>
          <a:prstGeom prst="rect">
            <a:avLst/>
          </a:prstGeom>
          <a:noFill/>
        </p:spPr>
        <p:txBody>
          <a:bodyPr wrap="square">
            <a:spAutoFit/>
          </a:bodyPr>
          <a:lstStyle/>
          <a:p>
            <a:pPr>
              <a:spcAft>
                <a:spcPts val="800"/>
              </a:spcAft>
              <a:defRPr sz="1300" b="1">
                <a:solidFill>
                  <a:srgbClr val="E2E8F0"/>
                </a:solidFill>
                <a:latin typeface="Arial"/>
              </a:defRPr>
            </a:pPr>
            <a:r>
              <a:t>Sinh viên thực hiện: Nguyễn Thị Hương Giang - MSSV: 20227106</a:t>
            </a:r>
          </a:p>
          <a:p>
            <a:pPr>
              <a:spcAft>
                <a:spcPts val="800"/>
              </a:spcAft>
              <a:defRPr sz="1300" b="1">
                <a:solidFill>
                  <a:srgbClr val="E2E8F0"/>
                </a:solidFill>
                <a:latin typeface="Arial"/>
              </a:defRPr>
            </a:pPr>
            <a:r>
              <a:t>Chuyên ngành: Toán - Tin</a:t>
            </a:r>
          </a:p>
          <a:p>
            <a:pPr>
              <a:spcAft>
                <a:spcPts val="800"/>
              </a:spcAft>
              <a:defRPr sz="1300" b="1">
                <a:solidFill>
                  <a:srgbClr val="E2E8F0"/>
                </a:solidFill>
                <a:latin typeface="Arial"/>
              </a:defRPr>
            </a:pPr>
            <a:r>
              <a:t>Giảng viên hướng dẫn: TS. Ngô Quốc Hoàn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01</a:t>
            </a:r>
            <a:endParaRPr sz="2400"/>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02</a:t>
            </a:r>
            <a:endParaRPr sz="2400">
              <a:solidFill>
                <a:srgbClr val="FFFFFF">
                  <a:alpha val="20000"/>
                </a:srgbClr>
              </a:solidFill>
            </a:endParaRPr>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03</a:t>
            </a:r>
            <a:endParaRPr sz="2400">
              <a:solidFill>
                <a:srgbClr val="FFFFFF">
                  <a:alpha val="20000"/>
                </a:srgbClr>
              </a:solidFill>
            </a:endParaRPr>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04</a:t>
            </a:r>
            <a:endParaRPr sz="2400">
              <a:solidFill>
                <a:srgbClr val="FFFFFF">
                  <a:alpha val="20000"/>
                </a:srgbClr>
              </a:solidFill>
            </a:endParaRPr>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05</a:t>
            </a:r>
            <a:endParaRPr sz="2400">
              <a:solidFill>
                <a:srgbClr val="FFFFFF">
                  <a:alpha val="20000"/>
                </a:srgbClr>
              </a:solidFill>
            </a:endParaRPr>
          </a:p>
        </p:txBody>
      </p:sp>
      <p:sp>
        <p:nvSpPr>
          <p:cNvPr id="116" name="TextBox 11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NỘI DUNG TRÌNH BÀY</a:t>
            </a:r>
          </a:p>
        </p:txBody>
      </p:sp>
      <p:sp>
        <p:nvSpPr>
          <p:cNvPr id="117" name="Oval 116"/>
          <p:cNvSpPr/>
          <p:nvPr/>
        </p:nvSpPr>
        <p:spPr>
          <a:xfrm>
            <a:off x="731520" y="2011680"/>
            <a:ext cx="2926080" cy="2926080"/>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990000"/>
                </a:solidFill>
                <a:latin typeface="Arial"/>
              </a:defRPr>
            </a:pPr>
            <a:r>
              <a:t>MỤC</a:t>
            </a:r>
            <a:br/>
            <a:r>
              <a:t>LỤC</a:t>
            </a:r>
          </a:p>
        </p:txBody>
      </p:sp>
      <p:sp>
        <p:nvSpPr>
          <p:cNvPr id="118" name="Oval 117"/>
          <p:cNvSpPr/>
          <p:nvPr/>
        </p:nvSpPr>
        <p:spPr>
          <a:xfrm>
            <a:off x="274320" y="137160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926080"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4114800" y="118872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01</a:t>
            </a:r>
          </a:p>
        </p:txBody>
      </p:sp>
      <p:sp>
        <p:nvSpPr>
          <p:cNvPr id="124" name="TextBox 123"/>
          <p:cNvSpPr txBox="1"/>
          <p:nvPr/>
        </p:nvSpPr>
        <p:spPr>
          <a:xfrm>
            <a:off x="4846320" y="1051560"/>
            <a:ext cx="3840480" cy="777240"/>
          </a:xfrm>
          <a:prstGeom prst="rect">
            <a:avLst/>
          </a:prstGeom>
          <a:noFill/>
        </p:spPr>
        <p:txBody>
          <a:bodyPr wrap="square">
            <a:spAutoFit/>
          </a:bodyPr>
          <a:lstStyle/>
          <a:p>
            <a:pPr>
              <a:defRPr sz="1300" b="1">
                <a:solidFill>
                  <a:srgbClr val="990000"/>
                </a:solidFill>
                <a:latin typeface="Arial"/>
              </a:defRPr>
            </a:pPr>
            <a:r>
              <a:t>Phần 1: Đặt Vấn Đề &amp; Mục Tiêu</a:t>
            </a:r>
          </a:p>
          <a:p>
            <a:pPr>
              <a:spcBef>
                <a:spcPts val="300"/>
              </a:spcBef>
              <a:defRPr sz="1000">
                <a:solidFill>
                  <a:srgbClr val="1E293B"/>
                </a:solidFill>
                <a:latin typeface="Arial"/>
              </a:defRPr>
            </a:pPr>
            <a:r>
              <a:t>Đặt vấn đề &amp; Tính cấp thiết; Đối tượng &amp; Mục tiêu đề tài</a:t>
            </a:r>
          </a:p>
        </p:txBody>
      </p:sp>
      <p:sp>
        <p:nvSpPr>
          <p:cNvPr id="125" name="Rectangle 124"/>
          <p:cNvSpPr/>
          <p:nvPr/>
        </p:nvSpPr>
        <p:spPr>
          <a:xfrm>
            <a:off x="4846320" y="192024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4114800" y="224028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02</a:t>
            </a:r>
          </a:p>
        </p:txBody>
      </p:sp>
      <p:sp>
        <p:nvSpPr>
          <p:cNvPr id="127" name="TextBox 126"/>
          <p:cNvSpPr txBox="1"/>
          <p:nvPr/>
        </p:nvSpPr>
        <p:spPr>
          <a:xfrm>
            <a:off x="4846320" y="2103120"/>
            <a:ext cx="3840480" cy="777240"/>
          </a:xfrm>
          <a:prstGeom prst="rect">
            <a:avLst/>
          </a:prstGeom>
          <a:noFill/>
        </p:spPr>
        <p:txBody>
          <a:bodyPr wrap="square">
            <a:spAutoFit/>
          </a:bodyPr>
          <a:lstStyle/>
          <a:p>
            <a:pPr>
              <a:defRPr sz="1300" b="1">
                <a:solidFill>
                  <a:srgbClr val="990000"/>
                </a:solidFill>
                <a:latin typeface="Arial"/>
              </a:defRPr>
            </a:pPr>
            <a:r>
              <a:t>Phần 2: Phân Tích &amp; Thiết Kế Hệ Thống</a:t>
            </a:r>
          </a:p>
          <a:p>
            <a:pPr>
              <a:spcBef>
                <a:spcPts val="300"/>
              </a:spcBef>
              <a:defRPr sz="1000">
                <a:solidFill>
                  <a:srgbClr val="1E293B"/>
                </a:solidFill>
                <a:latin typeface="Arial"/>
              </a:defRPr>
            </a:pPr>
            <a:r>
              <a:t>Kiến trúc tổng quan hệ thống; Phân tích ca sử dụng (Use Case) của Bác sĩ</a:t>
            </a:r>
          </a:p>
        </p:txBody>
      </p:sp>
      <p:sp>
        <p:nvSpPr>
          <p:cNvPr id="128" name="Rectangle 127"/>
          <p:cNvSpPr/>
          <p:nvPr/>
        </p:nvSpPr>
        <p:spPr>
          <a:xfrm>
            <a:off x="4846320" y="297180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114800" y="3291839"/>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03</a:t>
            </a:r>
          </a:p>
        </p:txBody>
      </p:sp>
      <p:sp>
        <p:nvSpPr>
          <p:cNvPr id="130" name="TextBox 129"/>
          <p:cNvSpPr txBox="1"/>
          <p:nvPr/>
        </p:nvSpPr>
        <p:spPr>
          <a:xfrm>
            <a:off x="4846320" y="3154679"/>
            <a:ext cx="3840480" cy="777240"/>
          </a:xfrm>
          <a:prstGeom prst="rect">
            <a:avLst/>
          </a:prstGeom>
          <a:noFill/>
        </p:spPr>
        <p:txBody>
          <a:bodyPr wrap="square">
            <a:spAutoFit/>
          </a:bodyPr>
          <a:lstStyle/>
          <a:p>
            <a:pPr>
              <a:defRPr sz="1300" b="1">
                <a:solidFill>
                  <a:srgbClr val="990000"/>
                </a:solidFill>
                <a:latin typeface="Arial"/>
              </a:defRPr>
            </a:pPr>
            <a:r>
              <a:t>Phần 3: Thuật Toán &amp; Giải Thuật Nâng Cấp</a:t>
            </a:r>
          </a:p>
          <a:p>
            <a:pPr>
              <a:spcBef>
                <a:spcPts val="300"/>
              </a:spcBef>
              <a:defRPr sz="1000">
                <a:solidFill>
                  <a:srgbClr val="1E293B"/>
                </a:solidFill>
                <a:latin typeface="Arial"/>
              </a:defRPr>
            </a:pPr>
            <a:r>
              <a:t>Phân đoạn (SAM/GrabCut/OTSU); Chỉ số ABCD; Phân loại &amp; Fusion; Trợ lý VQA</a:t>
            </a:r>
          </a:p>
        </p:txBody>
      </p:sp>
      <p:sp>
        <p:nvSpPr>
          <p:cNvPr id="131" name="Rectangle 130"/>
          <p:cNvSpPr/>
          <p:nvPr/>
        </p:nvSpPr>
        <p:spPr>
          <a:xfrm>
            <a:off x="4846320" y="4023359"/>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4114800" y="434340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04</a:t>
            </a:r>
          </a:p>
        </p:txBody>
      </p:sp>
      <p:sp>
        <p:nvSpPr>
          <p:cNvPr id="133" name="TextBox 132"/>
          <p:cNvSpPr txBox="1"/>
          <p:nvPr/>
        </p:nvSpPr>
        <p:spPr>
          <a:xfrm>
            <a:off x="4846320" y="4206240"/>
            <a:ext cx="3840480" cy="777240"/>
          </a:xfrm>
          <a:prstGeom prst="rect">
            <a:avLst/>
          </a:prstGeom>
          <a:noFill/>
        </p:spPr>
        <p:txBody>
          <a:bodyPr wrap="square">
            <a:spAutoFit/>
          </a:bodyPr>
          <a:lstStyle/>
          <a:p>
            <a:pPr>
              <a:defRPr sz="1300" b="1">
                <a:solidFill>
                  <a:srgbClr val="990000"/>
                </a:solidFill>
                <a:latin typeface="Arial"/>
              </a:defRPr>
            </a:pPr>
            <a:r>
              <a:t>Phần 4: Thiết Kế CSDL &amp; Bảo Mật EHR</a:t>
            </a:r>
          </a:p>
          <a:p>
            <a:pPr>
              <a:spcBef>
                <a:spcPts val="300"/>
              </a:spcBef>
              <a:defRPr sz="1000">
                <a:solidFill>
                  <a:srgbClr val="1E293B"/>
                </a:solidFill>
                <a:latin typeface="Arial"/>
              </a:defRPr>
            </a:pPr>
            <a:r>
              <a:t>Thiết kế cơ sở dữ liệu EHR bệnh án; Bảo mật EHR &amp; Tối ưu hóa lưu trữ song song</a:t>
            </a:r>
          </a:p>
        </p:txBody>
      </p:sp>
      <p:sp>
        <p:nvSpPr>
          <p:cNvPr id="134" name="Rectangle 133"/>
          <p:cNvSpPr/>
          <p:nvPr/>
        </p:nvSpPr>
        <p:spPr>
          <a:xfrm>
            <a:off x="4846320" y="507492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4114800" y="5394959"/>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05</a:t>
            </a:r>
          </a:p>
        </p:txBody>
      </p:sp>
      <p:sp>
        <p:nvSpPr>
          <p:cNvPr id="136" name="TextBox 135"/>
          <p:cNvSpPr txBox="1"/>
          <p:nvPr/>
        </p:nvSpPr>
        <p:spPr>
          <a:xfrm>
            <a:off x="4846320" y="5257799"/>
            <a:ext cx="3840480" cy="777240"/>
          </a:xfrm>
          <a:prstGeom prst="rect">
            <a:avLst/>
          </a:prstGeom>
          <a:noFill/>
        </p:spPr>
        <p:txBody>
          <a:bodyPr wrap="square">
            <a:spAutoFit/>
          </a:bodyPr>
          <a:lstStyle/>
          <a:p>
            <a:pPr>
              <a:defRPr sz="1300" b="1">
                <a:solidFill>
                  <a:srgbClr val="990000"/>
                </a:solidFill>
                <a:latin typeface="Arial"/>
              </a:defRPr>
            </a:pPr>
            <a:r>
              <a:t>Phần 5: Kết Quả Thử Nghiệm &amp; Kết Luận</a:t>
            </a:r>
          </a:p>
          <a:p>
            <a:pPr>
              <a:spcBef>
                <a:spcPts val="300"/>
              </a:spcBef>
              <a:defRPr sz="1000">
                <a:solidFill>
                  <a:srgbClr val="1E293B"/>
                </a:solidFill>
                <a:latin typeface="Arial"/>
              </a:defRPr>
            </a:pPr>
            <a:r>
              <a:t>Kiến trúc phần mềm (UML); Kịch bản thử nghiệm &amp; Kết quả; Đóng góp xã hội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5221605" cy="353060"/>
          </a:xfrm>
          <a:prstGeom prst="rect">
            <a:avLst/>
          </a:prstGeom>
          <a:noFill/>
        </p:spPr>
        <p:txBody>
          <a:bodyPr wrap="square" rtlCol="0" anchor="ctr" anchorCtr="0">
            <a:noAutofit/>
          </a:bodyPr>
          <a:p>
            <a:pPr>
              <a:defRPr sz="2200" b="1">
                <a:solidFill>
                  <a:srgbClr val="990000"/>
                </a:solidFill>
                <a:latin typeface="Arial" panose="020B0604020202020204"/>
              </a:defRPr>
            </a:pPr>
            <a:r>
              <a:rPr sz="2400">
                <a:sym typeface="+mn-ea"/>
              </a:rPr>
              <a:t>ĐẶT VẤN ĐỀ &amp; TÍNH CẤP THIẾT</a:t>
            </a:r>
            <a:endParaRPr lang="en-GB" altLang="en-US" sz="2400">
              <a:sym typeface="+mn-ea"/>
            </a:endParaRPr>
          </a:p>
        </p:txBody>
      </p:sp>
      <p:sp>
        <p:nvSpPr>
          <p:cNvPr id="107" name="TextBox 106"/>
          <p:cNvSpPr txBox="1"/>
          <p:nvPr/>
        </p:nvSpPr>
        <p:spPr>
          <a:xfrm>
            <a:off x="548640" y="365760"/>
            <a:ext cx="8046720" cy="731520"/>
          </a:xfrm>
          <a:prstGeom prst="rect">
            <a:avLst/>
          </a:prstGeom>
          <a:noFill/>
        </p:spPr>
        <p:txBody>
          <a:bodyPr wrap="none">
            <a:spAutoFit/>
          </a:bodyPr>
          <a:lstStyle/>
          <a:p>
            <a:pPr>
              <a:defRPr sz="2200" b="1">
                <a:solidFill>
                  <a:srgbClr val="FFFFFF"/>
                </a:solidFill>
                <a:latin typeface="Arial"/>
              </a:defRPr>
            </a:pPr>
            <a:r>
              <a:t>PHẦN 1: ĐẶT VẤN ĐỀ &amp; MỤC TIÊU ĐỀ TÀI</a:t>
            </a:r>
          </a:p>
        </p:txBody>
      </p:sp>
      <p:sp>
        <p:nvSpPr>
          <p:cNvPr id="108" name="TextBox 107"/>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FFFFFF"/>
                </a:solidFill>
                <a:latin typeface="Arial"/>
              </a:rPr>
              <a:t>Nội dung chính</a:t>
            </a:r>
            <a:r>
              <a:rPr sz="1300">
                <a:solidFill>
                  <a:srgbClr val="FFFFFF"/>
                </a:solidFill>
                <a:latin typeface="Arial"/>
              </a:rPr>
              <a:t>:</a:t>
            </a:r>
          </a:p>
          <a:p>
            <a:pPr>
              <a:lnSpc>
                <a:spcPct val="115000"/>
              </a:lnSpc>
              <a:spcAft>
                <a:spcPts val="1000"/>
              </a:spcAft>
              <a:defRPr sz="1300">
                <a:solidFill>
                  <a:srgbClr val="FFFFFF"/>
                </a:solidFill>
                <a:latin typeface="Arial"/>
              </a:defRPr>
            </a:pPr>
            <a:r>
              <a:t>- Đặt vấn đề và tính cấp thiết trong chẩn đoán sớm bệnh lý da liễu.</a:t>
            </a:r>
          </a:p>
          <a:p>
            <a:pPr>
              <a:lnSpc>
                <a:spcPct val="115000"/>
              </a:lnSpc>
              <a:spcAft>
                <a:spcPts val="1000"/>
              </a:spcAft>
              <a:defRPr sz="1300">
                <a:solidFill>
                  <a:srgbClr val="FFFFFF"/>
                </a:solidFill>
                <a:latin typeface="Arial"/>
              </a:defRPr>
            </a:pPr>
            <a:r>
              <a:t>- Khảo sát hạn chế của các giải pháp AI hộp đen hiện tại.</a:t>
            </a:r>
          </a:p>
          <a:p>
            <a:pPr>
              <a:lnSpc>
                <a:spcPct val="115000"/>
              </a:lnSpc>
              <a:spcAft>
                <a:spcPts val="1000"/>
              </a:spcAft>
              <a:defRPr sz="1300">
                <a:solidFill>
                  <a:srgbClr val="FFFFFF"/>
                </a:solidFill>
                <a:latin typeface="Arial"/>
              </a:defRPr>
            </a:pPr>
            <a:r>
              <a:t>- Phát biểu đối tượng, phạm vi nghiên cứu và mục tiêu đề tài đề xuất.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5221605" cy="353060"/>
          </a:xfrm>
          <a:prstGeom prst="rect">
            <a:avLst/>
          </a:prstGeom>
          <a:noFill/>
        </p:spPr>
        <p:txBody>
          <a:bodyPr wrap="square" rtlCol="0" anchor="ctr" anchorCtr="0">
            <a:noAutofit/>
          </a:bodyPr>
          <a:p>
            <a:pPr>
              <a:defRPr sz="2200" b="1">
                <a:solidFill>
                  <a:srgbClr val="990000"/>
                </a:solidFill>
                <a:latin typeface="Arial" panose="020B0604020202020204"/>
              </a:defRPr>
            </a:pPr>
            <a:r>
              <a:rPr sz="2400">
                <a:sym typeface="+mn-ea"/>
              </a:rPr>
              <a:t>ĐỐI TƯỢNG &amp; MỤC TIÊU ĐỀ TÀI</a:t>
            </a:r>
            <a:endParaRPr lang="en-GB" altLang="en-US" sz="2400">
              <a:sym typeface="+mn-ea"/>
            </a:endParaRPr>
          </a:p>
        </p:txBody>
      </p:sp>
      <p:pic>
        <p:nvPicPr>
          <p:cNvPr id="120" name="Picture 119" descr="ham10000_classes_1783445179379.png"/>
          <p:cNvPicPr>
            <a:picLocks noChangeAspect="1"/>
          </p:cNvPicPr>
          <p:nvPr/>
        </p:nvPicPr>
        <p:blipFill>
          <a:blip r:embed="rId1"/>
          <a:stretch>
            <a:fillRect/>
          </a:stretch>
        </p:blipFill>
        <p:spPr>
          <a:xfrm>
            <a:off x="8578215" y="1243330"/>
            <a:ext cx="3613785" cy="3613785"/>
          </a:xfrm>
          <a:prstGeom prst="rect">
            <a:avLst/>
          </a:prstGeom>
        </p:spPr>
      </p:pic>
      <p:sp>
        <p:nvSpPr>
          <p:cNvPr id="121" name="TextBox 120"/>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ĐẶT VẤN ĐỀ &amp; TÍNH CẤP THIẾT</a:t>
            </a:r>
          </a:p>
        </p:txBody>
      </p:sp>
      <p:sp>
        <p:nvSpPr>
          <p:cNvPr id="122" name="TextBox 121"/>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Gánh nặng bệnh ác tính</a:t>
            </a:r>
            <a:r>
              <a:rPr sz="1300">
                <a:solidFill>
                  <a:srgbClr val="1E293B"/>
                </a:solidFill>
                <a:latin typeface="Arial"/>
              </a:rPr>
              <a:t>: Các bệnh ung thư hắc tố (Melanoma, BCC) tăng trưởng nhanh. Chẩn đoán và điều trị sớm quyết định trên </a:t>
            </a:r>
            <a:r>
              <a:rPr b="1" sz="1300">
                <a:solidFill>
                  <a:srgbClr val="990000"/>
                </a:solidFill>
                <a:latin typeface="Arial"/>
              </a:rPr>
              <a:t>95%</a:t>
            </a:r>
            <a:r>
              <a:rPr sz="1300">
                <a:solidFill>
                  <a:srgbClr val="1E293B"/>
                </a:solidFill>
                <a:latin typeface="Arial"/>
              </a:rPr>
              <a:t> tỷ lệ sống sót.</a:t>
            </a:r>
          </a:p>
          <a:p>
            <a:pPr>
              <a:lnSpc>
                <a:spcPct val="115000"/>
              </a:lnSpc>
              <a:spcAft>
                <a:spcPts val="1000"/>
              </a:spcAft>
            </a:pPr>
            <a:r>
              <a:rPr b="1" sz="1300">
                <a:solidFill>
                  <a:srgbClr val="990000"/>
                </a:solidFill>
                <a:latin typeface="Arial"/>
              </a:rPr>
              <a:t>Thực trạng tuyến cơ sở</a:t>
            </a:r>
            <a:r>
              <a:rPr sz="1300">
                <a:solidFill>
                  <a:srgbClr val="1E293B"/>
                </a:solidFill>
                <a:latin typeface="Arial"/>
              </a:rPr>
              <a:t>: Thiếu hụt nghiêm trọng bác sĩ chuyên khoa sâu và các thiết bị soi chuyên dụng ở tuyến huyện, xã.</a:t>
            </a:r>
          </a:p>
          <a:p>
            <a:pPr>
              <a:lnSpc>
                <a:spcPct val="115000"/>
              </a:lnSpc>
              <a:spcAft>
                <a:spcPts val="1000"/>
              </a:spcAft>
            </a:pPr>
            <a:r>
              <a:rPr b="1" sz="1300">
                <a:solidFill>
                  <a:srgbClr val="990000"/>
                </a:solidFill>
                <a:latin typeface="Arial"/>
              </a:rPr>
              <a:t>Giới hạn của mô hình AI cũ</a:t>
            </a:r>
            <a:r>
              <a:rPr sz="1300">
                <a:solidFill>
                  <a:srgbClr val="1E293B"/>
                </a:solidFill>
                <a:latin typeface="Arial"/>
              </a:rPr>
              <a:t>: Hầu hết là mô hình 'hộp đen' (Black-box) không có giải thích lâm sàng, hoạt động đơn phương thức và có nguy cơ rò rỉ dữ liệu qua Cloud API công cộng.</a:t>
            </a:r>
          </a:p>
        </p:txBody>
      </p:sp>
      <p:pic>
        <p:nvPicPr>
          <p:cNvPr id="123" name="Picture 122" descr="media__1783268147920.png"/>
          <p:cNvPicPr>
            <a:picLocks noChangeAspect="1"/>
          </p:cNvPicPr>
          <p:nvPr/>
        </p:nvPicPr>
        <p:blipFill>
          <a:blip r:embed="rId4"/>
          <a:stretch>
            <a:fillRect/>
          </a:stretch>
        </p:blipFill>
        <p:spPr>
          <a:xfrm>
            <a:off x="4937760" y="1188720"/>
            <a:ext cx="3657600" cy="1714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01</a:t>
            </a:r>
            <a:endParaRPr sz="2400">
              <a:solidFill>
                <a:srgbClr val="FFFFFF">
                  <a:alpha val="20000"/>
                </a:srgbClr>
              </a:solidFill>
            </a:endParaRPr>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02</a:t>
            </a:r>
            <a:endParaRPr sz="2400"/>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03</a:t>
            </a:r>
            <a:endParaRPr sz="2400">
              <a:solidFill>
                <a:srgbClr val="FFFFFF">
                  <a:alpha val="20000"/>
                </a:srgbClr>
              </a:solidFill>
            </a:endParaRPr>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04</a:t>
            </a:r>
            <a:endParaRPr sz="2400">
              <a:solidFill>
                <a:srgbClr val="FFFFFF">
                  <a:alpha val="20000"/>
                </a:srgbClr>
              </a:solidFill>
            </a:endParaRPr>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05</a:t>
            </a:r>
            <a:endParaRPr sz="2400">
              <a:solidFill>
                <a:srgbClr val="FFFFFF">
                  <a:alpha val="20000"/>
                </a:srgbClr>
              </a:solidFill>
            </a:endParaRPr>
          </a:p>
        </p:txBody>
      </p:sp>
      <p:sp>
        <p:nvSpPr>
          <p:cNvPr id="116" name="TextBox 11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ĐỐI TƯỢNG &amp; MỤC TIÊU ĐỀ TÀI</a:t>
            </a:r>
          </a:p>
        </p:txBody>
      </p:sp>
      <p:sp>
        <p:nvSpPr>
          <p:cNvPr id="117" name="TextBox 11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Đối tượng nghiên cứu</a:t>
            </a:r>
            <a:r>
              <a:rPr sz="1300">
                <a:solidFill>
                  <a:srgbClr val="1E293B"/>
                </a:solidFill>
                <a:latin typeface="Arial"/>
              </a:rPr>
              <a:t>: 7 lớp bệnh da liễu phổ biến (HAM10000: AKIEC, BCC, BKL, DF, MEL, NV, VASC). Dữ liệu ảnh da RGB thường/DICOM và demographics bệnh nhân.</a:t>
            </a:r>
          </a:p>
          <a:p>
            <a:pPr>
              <a:lnSpc>
                <a:spcPct val="115000"/>
              </a:lnSpc>
              <a:spcAft>
                <a:spcPts val="1000"/>
              </a:spcAft>
            </a:pPr>
            <a:r>
              <a:rPr b="1" sz="1300">
                <a:solidFill>
                  <a:srgbClr val="990000"/>
                </a:solidFill>
                <a:latin typeface="Arial"/>
              </a:rPr>
              <a:t>Đối tượng thụ hưởng</a:t>
            </a:r>
            <a:r>
              <a:rPr sz="1300">
                <a:solidFill>
                  <a:srgbClr val="1E293B"/>
                </a:solidFill>
                <a:latin typeface="Arial"/>
              </a:rPr>
              <a:t>: Bác sĩ đa khoa tại phòng khám, trạm y tế tuyến cơ sở.</a:t>
            </a:r>
          </a:p>
          <a:p>
            <a:pPr>
              <a:lnSpc>
                <a:spcPct val="115000"/>
              </a:lnSpc>
              <a:spcAft>
                <a:spcPts val="1000"/>
              </a:spcAft>
            </a:pPr>
            <a:r>
              <a:rPr b="1" sz="1300">
                <a:solidFill>
                  <a:srgbClr val="990000"/>
                </a:solidFill>
                <a:latin typeface="Arial"/>
              </a:rPr>
              <a:t>Mục tiêu đồ án</a:t>
            </a:r>
            <a:r>
              <a:rPr sz="1300">
                <a:solidFill>
                  <a:srgbClr val="1E293B"/>
                </a:solidFill>
                <a:latin typeface="Arial"/>
              </a:rPr>
              <a:t>: Xây dựng hệ thống CDSS đa phương thức toàn diện giúp chẩn đoán chính xác, biện giải minh bạch (ABCD, Grad-CAM), hỗ trợ offline (VQA Ollama) và quản lý EHR bảo mật.</a:t>
            </a:r>
          </a:p>
        </p:txBody>
      </p:sp>
      <p:pic>
        <p:nvPicPr>
          <p:cNvPr id="118" name="Picture 117" descr="image.jpeg"/>
          <p:cNvPicPr>
            <a:picLocks noChangeAspect="1"/>
          </p:cNvPicPr>
          <p:nvPr/>
        </p:nvPicPr>
        <p:blipFill>
          <a:blip r:embed="rId13"/>
          <a:stretch>
            <a:fillRect/>
          </a:stretch>
        </p:blipFill>
        <p:spPr>
          <a:xfrm>
            <a:off x="4937760" y="1188720"/>
            <a:ext cx="365760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6555105" cy="337185"/>
          </a:xfrm>
          <a:prstGeom prst="rect">
            <a:avLst/>
          </a:prstGeom>
          <a:noFill/>
        </p:spPr>
        <p:txBody>
          <a:bodyPr wrap="square" rtlCol="0" anchor="ctr" anchorCtr="0">
            <a:noAutofit/>
          </a:bodyPr>
          <a:p>
            <a:pPr>
              <a:defRPr sz="2200" b="1">
                <a:solidFill>
                  <a:srgbClr val="990000"/>
                </a:solidFill>
                <a:latin typeface="Arial" panose="020B0604020202020204"/>
              </a:defRPr>
            </a:pPr>
            <a:r>
              <a:rPr sz="2400">
                <a:sym typeface="+mn-ea"/>
              </a:rPr>
              <a:t>KIẾN TRÚC TỔNG QUAN HỆ THỐNG</a:t>
            </a:r>
            <a:endParaRPr lang="en-GB" altLang="en-US" sz="2400">
              <a:sym typeface="+mn-ea"/>
            </a:endParaRPr>
          </a:p>
        </p:txBody>
      </p:sp>
      <p:pic>
        <p:nvPicPr>
          <p:cNvPr id="128" name="Picture 127" descr="architecture_diagram_1783443735021.png"/>
          <p:cNvPicPr>
            <a:picLocks noChangeAspect="1"/>
          </p:cNvPicPr>
          <p:nvPr/>
        </p:nvPicPr>
        <p:blipFill>
          <a:blip r:embed="rId1"/>
          <a:stretch>
            <a:fillRect/>
          </a:stretch>
        </p:blipFill>
        <p:spPr>
          <a:xfrm>
            <a:off x="7752080" y="1340485"/>
            <a:ext cx="4479925" cy="4479925"/>
          </a:xfrm>
          <a:prstGeom prst="rect">
            <a:avLst/>
          </a:prstGeom>
        </p:spPr>
      </p:pic>
      <p:sp>
        <p:nvSpPr>
          <p:cNvPr id="129" name="TextBox 128"/>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TỔNG QUAN HỆ THỐNG</a:t>
            </a:r>
          </a:p>
        </p:txBody>
      </p:sp>
      <p:sp>
        <p:nvSpPr>
          <p:cNvPr id="130" name="TextBox 129"/>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luồng song song độc lập</a:t>
            </a:r>
            <a:r>
              <a:rPr sz="1300">
                <a:solidFill>
                  <a:srgbClr val="1E293B"/>
                </a:solidFill>
                <a:latin typeface="Arial"/>
              </a:rPr>
              <a:t>: Nhánh Phân đoạn ảnh (ABCD) và nhánh Phân loại (Vision Classifier) chạy độc lập song song để tránh gây nhiễu chéo dữ liệu lâm sàng.</a:t>
            </a:r>
          </a:p>
          <a:p>
            <a:pPr>
              <a:lnSpc>
                <a:spcPct val="115000"/>
              </a:lnSpc>
              <a:spcAft>
                <a:spcPts val="1000"/>
              </a:spcAft>
            </a:pPr>
            <a:r>
              <a:rPr b="1" sz="1300">
                <a:solidFill>
                  <a:srgbClr val="990000"/>
                </a:solidFill>
                <a:latin typeface="Arial"/>
              </a:rPr>
              <a:t>Bộ lọc Safety Gate</a:t>
            </a:r>
            <a:r>
              <a:rPr sz="1300">
                <a:solidFill>
                  <a:srgbClr val="1E293B"/>
                </a:solidFill>
                <a:latin typeface="Arial"/>
              </a:rPr>
              <a:t>: Tự động đánh giá chất lượng ảnh (độ mờ Laplacian, phơi sáng thích ứng chủng tộc Fitzpatrick) trước khi chạy.</a:t>
            </a:r>
          </a:p>
          <a:p>
            <a:pPr>
              <a:lnSpc>
                <a:spcPct val="115000"/>
              </a:lnSpc>
              <a:spcAft>
                <a:spcPts val="1000"/>
              </a:spcAft>
            </a:pPr>
            <a:r>
              <a:rPr b="1" sz="1300">
                <a:solidFill>
                  <a:srgbClr val="990000"/>
                </a:solidFill>
                <a:latin typeface="Arial"/>
              </a:rPr>
              <a:t>Hợp nhất Bayes &amp; VQA</a:t>
            </a:r>
            <a:r>
              <a:rPr sz="1300">
                <a:solidFill>
                  <a:srgbClr val="1E293B"/>
                </a:solidFill>
                <a:latin typeface="Arial"/>
              </a:rPr>
              <a:t>: Late Fusion Bayes kết hợp kết quả vision với demographics, đưa vào trợ lý đàm thoại VQA y văn RAG.</a:t>
            </a:r>
          </a:p>
        </p:txBody>
      </p:sp>
      <p:pic>
        <p:nvPicPr>
          <p:cNvPr id="131" name="Picture 130" descr="image.jpeg"/>
          <p:cNvPicPr>
            <a:picLocks noChangeAspect="1"/>
          </p:cNvPicPr>
          <p:nvPr/>
        </p:nvPicPr>
        <p:blipFill>
          <a:blip r:embed="rId1"/>
          <a:stretch>
            <a:fillRect/>
          </a:stretch>
        </p:blipFill>
        <p:spPr>
          <a:xfrm>
            <a:off x="4937760" y="1188720"/>
            <a:ext cx="36576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6555105" cy="337185"/>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PH</a:t>
            </a:r>
            <a:r>
              <a:rPr lang="" altLang="en-US" sz="2400">
                <a:sym typeface="+mn-ea"/>
              </a:rPr>
              <a:t>Â</a:t>
            </a:r>
            <a:r>
              <a:rPr lang="en-US" altLang="en-GB" sz="2400">
                <a:sym typeface="+mn-ea"/>
              </a:rPr>
              <a:t>N T</a:t>
            </a:r>
            <a:r>
              <a:rPr lang="" altLang="en-US" sz="2400">
                <a:sym typeface="+mn-ea"/>
              </a:rPr>
              <a:t>Í</a:t>
            </a:r>
            <a:r>
              <a:rPr lang="en-US" altLang="en-GB" sz="2400">
                <a:sym typeface="+mn-ea"/>
              </a:rPr>
              <a:t>CH CHỨC N</a:t>
            </a:r>
            <a:r>
              <a:rPr lang="" altLang="en-US" sz="2400">
                <a:sym typeface="+mn-ea"/>
              </a:rPr>
              <a:t>Ă</a:t>
            </a:r>
            <a:r>
              <a:rPr lang="en-US" altLang="en-GB" sz="2400">
                <a:sym typeface="+mn-ea"/>
              </a:rPr>
              <a:t>NG HỆ THỐNG</a:t>
            </a:r>
            <a:endParaRPr lang="en-US" altLang="en-GB" sz="2400">
              <a:sym typeface="+mn-ea"/>
            </a:endParaRPr>
          </a:p>
        </p:txBody>
      </p:sp>
      <p:pic>
        <p:nvPicPr>
          <p:cNvPr id="135" name="Picture 134" descr="use_case_diagram_1783443747688.png"/>
          <p:cNvPicPr>
            <a:picLocks noChangeAspect="1"/>
          </p:cNvPicPr>
          <p:nvPr/>
        </p:nvPicPr>
        <p:blipFill>
          <a:blip r:embed="rId1"/>
          <a:stretch>
            <a:fillRect/>
          </a:stretch>
        </p:blipFill>
        <p:spPr>
          <a:xfrm>
            <a:off x="8131175" y="1196340"/>
            <a:ext cx="4070985" cy="4070985"/>
          </a:xfrm>
          <a:prstGeom prst="rect">
            <a:avLst/>
          </a:prstGeom>
        </p:spPr>
      </p:pic>
      <p:sp>
        <p:nvSpPr>
          <p:cNvPr id="136" name="TextBox 13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TÍCH CHỨC NĂNG HỆ THỐNG</a:t>
            </a:r>
          </a:p>
        </p:txBody>
      </p:sp>
      <p:sp>
        <p:nvSpPr>
          <p:cNvPr id="137" name="TextBox 13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Giao diện đơn nhân (Single-user)</a:t>
            </a:r>
            <a:r>
              <a:rPr sz="1300">
                <a:solidFill>
                  <a:srgbClr val="1E293B"/>
                </a:solidFill>
                <a:latin typeface="Arial"/>
              </a:rPr>
              <a:t>: Hệ thống tối giản hóa quy trình sử dụng cho bác sĩ lâm sàng cơ sở, không yêu cầu đăng nhập phức tạp.</a:t>
            </a:r>
          </a:p>
          <a:p>
            <a:pPr>
              <a:lnSpc>
                <a:spcPct val="115000"/>
              </a:lnSpc>
              <a:spcAft>
                <a:spcPts val="1000"/>
              </a:spcAft>
            </a:pPr>
            <a:r>
              <a:rPr b="1" sz="1300">
                <a:solidFill>
                  <a:srgbClr val="990000"/>
                </a:solidFill>
                <a:latin typeface="Arial"/>
              </a:rPr>
              <a:t>Nghiệp vụ Chẩn đoán</a:t>
            </a:r>
            <a:r>
              <a:rPr sz="1300">
                <a:solidFill>
                  <a:srgbClr val="1E293B"/>
                </a:solidFill>
                <a:latin typeface="Arial"/>
              </a:rPr>
              <a:t>: Tải ảnh chụp/DICOM, cấu hình cổng Safety Gate, vẽ mồi phân đoạn tổn thương SAM, đo đạc ABCD và late fusion Bayes.</a:t>
            </a:r>
          </a:p>
          <a:p>
            <a:pPr>
              <a:lnSpc>
                <a:spcPct val="115000"/>
              </a:lnSpc>
              <a:spcAft>
                <a:spcPts val="1000"/>
              </a:spcAft>
            </a:pPr>
            <a:r>
              <a:rPr b="1" sz="1300">
                <a:solidFill>
                  <a:srgbClr val="990000"/>
                </a:solidFill>
                <a:latin typeface="Arial"/>
              </a:rPr>
              <a:t>Nghiệp vụ Tham vấn &amp; Quản lý</a:t>
            </a:r>
            <a:r>
              <a:rPr sz="1300">
                <a:solidFill>
                  <a:srgbClr val="1E293B"/>
                </a:solidFill>
                <a:latin typeface="Arial"/>
              </a:rPr>
              <a:t>: Hỏi đáp VQA y văn offline, đồng bộ hóa bệnh án EHR và trích xuất báo cáo PDF bệnh lý.</a:t>
            </a:r>
          </a:p>
        </p:txBody>
      </p:sp>
      <p:pic>
        <p:nvPicPr>
          <p:cNvPr id="138" name="Picture 137" descr="image.jpeg"/>
          <p:cNvPicPr>
            <a:picLocks noChangeAspect="1"/>
          </p:cNvPicPr>
          <p:nvPr/>
        </p:nvPicPr>
        <p:blipFill>
          <a:blip r:embed="rId1"/>
          <a:stretch>
            <a:fillRect/>
          </a:stretch>
        </p:blipFill>
        <p:spPr>
          <a:xfrm>
            <a:off x="4937760" y="1188720"/>
            <a:ext cx="3657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01</a:t>
            </a:r>
            <a:endParaRPr sz="2400">
              <a:solidFill>
                <a:srgbClr val="FFFFFF">
                  <a:alpha val="20000"/>
                </a:srgbClr>
              </a:solidFill>
            </a:endParaRPr>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02</a:t>
            </a:r>
            <a:endParaRPr sz="2400">
              <a:solidFill>
                <a:srgbClr val="FFFFFF">
                  <a:alpha val="20000"/>
                </a:srgbClr>
              </a:solidFill>
            </a:endParaRPr>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03</a:t>
            </a:r>
            <a:endParaRPr sz="2400"/>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04</a:t>
            </a:r>
            <a:endParaRPr sz="2400">
              <a:solidFill>
                <a:srgbClr val="FFFFFF">
                  <a:alpha val="20000"/>
                </a:srgbClr>
              </a:solidFill>
            </a:endParaRPr>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05</a:t>
            </a:r>
            <a:endParaRPr sz="2400">
              <a:solidFill>
                <a:srgbClr val="FFFFFF">
                  <a:alpha val="20000"/>
                </a:srgbClr>
              </a:solidFill>
            </a:endParaRPr>
          </a:p>
        </p:txBody>
      </p:sp>
      <p:sp>
        <p:nvSpPr>
          <p:cNvPr id="116" name="TextBox 11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GIẢI THUẬT PHÂN ĐOẠN TỔN THƯƠNG</a:t>
            </a:r>
          </a:p>
        </p:txBody>
      </p:sp>
      <p:sp>
        <p:nvSpPr>
          <p:cNvPr id="117" name="TextBox 11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đoạn tự động</a:t>
            </a:r>
            <a:r>
              <a:rPr sz="1300">
                <a:solidFill>
                  <a:srgbClr val="1E293B"/>
                </a:solidFill>
                <a:latin typeface="Arial"/>
              </a:rPr>
              <a:t>: Sử dụng mạng DeepLabV3+ (ResNet50) và Multi-scale TTA ({1.0, 0.75, 0.5}) tối ưu phân đoạn trên ảnh chụp di động.</a:t>
            </a:r>
          </a:p>
          <a:p>
            <a:pPr>
              <a:lnSpc>
                <a:spcPct val="115000"/>
              </a:lnSpc>
              <a:spcAft>
                <a:spcPts val="1000"/>
              </a:spcAft>
            </a:pPr>
            <a:r>
              <a:rPr b="1" sz="1300">
                <a:solidFill>
                  <a:srgbClr val="990000"/>
                </a:solidFill>
                <a:latin typeface="Arial"/>
              </a:rPr>
              <a:t>GrabCut tương tác</a:t>
            </a:r>
            <a:r>
              <a:rPr sz="1300">
                <a:solidFill>
                  <a:srgbClr val="1E293B"/>
                </a:solidFill>
                <a:latin typeface="Arial"/>
              </a:rPr>
              <a:t>: Tích hợp thuật toán GrabCut nâng cấp khởi tạo bằng mặt nạ mồi (`GC_INIT_WITH_MASK`) định vị chính xác vùng click chuột của bác sĩ.</a:t>
            </a:r>
          </a:p>
          <a:p>
            <a:pPr>
              <a:lnSpc>
                <a:spcPct val="115000"/>
              </a:lnSpc>
              <a:spcAft>
                <a:spcPts val="1000"/>
              </a:spcAft>
            </a:pPr>
            <a:r>
              <a:rPr b="1" sz="1300">
                <a:solidFill>
                  <a:srgbClr val="990000"/>
                </a:solidFill>
                <a:latin typeface="Arial"/>
              </a:rPr>
              <a:t>OTSU dự phòng y khoa</a:t>
            </a:r>
            <a:r>
              <a:rPr sz="1300">
                <a:solidFill>
                  <a:srgbClr val="1E293B"/>
                </a:solidFill>
                <a:latin typeface="Arial"/>
              </a:rPr>
              <a:t>: Tự động fallback về bộ lọc OTSU nghịch đảo (`cv2.THRESH_BINARY_INV`) nếu mô hình deep learning phân đoạn lỗi (mặt nạ rỗng), đảm bảo đo đạc chỉ số ABCD luôn ổn định.</a:t>
            </a:r>
          </a:p>
        </p:txBody>
      </p:sp>
      <p:pic>
        <p:nvPicPr>
          <p:cNvPr id="118" name="Picture 117" descr="image.png"/>
          <p:cNvPicPr>
            <a:picLocks noChangeAspect="1"/>
          </p:cNvPicPr>
          <p:nvPr/>
        </p:nvPicPr>
        <p:blipFill>
          <a:blip r:embed="rId13"/>
          <a:stretch>
            <a:fillRect/>
          </a:stretch>
        </p:blipFill>
        <p:spPr>
          <a:xfrm>
            <a:off x="4937760" y="1188720"/>
            <a:ext cx="3657600" cy="2351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6555105" cy="337185"/>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GIẢI THUẬT PH</a:t>
            </a:r>
            <a:r>
              <a:rPr lang="" altLang="en-US" sz="2400">
                <a:sym typeface="+mn-ea"/>
              </a:rPr>
              <a:t>Â</a:t>
            </a:r>
            <a:r>
              <a:rPr lang="en-US" altLang="en-GB" sz="2400">
                <a:sym typeface="+mn-ea"/>
              </a:rPr>
              <a:t>N </a:t>
            </a:r>
            <a:r>
              <a:rPr lang="" altLang="en-US" sz="2400">
                <a:sym typeface="+mn-ea"/>
              </a:rPr>
              <a:t>Đ</a:t>
            </a:r>
            <a:r>
              <a:rPr lang="en-US" altLang="en-GB" sz="2400">
                <a:sym typeface="+mn-ea"/>
              </a:rPr>
              <a:t>OẠN TỔN TH</a:t>
            </a:r>
            <a:r>
              <a:rPr lang="" altLang="en-US" sz="2400">
                <a:sym typeface="+mn-ea"/>
              </a:rPr>
              <a:t>ƯƠ</a:t>
            </a:r>
            <a:r>
              <a:rPr lang="en-US" altLang="en-GB" sz="2400">
                <a:sym typeface="+mn-ea"/>
              </a:rPr>
              <a:t>NG</a:t>
            </a:r>
            <a:endParaRPr lang="en-US" altLang="en-GB" sz="2400">
              <a:sym typeface="+mn-ea"/>
            </a:endParaRPr>
          </a:p>
        </p:txBody>
      </p:sp>
      <p:pic>
        <p:nvPicPr>
          <p:cNvPr id="142" name="Picture 141" descr="seg_comparison.png"/>
          <p:cNvPicPr>
            <a:picLocks noChangeAspect="1"/>
          </p:cNvPicPr>
          <p:nvPr/>
        </p:nvPicPr>
        <p:blipFill>
          <a:blip r:embed="rId1"/>
          <a:stretch>
            <a:fillRect/>
          </a:stretch>
        </p:blipFill>
        <p:spPr>
          <a:xfrm>
            <a:off x="5311775" y="1413510"/>
            <a:ext cx="6757670" cy="4344670"/>
          </a:xfrm>
          <a:prstGeom prst="rect">
            <a:avLst/>
          </a:prstGeom>
        </p:spPr>
      </p:pic>
      <p:sp>
        <p:nvSpPr>
          <p:cNvPr id="143" name="TextBox 14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ĐO ĐẠC CHỈ SỐ HÌNH HỌC LÂM SÀNG ABCD</a:t>
            </a:r>
          </a:p>
        </p:txBody>
      </p:sp>
      <p:sp>
        <p:nvSpPr>
          <p:cNvPr id="144" name="TextBox 143"/>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Asymmetry (Bất đối xứng)</a:t>
            </a:r>
            <a:r>
              <a:rPr sz="1300">
                <a:solidFill>
                  <a:srgbClr val="1E293B"/>
                </a:solidFill>
                <a:latin typeface="Arial"/>
              </a:rPr>
              <a:t>: Tính tỷ lệ bất đối xứng của mặt nạ tổn thương qua hai trục đối xứng trực quan X và Y.</a:t>
            </a:r>
          </a:p>
          <a:p>
            <a:pPr>
              <a:lnSpc>
                <a:spcPct val="115000"/>
              </a:lnSpc>
              <a:spcAft>
                <a:spcPts val="1000"/>
              </a:spcAft>
            </a:pPr>
            <a:r>
              <a:rPr b="1" sz="1300">
                <a:solidFill>
                  <a:srgbClr val="990000"/>
                </a:solidFill>
                <a:latin typeface="Arial"/>
              </a:rPr>
              <a:t>Border (Biên bờ)</a:t>
            </a:r>
            <a:r>
              <a:rPr sz="1300">
                <a:solidFill>
                  <a:srgbClr val="1E293B"/>
                </a:solidFill>
                <a:latin typeface="Arial"/>
              </a:rPr>
              <a:t>: Tính độ phức tạp bờ tổn thương dựa trên chu vi và diện tích mặt nạ, giúp bác sĩ phát hiện bờ không đều.</a:t>
            </a:r>
          </a:p>
          <a:p>
            <a:pPr>
              <a:lnSpc>
                <a:spcPct val="115000"/>
              </a:lnSpc>
              <a:spcAft>
                <a:spcPts val="1000"/>
              </a:spcAft>
            </a:pPr>
            <a:r>
              <a:rPr b="1" sz="1300">
                <a:solidFill>
                  <a:srgbClr val="990000"/>
                </a:solidFill>
                <a:latin typeface="Arial"/>
              </a:rPr>
              <a:t>Color (Màu sắc)</a:t>
            </a:r>
            <a:r>
              <a:rPr sz="1300">
                <a:solidFill>
                  <a:srgbClr val="1E293B"/>
                </a:solidFill>
                <a:latin typeface="Arial"/>
              </a:rPr>
              <a:t>: Đo độ lệch chuẩn màu sắc RGB trong vùng tổn thương.</a:t>
            </a:r>
          </a:p>
          <a:p>
            <a:pPr>
              <a:lnSpc>
                <a:spcPct val="115000"/>
              </a:lnSpc>
              <a:spcAft>
                <a:spcPts val="1000"/>
              </a:spcAft>
            </a:pPr>
            <a:r>
              <a:rPr b="1" sz="1300">
                <a:solidFill>
                  <a:srgbClr val="990000"/>
                </a:solidFill>
                <a:latin typeface="Arial"/>
              </a:rPr>
              <a:t>Diameter (Đường kính)</a:t>
            </a:r>
            <a:r>
              <a:rPr sz="1300">
                <a:solidFill>
                  <a:srgbClr val="1E293B"/>
                </a:solidFill>
                <a:latin typeface="Arial"/>
              </a:rPr>
              <a:t>: Siêu dữ liệu `PixelSpacing` từ tệp DICOM được trích xuất để quy đổi pixel sang kích thước thực tế ($mm$), đảm bảo tính chính xác lâm sàng.</a:t>
            </a:r>
          </a:p>
        </p:txBody>
      </p:sp>
      <p:pic>
        <p:nvPicPr>
          <p:cNvPr id="145" name="Picture 144" descr="media__1783331218262.png"/>
          <p:cNvPicPr>
            <a:picLocks noChangeAspect="1"/>
          </p:cNvPicPr>
          <p:nvPr/>
        </p:nvPicPr>
        <p:blipFill>
          <a:blip r:embed="rId4"/>
          <a:stretch>
            <a:fillRect/>
          </a:stretch>
        </p:blipFill>
        <p:spPr>
          <a:xfrm>
            <a:off x="4937760" y="1188720"/>
            <a:ext cx="3657600" cy="18680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 altLang="en-US" sz="2400">
                <a:sym typeface="+mn-ea"/>
              </a:rPr>
              <a:t>Đ</a:t>
            </a:r>
            <a:r>
              <a:rPr lang="en-US" altLang="en-GB" sz="2400">
                <a:sym typeface="+mn-ea"/>
              </a:rPr>
              <a:t>O </a:t>
            </a:r>
            <a:r>
              <a:rPr lang="" altLang="en-US" sz="2400">
                <a:sym typeface="+mn-ea"/>
              </a:rPr>
              <a:t>Đ</a:t>
            </a:r>
            <a:r>
              <a:rPr lang="en-US" altLang="en-GB" sz="2400">
                <a:sym typeface="+mn-ea"/>
              </a:rPr>
              <a:t>ẠC CHỈ SỐ H</a:t>
            </a:r>
            <a:r>
              <a:rPr lang="" altLang="en-US" sz="2400">
                <a:sym typeface="+mn-ea"/>
              </a:rPr>
              <a:t>Ì</a:t>
            </a:r>
            <a:r>
              <a:rPr lang="en-US" altLang="en-GB" sz="2400">
                <a:sym typeface="+mn-ea"/>
              </a:rPr>
              <a:t>NH HỌC L</a:t>
            </a:r>
            <a:r>
              <a:rPr lang="" altLang="en-US" sz="2400">
                <a:sym typeface="+mn-ea"/>
              </a:rPr>
              <a:t>Â</a:t>
            </a:r>
            <a:r>
              <a:rPr lang="en-US" altLang="en-GB" sz="2400">
                <a:sym typeface="+mn-ea"/>
              </a:rPr>
              <a:t>M S</a:t>
            </a:r>
            <a:r>
              <a:rPr lang="" altLang="en-US" sz="2400">
                <a:sym typeface="+mn-ea"/>
              </a:rPr>
              <a:t>À</a:t>
            </a:r>
            <a:r>
              <a:rPr lang="en-US" altLang="en-GB" sz="2400">
                <a:sym typeface="+mn-ea"/>
              </a:rPr>
              <a:t>NG ABCD</a:t>
            </a:r>
            <a:endParaRPr lang="en-US" altLang="en-GB" sz="2400">
              <a:sym typeface="+mn-ea"/>
            </a:endParaRPr>
          </a:p>
        </p:txBody>
      </p:sp>
      <p:sp>
        <p:nvSpPr>
          <p:cNvPr id="107" name="TextBox 106"/>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LOẠI &amp; HỢP NHẤT BAYES</a:t>
            </a:r>
          </a:p>
        </p:txBody>
      </p:sp>
      <p:sp>
        <p:nvSpPr>
          <p:cNvPr id="108" name="TextBox 107"/>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loại ảnh (Classifier)</a:t>
            </a:r>
            <a:r>
              <a:rPr sz="1300">
                <a:solidFill>
                  <a:srgbClr val="1E293B"/>
                </a:solidFill>
                <a:latin typeface="Arial"/>
              </a:rPr>
              <a:t>: Kiến trúc EfficientNet-B1 nhúng khối chú ý CBAM giúp hội tụ chính xác vào tổn thương da sắc tố.</a:t>
            </a:r>
          </a:p>
          <a:p>
            <a:pPr>
              <a:lnSpc>
                <a:spcPct val="115000"/>
              </a:lnSpc>
              <a:spcAft>
                <a:spcPts val="1000"/>
              </a:spcAft>
            </a:pPr>
            <a:r>
              <a:rPr b="1" sz="1300">
                <a:solidFill>
                  <a:srgbClr val="990000"/>
                </a:solidFill>
                <a:latin typeface="Arial"/>
              </a:rPr>
              <a:t>Late Fusion Bayes</a:t>
            </a:r>
            <a:r>
              <a:rPr sz="1300">
                <a:solidFill>
                  <a:srgbClr val="1E293B"/>
                </a:solidFill>
                <a:latin typeface="Arial"/>
              </a:rPr>
              <a:t>: Hợp nhất xác suất hình ảnh với demographics dịch tễ (tuổi, giới tính, vị trí giải phẫu) theo công thức Bayes.</a:t>
            </a:r>
          </a:p>
          <a:p>
            <a:pPr>
              <a:lnSpc>
                <a:spcPct val="115000"/>
              </a:lnSpc>
              <a:spcAft>
                <a:spcPts val="1000"/>
              </a:spcAft>
            </a:pPr>
            <a:r>
              <a:rPr b="1" sz="1300">
                <a:solidFill>
                  <a:srgbClr val="990000"/>
                </a:solidFill>
                <a:latin typeface="Arial"/>
              </a:rPr>
              <a:t>Trọng số điều phối ($\lambda$)</a:t>
            </a:r>
            <a:r>
              <a:rPr sz="1300">
                <a:solidFill>
                  <a:srgbClr val="1E293B"/>
                </a:solidFill>
                <a:latin typeface="Arial"/>
              </a:rPr>
              <a:t>: Tích hợp slider trọng số $\lambda$ trên giao diện giúp bác sĩ chủ động kiểm soát và giảm bớt ảnh hưởng của thiên lệch địa lý HAM10000 (da trắng) khi chẩn đoán cho người Việt.</a:t>
            </a:r>
          </a:p>
        </p:txBody>
      </p:sp>
      <p:pic>
        <p:nvPicPr>
          <p:cNvPr id="109" name="Picture 108" descr="image.png"/>
          <p:cNvPicPr>
            <a:picLocks noChangeAspect="1"/>
          </p:cNvPicPr>
          <p:nvPr/>
        </p:nvPicPr>
        <p:blipFill>
          <a:blip r:embed="rId3"/>
          <a:stretch>
            <a:fillRect/>
          </a:stretch>
        </p:blipFill>
        <p:spPr>
          <a:xfrm>
            <a:off x="4937760" y="1188720"/>
            <a:ext cx="3657600" cy="14983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PH</a:t>
            </a:r>
            <a:r>
              <a:rPr lang="" altLang="en-US" sz="2400">
                <a:sym typeface="+mn-ea"/>
              </a:rPr>
              <a:t>Â</a:t>
            </a:r>
            <a:r>
              <a:rPr lang="en-US" altLang="en-GB" sz="2400">
                <a:sym typeface="+mn-ea"/>
              </a:rPr>
              <a:t>N LOẠI &amp; HỢP NHẤT BAYES</a:t>
            </a:r>
            <a:endParaRPr lang="en-US" altLang="en-GB" sz="2400">
              <a:sym typeface="+mn-ea"/>
            </a:endParaRPr>
          </a:p>
        </p:txBody>
      </p:sp>
      <p:pic>
        <p:nvPicPr>
          <p:cNvPr id="157" name="Picture 156" descr="training_history.png"/>
          <p:cNvPicPr>
            <a:picLocks noChangeAspect="1"/>
          </p:cNvPicPr>
          <p:nvPr/>
        </p:nvPicPr>
        <p:blipFill>
          <a:blip r:embed="rId1"/>
          <a:stretch>
            <a:fillRect/>
          </a:stretch>
        </p:blipFill>
        <p:spPr>
          <a:xfrm>
            <a:off x="4056380" y="2708910"/>
            <a:ext cx="8092440" cy="3315970"/>
          </a:xfrm>
          <a:prstGeom prst="rect">
            <a:avLst/>
          </a:prstGeom>
        </p:spPr>
      </p:pic>
      <p:sp>
        <p:nvSpPr>
          <p:cNvPr id="158" name="TextBox 157"/>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TRỢ LÝ ĐÀM THOẠI VQA &amp; RAG</a:t>
            </a:r>
          </a:p>
        </p:txBody>
      </p:sp>
      <p:sp>
        <p:nvSpPr>
          <p:cNvPr id="159" name="TextBox 158"/>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VQA ngoại tuyến (Offline)</a:t>
            </a:r>
            <a:r>
              <a:rPr sz="1300">
                <a:solidFill>
                  <a:srgbClr val="1E293B"/>
                </a:solidFill>
                <a:latin typeface="Arial"/>
              </a:rPr>
              <a:t>: Tinh chỉnh DistilGPT-2 LoRA (rank 8, chỉ huấn luyện 2.13% tham số) chạy trên CPU, hoặc kết nối Ollama API cục bộ để chạy các LLM 3B/7B lớn hơn.</a:t>
            </a:r>
          </a:p>
          <a:p>
            <a:pPr>
              <a:lnSpc>
                <a:spcPct val="115000"/>
              </a:lnSpc>
              <a:spcAft>
                <a:spcPts val="1000"/>
              </a:spcAft>
            </a:pPr>
            <a:r>
              <a:rPr b="1" sz="1300">
                <a:solidFill>
                  <a:srgbClr val="990000"/>
                </a:solidFill>
                <a:latin typeface="Arial"/>
              </a:rPr>
              <a:t>RAG y văn ngoại tuyến</a:t>
            </a:r>
            <a:r>
              <a:rPr sz="1300">
                <a:solidFill>
                  <a:srgbClr val="1E293B"/>
                </a:solidFill>
                <a:latin typeface="Arial"/>
              </a:rPr>
              <a:t>: So khớp tài liệu y văn từ ChromaDB bằng khoảng cách Cosine, nhồi hướng dẫn điều trị của Bộ Y tế vào prompt để LLM giải đáp chính xác, tránh ảo giác.</a:t>
            </a:r>
          </a:p>
          <a:p>
            <a:pPr>
              <a:lnSpc>
                <a:spcPct val="115000"/>
              </a:lnSpc>
              <a:spcAft>
                <a:spcPts val="1000"/>
              </a:spcAft>
            </a:pPr>
            <a:r>
              <a:rPr b="1" sz="1300">
                <a:solidFill>
                  <a:srgbClr val="990000"/>
                </a:solidFill>
                <a:latin typeface="Arial"/>
              </a:rPr>
              <a:t>Rào cản an toàn thuốc</a:t>
            </a:r>
            <a:r>
              <a:rPr sz="1300">
                <a:solidFill>
                  <a:srgbClr val="1E293B"/>
                </a:solidFill>
                <a:latin typeface="Arial"/>
              </a:rPr>
              <a:t>: Medication Guardrails tự động lọc ngăn chặn các câu trả lời tự kê đơn thuốc của AI trực tuyến.</a:t>
            </a:r>
          </a:p>
        </p:txBody>
      </p:sp>
      <p:pic>
        <p:nvPicPr>
          <p:cNvPr id="160" name="Picture 159" descr="media__1783401356034.png"/>
          <p:cNvPicPr>
            <a:picLocks noChangeAspect="1"/>
          </p:cNvPicPr>
          <p:nvPr/>
        </p:nvPicPr>
        <p:blipFill>
          <a:blip r:embed="rId4"/>
          <a:stretch>
            <a:fillRect/>
          </a:stretch>
        </p:blipFill>
        <p:spPr>
          <a:xfrm>
            <a:off x="4937760" y="1188720"/>
            <a:ext cx="3657600" cy="1714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TRỢ L</a:t>
            </a:r>
            <a:r>
              <a:rPr lang="" altLang="en-US" sz="2400">
                <a:sym typeface="+mn-ea"/>
              </a:rPr>
              <a:t>Ý</a:t>
            </a:r>
            <a:r>
              <a:rPr lang="en-US" altLang="en-GB" sz="2400">
                <a:sym typeface="+mn-ea"/>
              </a:rPr>
              <a:t> </a:t>
            </a:r>
            <a:r>
              <a:rPr lang="" altLang="en-US" sz="2400">
                <a:sym typeface="+mn-ea"/>
              </a:rPr>
              <a:t>ĐÀ</a:t>
            </a:r>
            <a:r>
              <a:rPr lang="en-US" altLang="en-GB" sz="2400">
                <a:sym typeface="+mn-ea"/>
              </a:rPr>
              <a:t>M THOẠI VQA &amp; RAG</a:t>
            </a:r>
            <a:endParaRPr lang="en-US" altLang="en-GB" sz="2400">
              <a:sym typeface="+mn-ea"/>
            </a:endParaRPr>
          </a:p>
        </p:txBody>
      </p:sp>
      <p:sp>
        <p:nvSpPr>
          <p:cNvPr id="107" name="TextBox 106"/>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THIẾT KẾ CƠ SỞ DỮ LIỆU EHR BỆNH ÁN</a:t>
            </a:r>
          </a:p>
        </p:txBody>
      </p:sp>
      <p:sp>
        <p:nvSpPr>
          <p:cNvPr id="108" name="TextBox 107"/>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CSDL Firestore phân cấp</a:t>
            </a:r>
            <a:r>
              <a:rPr sz="1300">
                <a:solidFill>
                  <a:srgbClr val="1E293B"/>
                </a:solidFill>
                <a:latin typeface="Arial"/>
              </a:rPr>
              <a:t>: Phân tách dữ liệu thành 3 collection chính: `users`, `patients` và `records` giúp quản lý dễ dàng.</a:t>
            </a:r>
          </a:p>
          <a:p>
            <a:pPr>
              <a:lnSpc>
                <a:spcPct val="115000"/>
              </a:lnSpc>
              <a:spcAft>
                <a:spcPts val="1000"/>
              </a:spcAft>
            </a:pPr>
            <a:r>
              <a:rPr b="1" sz="1300">
                <a:solidFill>
                  <a:srgbClr val="990000"/>
                </a:solidFill>
                <a:latin typeface="Arial"/>
              </a:rPr>
              <a:t>Hồ sơ EHR chi tiết</a:t>
            </a:r>
            <a:r>
              <a:rPr sz="1300">
                <a:solidFill>
                  <a:srgbClr val="1E293B"/>
                </a:solidFill>
                <a:latin typeface="Arial"/>
              </a:rPr>
              <a:t>: Lưu trữ toàn bộ ảnh gốc, mặt nạ, Grad-CAM, kết quả ABCD và nhật ký hỏi đáp VQA.</a:t>
            </a:r>
          </a:p>
          <a:p>
            <a:pPr>
              <a:lnSpc>
                <a:spcPct val="115000"/>
              </a:lnSpc>
              <a:spcAft>
                <a:spcPts val="1000"/>
              </a:spcAft>
            </a:pPr>
            <a:r>
              <a:rPr b="1" sz="1300">
                <a:solidFill>
                  <a:srgbClr val="990000"/>
                </a:solidFill>
                <a:latin typeface="Arial"/>
              </a:rPr>
              <a:t>Dòng thời gian lâm sàng</a:t>
            </a:r>
            <a:r>
              <a:rPr sz="1300">
                <a:solidFill>
                  <a:srgbClr val="1E293B"/>
                </a:solidFill>
                <a:latin typeface="Arial"/>
              </a:rPr>
              <a:t>: Theo dõi trực quan tiến triển kích thước tổn thương qua nhiều mốc thời gian khám bệnh, giúp bác sĩ đánh giá hiệu quả điều trị.</a:t>
            </a:r>
          </a:p>
        </p:txBody>
      </p:sp>
      <p:pic>
        <p:nvPicPr>
          <p:cNvPr id="109" name="Picture 108" descr="media__1783444694120.png"/>
          <p:cNvPicPr>
            <a:picLocks noChangeAspect="1"/>
          </p:cNvPicPr>
          <p:nvPr/>
        </p:nvPicPr>
        <p:blipFill>
          <a:blip r:embed="rId3"/>
          <a:stretch>
            <a:fillRect/>
          </a:stretch>
        </p:blipFill>
        <p:spPr>
          <a:xfrm>
            <a:off x="4937760" y="1188720"/>
            <a:ext cx="3657600" cy="24038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01</a:t>
            </a:r>
            <a:endParaRPr sz="2400">
              <a:solidFill>
                <a:srgbClr val="FFFFFF">
                  <a:alpha val="20000"/>
                </a:srgbClr>
              </a:solidFill>
            </a:endParaRPr>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02</a:t>
            </a:r>
            <a:endParaRPr sz="2400">
              <a:solidFill>
                <a:srgbClr val="FFFFFF">
                  <a:alpha val="20000"/>
                </a:srgbClr>
              </a:solidFill>
            </a:endParaRPr>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03</a:t>
            </a:r>
            <a:endParaRPr sz="2400">
              <a:solidFill>
                <a:srgbClr val="FFFFFF">
                  <a:alpha val="20000"/>
                </a:srgbClr>
              </a:solidFill>
            </a:endParaRPr>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04</a:t>
            </a:r>
            <a:endParaRPr sz="2400"/>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05</a:t>
            </a:r>
            <a:endParaRPr sz="2400">
              <a:solidFill>
                <a:srgbClr val="FFFFFF">
                  <a:alpha val="20000"/>
                </a:srgbClr>
              </a:solidFill>
            </a:endParaRPr>
          </a:p>
        </p:txBody>
      </p:sp>
      <p:sp>
        <p:nvSpPr>
          <p:cNvPr id="116" name="TextBox 11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BẢO MẬT EHR &amp; TỐI ƯU HÓA LƯU TRỮ</a:t>
            </a:r>
          </a:p>
        </p:txBody>
      </p:sp>
      <p:sp>
        <p:nvSpPr>
          <p:cNvPr id="117" name="TextBox 11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Ẩn danh &amp; Mã hóa bệnh án</a:t>
            </a:r>
            <a:r>
              <a:rPr sz="1300">
                <a:solidFill>
                  <a:srgbClr val="1E293B"/>
                </a:solidFill>
                <a:latin typeface="Arial"/>
              </a:rPr>
              <a:t>: Băm SHA-256 CCCD/Tên làm Document ID, và mã hóa đối xứng XOR + Base64 toàn bộ thông tin nhạy cảm của bệnh nhân trước khi lưu Firestore để tuân thủ HIPAA.</a:t>
            </a:r>
          </a:p>
          <a:p>
            <a:pPr>
              <a:lnSpc>
                <a:spcPct val="115000"/>
              </a:lnSpc>
              <a:spcAft>
                <a:spcPts val="1000"/>
              </a:spcAft>
            </a:pPr>
            <a:r>
              <a:rPr b="1" sz="1300">
                <a:solidFill>
                  <a:srgbClr val="990000"/>
                </a:solidFill>
                <a:latin typeface="Arial"/>
              </a:rPr>
              <a:t>ThreadPool song song hóa</a:t>
            </a:r>
            <a:r>
              <a:rPr sz="1300">
                <a:solidFill>
                  <a:srgbClr val="1E293B"/>
                </a:solidFill>
                <a:latin typeface="Arial"/>
              </a:rPr>
              <a:t>: Tải đồng thời 3 ảnh lên cloud (gốc, mặt nạ, Grad-CAM) bằng `ThreadPoolExecutor` thay vì tuần tự.</a:t>
            </a:r>
          </a:p>
          <a:p>
            <a:pPr>
              <a:lnSpc>
                <a:spcPct val="115000"/>
              </a:lnSpc>
              <a:spcAft>
                <a:spcPts val="1000"/>
              </a:spcAft>
            </a:pPr>
            <a:r>
              <a:rPr b="1" sz="1300">
                <a:solidFill>
                  <a:srgbClr val="990000"/>
                </a:solidFill>
                <a:latin typeface="Arial"/>
              </a:rPr>
              <a:t>Giảm thiểu độ trễ UI</a:t>
            </a:r>
            <a:r>
              <a:rPr sz="1300">
                <a:solidFill>
                  <a:srgbClr val="1E293B"/>
                </a:solidFill>
                <a:latin typeface="Arial"/>
              </a:rPr>
              <a:t>: Rút ngắn thời gian khóa giao diện chính (freeze latency) của Streamlit từ 5 giây xuống chỉ còn </a:t>
            </a:r>
            <a:r>
              <a:rPr b="1" sz="1300">
                <a:solidFill>
                  <a:srgbClr val="990000"/>
                </a:solidFill>
                <a:latin typeface="Arial"/>
              </a:rPr>
              <a:t>1.5 giây</a:t>
            </a:r>
            <a:r>
              <a:rPr sz="1300">
                <a:solidFill>
                  <a:srgbClr val="1E293B"/>
                </a:solidFill>
                <a:latin typeface="Arial"/>
              </a:rPr>
              <a:t>.</a:t>
            </a:r>
          </a:p>
        </p:txBody>
      </p:sp>
      <p:pic>
        <p:nvPicPr>
          <p:cNvPr id="118" name="Picture 117" descr="security_diagram_1783443759217.png"/>
          <p:cNvPicPr>
            <a:picLocks noChangeAspect="1"/>
          </p:cNvPicPr>
          <p:nvPr/>
        </p:nvPicPr>
        <p:blipFill>
          <a:blip r:embed="rId13"/>
          <a:stretch>
            <a:fillRect/>
          </a:stretch>
        </p:blipFill>
        <p:spPr>
          <a:xfrm>
            <a:off x="4937760" y="1188720"/>
            <a:ext cx="3657600" cy="3657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THIẾT KẾ C</a:t>
            </a:r>
            <a:r>
              <a:rPr lang="" altLang="en-US" sz="2400">
                <a:sym typeface="+mn-ea"/>
              </a:rPr>
              <a:t>Ơ</a:t>
            </a:r>
            <a:r>
              <a:rPr lang="en-US" altLang="en-GB" sz="2400">
                <a:sym typeface="+mn-ea"/>
              </a:rPr>
              <a:t> SỞ DỮ LIỆU EHR BỆNH </a:t>
            </a:r>
            <a:r>
              <a:rPr lang="" altLang="en-US" sz="2400">
                <a:sym typeface="+mn-ea"/>
              </a:rPr>
              <a:t>Á</a:t>
            </a:r>
            <a:r>
              <a:rPr lang="en-US" altLang="en-GB" sz="2400">
                <a:sym typeface="+mn-ea"/>
              </a:rPr>
              <a:t>N</a:t>
            </a:r>
            <a:endParaRPr lang="en-US" altLang="en-GB" sz="2400">
              <a:sym typeface="+mn-ea"/>
            </a:endParaRPr>
          </a:p>
        </p:txBody>
      </p:sp>
      <p:sp>
        <p:nvSpPr>
          <p:cNvPr id="107" name="TextBox 106"/>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PHẦN MỀM &amp; BIỂU ĐỒ LỚP</a:t>
            </a:r>
          </a:p>
        </p:txBody>
      </p:sp>
      <p:sp>
        <p:nvSpPr>
          <p:cNvPr id="108" name="TextBox 107"/>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Thiết kế hướng đối tượng (OOP)</a:t>
            </a:r>
            <a:r>
              <a:rPr sz="1300">
                <a:solidFill>
                  <a:srgbClr val="1E293B"/>
                </a:solidFill>
                <a:latin typeface="Arial"/>
              </a:rPr>
              <a:t>: Phân rã hệ thống thành các module nghiệp vụ tách biệt, độc lập và dễ bảo trì.</a:t>
            </a:r>
          </a:p>
          <a:p>
            <a:pPr>
              <a:lnSpc>
                <a:spcPct val="115000"/>
              </a:lnSpc>
              <a:spcAft>
                <a:spcPts val="1000"/>
              </a:spcAft>
            </a:pPr>
            <a:r>
              <a:rPr b="1" sz="1300">
                <a:solidFill>
                  <a:srgbClr val="990000"/>
                </a:solidFill>
                <a:latin typeface="Arial"/>
              </a:rPr>
              <a:t>Lớp điều phối trung tâm</a:t>
            </a:r>
            <a:r>
              <a:rPr sz="1300">
                <a:solidFill>
                  <a:srgbClr val="1E293B"/>
                </a:solidFill>
                <a:latin typeface="Arial"/>
              </a:rPr>
              <a:t>: `UnifiedDermatologyPipeline` đóng vai trò Controller quản lý luồng dữ liệu chẩn đoán.</a:t>
            </a:r>
          </a:p>
          <a:p>
            <a:pPr>
              <a:lnSpc>
                <a:spcPct val="115000"/>
              </a:lnSpc>
              <a:spcAft>
                <a:spcPts val="1000"/>
              </a:spcAft>
            </a:pPr>
            <a:r>
              <a:rPr b="1" sz="1300">
                <a:solidFill>
                  <a:srgbClr val="990000"/>
                </a:solidFill>
                <a:latin typeface="Arial"/>
              </a:rPr>
              <a:t>Các lớp dịch vụ</a:t>
            </a:r>
            <a:r>
              <a:rPr sz="1300">
                <a:solidFill>
                  <a:srgbClr val="1E293B"/>
                </a:solidFill>
                <a:latin typeface="Arial"/>
              </a:rPr>
              <a:t>: `SafetyGate` (kiểm tra chất lượng), `InteractiveSAM` (phân đoạn), `MultimodalBayesianFusion` (late fusion), và `EHRManager` (mã hóa &amp; lưu trữ).</a:t>
            </a:r>
          </a:p>
        </p:txBody>
      </p:sp>
      <p:pic>
        <p:nvPicPr>
          <p:cNvPr id="109" name="Picture 108" descr="image.jpe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BẢO MẬT EHR &amp; TỐI </a:t>
            </a:r>
            <a:r>
              <a:rPr lang="" altLang="en-US" sz="2400">
                <a:sym typeface="+mn-ea"/>
              </a:rPr>
              <a:t>Ư</a:t>
            </a:r>
            <a:r>
              <a:rPr lang="en-US" altLang="en-GB" sz="2400">
                <a:sym typeface="+mn-ea"/>
              </a:rPr>
              <a:t>U H</a:t>
            </a:r>
            <a:r>
              <a:rPr lang="" altLang="en-US" sz="2400">
                <a:sym typeface="+mn-ea"/>
              </a:rPr>
              <a:t>Ó</a:t>
            </a:r>
            <a:r>
              <a:rPr lang="en-US" altLang="en-GB" sz="2400">
                <a:sym typeface="+mn-ea"/>
              </a:rPr>
              <a:t>A L</a:t>
            </a:r>
            <a:r>
              <a:rPr lang="" altLang="en-US" sz="2400">
                <a:sym typeface="+mn-ea"/>
              </a:rPr>
              <a:t>Ư</a:t>
            </a:r>
            <a:r>
              <a:rPr lang="en-US" altLang="en-GB" sz="2400">
                <a:sym typeface="+mn-ea"/>
              </a:rPr>
              <a:t>U TRỮ</a:t>
            </a:r>
            <a:endParaRPr lang="en-US" altLang="en-GB" sz="2400">
              <a:sym typeface="+mn-ea"/>
            </a:endParaRPr>
          </a:p>
        </p:txBody>
      </p:sp>
      <p:sp>
        <p:nvSpPr>
          <p:cNvPr id="107" name="TextBox 106"/>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KỊCH BẢN THỬ NGHIỆM &amp; KẾT QUẢ</a:t>
            </a:r>
          </a:p>
        </p:txBody>
      </p:sp>
      <p:sp>
        <p:nvSpPr>
          <p:cNvPr id="108" name="TextBox 107"/>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Triển khai &amp; Kiểm thử</a:t>
            </a:r>
            <a:r>
              <a:rPr sz="1300">
                <a:solidFill>
                  <a:srgbClr val="1E293B"/>
                </a:solidFill>
                <a:latin typeface="Arial"/>
              </a:rPr>
              <a:t>: Đánh giá độ chính xác chẩn đoán toàn luồng đạt </a:t>
            </a:r>
            <a:r>
              <a:rPr b="1" sz="1300">
                <a:solidFill>
                  <a:srgbClr val="990000"/>
                </a:solidFill>
                <a:latin typeface="Arial"/>
              </a:rPr>
              <a:t>95.01%</a:t>
            </a:r>
            <a:r>
              <a:rPr sz="1300">
                <a:solidFill>
                  <a:srgbClr val="1E293B"/>
                </a:solidFill>
                <a:latin typeface="Arial"/>
              </a:rPr>
              <a:t>, độ trễ suy luận trung bình </a:t>
            </a:r>
            <a:r>
              <a:rPr b="1" sz="1300">
                <a:solidFill>
                  <a:srgbClr val="990000"/>
                </a:solidFill>
                <a:latin typeface="Arial"/>
              </a:rPr>
              <a:t>232.27 ms</a:t>
            </a:r>
            <a:r>
              <a:rPr sz="1300">
                <a:solidFill>
                  <a:srgbClr val="1E293B"/>
                </a:solidFill>
                <a:latin typeface="Arial"/>
              </a:rPr>
              <a:t> đầu cuối.</a:t>
            </a:r>
          </a:p>
          <a:p>
            <a:pPr>
              <a:lnSpc>
                <a:spcPct val="115000"/>
              </a:lnSpc>
              <a:spcAft>
                <a:spcPts val="1000"/>
              </a:spcAft>
            </a:pPr>
            <a:r>
              <a:rPr b="1" sz="1300">
                <a:solidFill>
                  <a:srgbClr val="990000"/>
                </a:solidFill>
                <a:latin typeface="Arial"/>
              </a:rPr>
              <a:t>Kịch bản y khoa đặc thù</a:t>
            </a:r>
            <a:r>
              <a:rPr sz="1300">
                <a:solidFill>
                  <a:srgbClr val="1E293B"/>
                </a:solidFill>
                <a:latin typeface="Arial"/>
              </a:rPr>
              <a:t>: Kiểm thử thành công kịch bản ảnh phơi sáng kém, ảnh chứa nhiễu, và bác sĩ vẽ tay mồi bị lỗi.</a:t>
            </a:r>
          </a:p>
          <a:p>
            <a:pPr>
              <a:lnSpc>
                <a:spcPct val="115000"/>
              </a:lnSpc>
              <a:spcAft>
                <a:spcPts val="1000"/>
              </a:spcAft>
            </a:pPr>
            <a:r>
              <a:rPr b="1" sz="1300">
                <a:solidFill>
                  <a:srgbClr val="990000"/>
                </a:solidFill>
                <a:latin typeface="Arial"/>
              </a:rPr>
              <a:t>Ablation Study</a:t>
            </a:r>
            <a:r>
              <a:rPr sz="1300">
                <a:solidFill>
                  <a:srgbClr val="1E293B"/>
                </a:solidFill>
                <a:latin typeface="Arial"/>
              </a:rPr>
              <a:t>: Việc trích xuất vùng tổn thương cắt ROI bằng mặt nạ giúp tăng độ chính xác phân loại thêm </a:t>
            </a:r>
            <a:r>
              <a:rPr b="1" sz="1300">
                <a:solidFill>
                  <a:srgbClr val="990000"/>
                </a:solidFill>
                <a:latin typeface="Arial"/>
              </a:rPr>
              <a:t>7%</a:t>
            </a:r>
            <a:r>
              <a:rPr sz="1300">
                <a:solidFill>
                  <a:srgbClr val="1E293B"/>
                </a:solidFill>
                <a:latin typeface="Arial"/>
              </a:rPr>
              <a:t> so với ảnh thô.</a:t>
            </a:r>
          </a:p>
        </p:txBody>
      </p:sp>
      <p:pic>
        <p:nvPicPr>
          <p:cNvPr id="109" name="Picture 108" descr="image.png"/>
          <p:cNvPicPr>
            <a:picLocks noChangeAspect="1"/>
          </p:cNvPicPr>
          <p:nvPr/>
        </p:nvPicPr>
        <p:blipFill>
          <a:blip r:embed="rId3"/>
          <a:stretch>
            <a:fillRect/>
          </a:stretch>
        </p:blipFill>
        <p:spPr>
          <a:xfrm>
            <a:off x="4937760" y="1188720"/>
            <a:ext cx="3657600" cy="2377440"/>
          </a:xfrm>
          <a:prstGeom prst="rect">
            <a:avLst/>
          </a:prstGeom>
        </p:spPr>
      </p:pic>
      <p:pic>
        <p:nvPicPr>
          <p:cNvPr id="110" name="Picture 109" descr="confusion_matrix.png"/>
          <p:cNvPicPr>
            <a:picLocks noChangeAspect="1"/>
          </p:cNvPicPr>
          <p:nvPr/>
        </p:nvPicPr>
        <p:blipFill>
          <a:blip r:embed="rId4"/>
          <a:stretch>
            <a:fillRect/>
          </a:stretch>
        </p:blipFill>
        <p:spPr>
          <a:xfrm>
            <a:off x="4937760" y="3749039"/>
            <a:ext cx="3657600" cy="23774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7" name="Oval 6"/>
          <p:cNvSpPr/>
          <p:nvPr/>
        </p:nvSpPr>
        <p:spPr>
          <a:xfrm>
            <a:off x="731520" y="2011680"/>
            <a:ext cx="2715895" cy="2607945"/>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990000"/>
                </a:solidFill>
                <a:latin typeface="Arial" panose="020B0604020202020204"/>
              </a:defRPr>
            </a:pPr>
            <a:r>
              <a:t>MỤC</a:t>
            </a:r>
            <a:r>
              <a:rPr lang="en-US"/>
              <a:t> </a:t>
            </a:r>
            <a:r>
              <a:t>LỤC</a:t>
            </a:r>
            <a:endParaRPr sz="3200"/>
          </a:p>
        </p:txBody>
      </p:sp>
      <p:sp>
        <p:nvSpPr>
          <p:cNvPr id="8" name="Oval 7"/>
          <p:cNvSpPr/>
          <p:nvPr/>
        </p:nvSpPr>
        <p:spPr>
          <a:xfrm>
            <a:off x="251460" y="146304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9695"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1"/>
            </p:custDataLst>
          </p:nvPr>
        </p:nvSpPr>
        <p:spPr>
          <a:xfrm>
            <a:off x="3575050" y="115570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01</a:t>
            </a:r>
            <a:endParaRPr sz="2400">
              <a:solidFill>
                <a:srgbClr val="FFFFFF">
                  <a:alpha val="20000"/>
                </a:srgbClr>
              </a:solidFill>
            </a:endParaRPr>
          </a:p>
        </p:txBody>
      </p:sp>
      <p:sp>
        <p:nvSpPr>
          <p:cNvPr id="14" name="Oval 13"/>
          <p:cNvSpPr/>
          <p:nvPr>
            <p:custDataLst>
              <p:tags r:id="rId3"/>
            </p:custDataLst>
          </p:nvPr>
        </p:nvSpPr>
        <p:spPr>
          <a:xfrm>
            <a:off x="3575050" y="220726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02</a:t>
            </a:r>
            <a:endParaRPr sz="2400">
              <a:solidFill>
                <a:srgbClr val="FFFFFF">
                  <a:alpha val="20000"/>
                </a:srgbClr>
              </a:solidFill>
            </a:endParaRPr>
          </a:p>
        </p:txBody>
      </p:sp>
      <p:sp>
        <p:nvSpPr>
          <p:cNvPr id="15" name="Oval 14"/>
          <p:cNvSpPr/>
          <p:nvPr>
            <p:custDataLst>
              <p:tags r:id="rId5"/>
            </p:custDataLst>
          </p:nvPr>
        </p:nvSpPr>
        <p:spPr>
          <a:xfrm>
            <a:off x="3575050" y="325882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03</a:t>
            </a:r>
            <a:endParaRPr sz="2400">
              <a:solidFill>
                <a:srgbClr val="FFFFFF">
                  <a:alpha val="20000"/>
                </a:srgbClr>
              </a:solidFill>
            </a:endParaRPr>
          </a:p>
        </p:txBody>
      </p:sp>
      <p:sp>
        <p:nvSpPr>
          <p:cNvPr id="16" name="Oval 15"/>
          <p:cNvSpPr/>
          <p:nvPr>
            <p:custDataLst>
              <p:tags r:id="rId7"/>
            </p:custDataLst>
          </p:nvPr>
        </p:nvSpPr>
        <p:spPr>
          <a:xfrm>
            <a:off x="3575050" y="431038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solidFill>
                  <a:srgbClr val="FFFFFF">
                    <a:alpha val="20000"/>
                  </a:srgbClr>
                </a:solidFill>
              </a:rPr>
              <a:t>04</a:t>
            </a:r>
            <a:endParaRPr sz="2400">
              <a:solidFill>
                <a:srgbClr val="FFFFFF">
                  <a:alpha val="20000"/>
                </a:srgbClr>
              </a:solidFill>
            </a:endParaRPr>
          </a:p>
        </p:txBody>
      </p:sp>
      <p:sp>
        <p:nvSpPr>
          <p:cNvPr id="115" name="Oval 114"/>
          <p:cNvSpPr/>
          <p:nvPr>
            <p:custDataLst>
              <p:tags r:id="rId9"/>
            </p:custDataLst>
          </p:nvPr>
        </p:nvSpPr>
        <p:spPr>
          <a:xfrm>
            <a:off x="3575050" y="5361940"/>
            <a:ext cx="763905" cy="763905"/>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panose="020B0604020202020204"/>
              </a:defRPr>
            </a:pPr>
            <a:r>
              <a:rPr sz="2400"/>
              <a:t>05</a:t>
            </a:r>
            <a:endParaRPr sz="2400"/>
          </a:p>
        </p:txBody>
      </p:sp>
      <p:sp>
        <p:nvSpPr>
          <p:cNvPr id="116" name="TextBox 11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KẾT LUẬN &amp; ĐỐNG GÓP XÃ HỘI</a:t>
            </a:r>
          </a:p>
        </p:txBody>
      </p:sp>
      <p:sp>
        <p:nvSpPr>
          <p:cNvPr id="117" name="TextBox 11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Bình đẳng hóa y tế cơ sở</a:t>
            </a:r>
            <a:r>
              <a:rPr sz="1300">
                <a:solidFill>
                  <a:srgbClr val="1E293B"/>
                </a:solidFill>
                <a:latin typeface="Arial"/>
              </a:rPr>
              <a:t>: Cho phép các trạm y tế tuyến trạm/huyện tầm soát sớm ung thư da với chi phí tối thiểu, mang công nghệ chất lượng cao đến vùng sâu vùng xa.</a:t>
            </a:r>
          </a:p>
          <a:p>
            <a:pPr>
              <a:lnSpc>
                <a:spcPct val="115000"/>
              </a:lnSpc>
              <a:spcAft>
                <a:spcPts val="1000"/>
              </a:spcAft>
            </a:pPr>
            <a:r>
              <a:rPr b="1" sz="1300">
                <a:solidFill>
                  <a:srgbClr val="990000"/>
                </a:solidFill>
                <a:latin typeface="Arial"/>
              </a:rPr>
              <a:t>Hỗ trợ tự đào tạo bác sĩ</a:t>
            </a:r>
            <a:r>
              <a:rPr sz="1300">
                <a:solidFill>
                  <a:srgbClr val="1E293B"/>
                </a:solidFill>
                <a:latin typeface="Arial"/>
              </a:rPr>
              <a:t>: Trợ lý VQA RAG y văn Bộ Y tế hoạt động như cố vấn y khoa 24/7 trực quan cho bác sĩ đa khoa.</a:t>
            </a:r>
          </a:p>
          <a:p>
            <a:pPr>
              <a:lnSpc>
                <a:spcPct val="115000"/>
              </a:lnSpc>
              <a:spcAft>
                <a:spcPts val="1000"/>
              </a:spcAft>
            </a:pPr>
            <a:r>
              <a:rPr b="1" sz="1300">
                <a:solidFill>
                  <a:srgbClr val="990000"/>
                </a:solidFill>
                <a:latin typeface="Arial"/>
              </a:rPr>
              <a:t>Kết luận</a:t>
            </a:r>
            <a:r>
              <a:rPr sz="1300">
                <a:solidFill>
                  <a:srgbClr val="1E293B"/>
                </a:solidFill>
                <a:latin typeface="Arial"/>
              </a:rPr>
              <a:t>: Xây dựng thành công hệ thống hỗ trợ chẩn đoán CDSS da liễu đa phương thức hoàn chỉnh, hoạt động offline ổn định, bảo mật cao và tối ưu tốc độ phản hồi lâm sàng.</a:t>
            </a:r>
          </a:p>
        </p:txBody>
      </p:sp>
      <p:pic>
        <p:nvPicPr>
          <p:cNvPr id="118" name="Picture 117" descr="social_impact_infographic_1783445227550.png"/>
          <p:cNvPicPr>
            <a:picLocks noChangeAspect="1"/>
          </p:cNvPicPr>
          <p:nvPr/>
        </p:nvPicPr>
        <p:blipFill>
          <a:blip r:embed="rId13"/>
          <a:stretch>
            <a:fillRect/>
          </a:stretch>
        </p:blipFill>
        <p:spPr>
          <a:xfrm>
            <a:off x="4937760" y="1188720"/>
            <a:ext cx="3657600" cy="3657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5</a:t>
            </a:r>
            <a:r>
              <a:rPr>
                <a:latin typeface="+mj-lt"/>
                <a:cs typeface="+mj-lt"/>
                <a:sym typeface="+mn-ea"/>
              </a:rPr>
              <a:t>: </a:t>
            </a:r>
            <a:r>
              <a:rPr lang="en-US">
                <a:latin typeface="+mj-lt"/>
                <a:cs typeface="+mj-lt"/>
                <a:sym typeface="+mn-ea"/>
              </a:rPr>
              <a:t>KẾT QUẢ THỬ NGHIỆM</a:t>
            </a:r>
            <a:r>
              <a:rPr>
                <a:latin typeface="+mj-lt"/>
                <a:cs typeface="+mj-lt"/>
                <a:sym typeface="+mn-ea"/>
              </a:rPr>
              <a:t> &amp; </a:t>
            </a:r>
            <a:r>
              <a:rPr lang="en-US">
                <a:latin typeface="+mj-lt"/>
                <a:cs typeface="+mj-lt"/>
                <a:sym typeface="+mn-ea"/>
              </a:rPr>
              <a:t>KẾT LUẬN</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KIẾN TR</a:t>
            </a:r>
            <a:r>
              <a:rPr lang="" altLang="en-US" sz="2400">
                <a:sym typeface="+mn-ea"/>
              </a:rPr>
              <a:t>Ú</a:t>
            </a:r>
            <a:r>
              <a:rPr lang="en-US" altLang="en-GB" sz="2400">
                <a:sym typeface="+mn-ea"/>
              </a:rPr>
              <a:t>C PHẦN MỀM &amp; BIỂU </a:t>
            </a:r>
            <a:r>
              <a:rPr lang="" altLang="en-US" sz="2400">
                <a:sym typeface="+mn-ea"/>
              </a:rPr>
              <a:t>Đ</a:t>
            </a:r>
            <a:r>
              <a:rPr lang="en-US" altLang="en-GB" sz="2400">
                <a:sym typeface="+mn-ea"/>
              </a:rPr>
              <a:t>Ồ LỚP</a:t>
            </a:r>
            <a:endParaRPr lang="en-US" altLang="en-GB" sz="2400">
              <a:sym typeface="+mn-ea"/>
            </a:endParaRPr>
          </a:p>
        </p:txBody>
      </p:sp>
      <p:sp>
        <p:nvSpPr>
          <p:cNvPr id="112" name="TextBox 111"/>
          <p:cNvSpPr txBox="1"/>
          <p:nvPr/>
        </p:nvSpPr>
        <p:spPr>
          <a:xfrm>
            <a:off x="226695" y="1429385"/>
            <a:ext cx="6341110" cy="3887470"/>
          </a:xfrm>
          <a:prstGeom prst="rect">
            <a:avLst/>
          </a:prstGeom>
          <a:noFill/>
        </p:spPr>
        <p:txBody>
          <a:bodyPr wrap="square">
            <a:spAutoFit/>
          </a:bodyPr>
          <a:lstStyle/>
          <a:p>
            <a:pPr>
              <a:lnSpc>
                <a:spcPct val="115000"/>
              </a:lnSpc>
              <a:spcAft>
                <a:spcPts val="1000"/>
              </a:spcAft>
            </a:pPr>
            <a:r>
              <a:rPr sz="2000" b="1">
                <a:solidFill>
                  <a:srgbClr val="990000"/>
                </a:solidFill>
                <a:sym typeface="+mn-ea"/>
              </a:rPr>
              <a:t>Thiết kế hướng đối tượng (OOP)</a:t>
            </a:r>
            <a:r>
              <a:rPr sz="2000">
                <a:solidFill>
                  <a:srgbClr val="1E293B"/>
                </a:solidFill>
                <a:sym typeface="+mn-ea"/>
              </a:rPr>
              <a:t>: Phân rã hệ thống thành các module nghiệp vụ tách biệt, độc lập và dễ bảo trì.</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Lớp điều phối trung tâm</a:t>
            </a:r>
            <a:r>
              <a:rPr sz="2000">
                <a:solidFill>
                  <a:srgbClr val="1E293B"/>
                </a:solidFill>
                <a:sym typeface="+mn-ea"/>
              </a:rPr>
              <a:t>: `UnifiedDermatologyPipeline` đóng vai trò Controller quản lý luồng dữ liệu chẩn đoán.</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Các lớp dịch vụ</a:t>
            </a:r>
            <a:r>
              <a:rPr sz="2000">
                <a:solidFill>
                  <a:srgbClr val="1E293B"/>
                </a:solidFill>
                <a:sym typeface="+mn-ea"/>
              </a:rPr>
              <a:t>: `SafetyGate` (kiểm tra chất lượng), `InteractiveSAM` (phân đoạn), `MultimodalBayesianFusion` (late fusion), và `EHRManager` (mã hóa &amp; lưu trữ).</a:t>
            </a:r>
            <a:endParaRPr sz="2000">
              <a:solidFill>
                <a:srgbClr val="1E293B"/>
              </a:solidFill>
              <a:latin typeface="+mn-lt"/>
              <a:cs typeface="+mn-lt"/>
              <a:sym typeface="+mn-ea"/>
            </a:endParaRPr>
          </a:p>
        </p:txBody>
      </p:sp>
      <p:pic>
        <p:nvPicPr>
          <p:cNvPr id="4" name="Picture 3" descr="software_class_diagram_1783445215248.png"/>
          <p:cNvPicPr>
            <a:picLocks noChangeAspect="1"/>
          </p:cNvPicPr>
          <p:nvPr/>
        </p:nvPicPr>
        <p:blipFill>
          <a:blip r:embed="rId1"/>
          <a:srcRect l="2779" t="5889" r="1898" b="4212"/>
          <a:stretch>
            <a:fillRect/>
          </a:stretch>
        </p:blipFill>
        <p:spPr>
          <a:xfrm>
            <a:off x="6567805" y="1196340"/>
            <a:ext cx="5480685" cy="51689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4"/>
          <p:cNvSpPr txBox="1"/>
          <p:nvPr/>
        </p:nvSpPr>
        <p:spPr>
          <a:xfrm>
            <a:off x="330481" y="116353"/>
            <a:ext cx="11514528" cy="436098"/>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PHẦN </a:t>
            </a:r>
            <a:r>
              <a:rPr lang="en-US">
                <a:latin typeface="+mj-lt"/>
                <a:cs typeface="+mj-lt"/>
                <a:sym typeface="+mn-ea"/>
              </a:rPr>
              <a:t>5</a:t>
            </a:r>
            <a:r>
              <a:rPr>
                <a:latin typeface="+mj-lt"/>
                <a:cs typeface="+mj-lt"/>
                <a:sym typeface="+mn-ea"/>
              </a:rPr>
              <a:t>: </a:t>
            </a:r>
            <a:r>
              <a:rPr lang="en-US">
                <a:latin typeface="+mj-lt"/>
                <a:cs typeface="+mj-lt"/>
                <a:sym typeface="+mn-ea"/>
              </a:rPr>
              <a:t>KẾT QUẢ THỬ NGHIỆM</a:t>
            </a:r>
            <a:r>
              <a:rPr>
                <a:latin typeface="+mj-lt"/>
                <a:cs typeface="+mj-lt"/>
                <a:sym typeface="+mn-ea"/>
              </a:rPr>
              <a:t> &amp; </a:t>
            </a:r>
            <a:r>
              <a:rPr lang="en-US">
                <a:latin typeface="+mj-lt"/>
                <a:cs typeface="+mj-lt"/>
                <a:sym typeface="+mn-ea"/>
              </a:rPr>
              <a:t>KẾT LUẬN</a:t>
            </a:r>
            <a:endParaRPr lang="en-US">
              <a:latin typeface="+mj-lt"/>
              <a:cs typeface="+mj-lt"/>
              <a:sym typeface="+mn-ea"/>
            </a:endParaRPr>
          </a:p>
        </p:txBody>
      </p:sp>
      <p:sp>
        <p:nvSpPr>
          <p:cNvPr id="1" name="Text Box 0"/>
          <p:cNvSpPr txBox="1"/>
          <p:nvPr/>
        </p:nvSpPr>
        <p:spPr>
          <a:xfrm>
            <a:off x="407670" y="781685"/>
            <a:ext cx="7427595" cy="370840"/>
          </a:xfrm>
          <a:prstGeom prst="rect">
            <a:avLst/>
          </a:prstGeom>
          <a:noFill/>
        </p:spPr>
        <p:txBody>
          <a:bodyPr wrap="square" rtlCol="0" anchor="ctr" anchorCtr="0">
            <a:noAutofit/>
          </a:bodyPr>
          <a:p>
            <a:pPr>
              <a:defRPr sz="2200" b="1">
                <a:solidFill>
                  <a:srgbClr val="990000"/>
                </a:solidFill>
                <a:latin typeface="Arial" panose="020B0604020202020204"/>
              </a:defRPr>
            </a:pPr>
            <a:r>
              <a:rPr lang="en-US" altLang="en-GB" sz="2400">
                <a:sym typeface="+mn-ea"/>
              </a:rPr>
              <a:t>KỊCH BẢN THỬ NGHIỆM &amp; KẾT QUẢ</a:t>
            </a:r>
            <a:endParaRPr lang="en-US" altLang="en-GB" sz="2400">
              <a:sym typeface="+mn-ea"/>
            </a:endParaRPr>
          </a:p>
        </p:txBody>
      </p:sp>
      <p:sp>
        <p:nvSpPr>
          <p:cNvPr id="112" name="TextBox 111"/>
          <p:cNvSpPr txBox="1"/>
          <p:nvPr/>
        </p:nvSpPr>
        <p:spPr>
          <a:xfrm>
            <a:off x="226695" y="1429385"/>
            <a:ext cx="6049010" cy="3533140"/>
          </a:xfrm>
          <a:prstGeom prst="rect">
            <a:avLst/>
          </a:prstGeom>
          <a:noFill/>
        </p:spPr>
        <p:txBody>
          <a:bodyPr wrap="square">
            <a:spAutoFit/>
          </a:bodyPr>
          <a:lstStyle/>
          <a:p>
            <a:pPr>
              <a:lnSpc>
                <a:spcPct val="115000"/>
              </a:lnSpc>
              <a:spcAft>
                <a:spcPts val="1000"/>
              </a:spcAft>
            </a:pPr>
            <a:r>
              <a:rPr sz="2000" b="1">
                <a:solidFill>
                  <a:srgbClr val="990000"/>
                </a:solidFill>
                <a:sym typeface="+mn-ea"/>
              </a:rPr>
              <a:t>Triển khai &amp; Kiểm thử</a:t>
            </a:r>
            <a:r>
              <a:rPr sz="2000">
                <a:solidFill>
                  <a:srgbClr val="1E293B"/>
                </a:solidFill>
                <a:sym typeface="+mn-ea"/>
              </a:rPr>
              <a:t>: Đánh giá độ chính xác chẩn đoán toàn luồng đạt </a:t>
            </a:r>
            <a:r>
              <a:rPr sz="2000" b="1">
                <a:solidFill>
                  <a:srgbClr val="990000"/>
                </a:solidFill>
                <a:sym typeface="+mn-ea"/>
              </a:rPr>
              <a:t>95.01%</a:t>
            </a:r>
            <a:r>
              <a:rPr sz="2000">
                <a:solidFill>
                  <a:srgbClr val="1E293B"/>
                </a:solidFill>
                <a:sym typeface="+mn-ea"/>
              </a:rPr>
              <a:t>, độ trễ suy luận trung bình </a:t>
            </a:r>
            <a:r>
              <a:rPr sz="2000" b="1">
                <a:solidFill>
                  <a:srgbClr val="990000"/>
                </a:solidFill>
                <a:sym typeface="+mn-ea"/>
              </a:rPr>
              <a:t>232.27 ms</a:t>
            </a:r>
            <a:r>
              <a:rPr sz="2000">
                <a:solidFill>
                  <a:srgbClr val="1E293B"/>
                </a:solidFill>
                <a:sym typeface="+mn-ea"/>
              </a:rPr>
              <a:t> đầu cuối.</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Kịch bản y khoa đặc thù</a:t>
            </a:r>
            <a:r>
              <a:rPr sz="2000">
                <a:solidFill>
                  <a:srgbClr val="1E293B"/>
                </a:solidFill>
                <a:sym typeface="+mn-ea"/>
              </a:rPr>
              <a:t>: Kiểm thử thành công kịch bản ảnh phơi sáng kém, ảnh chứa nhiễu</a:t>
            </a:r>
            <a:r>
              <a:rPr lang="en-US" sz="2000">
                <a:solidFill>
                  <a:srgbClr val="1E293B"/>
                </a:solidFill>
                <a:sym typeface="+mn-ea"/>
              </a:rPr>
              <a:t> </a:t>
            </a:r>
            <a:r>
              <a:rPr sz="2000">
                <a:solidFill>
                  <a:srgbClr val="1E293B"/>
                </a:solidFill>
                <a:sym typeface="+mn-ea"/>
              </a:rPr>
              <a:t>và bác sĩ vẽ tay mồi bị lỗi.</a:t>
            </a:r>
            <a:endParaRPr sz="2000">
              <a:solidFill>
                <a:srgbClr val="1E293B"/>
              </a:solidFill>
              <a:latin typeface="Arial" panose="020B0604020202020204"/>
            </a:endParaRPr>
          </a:p>
          <a:p>
            <a:pPr>
              <a:lnSpc>
                <a:spcPct val="115000"/>
              </a:lnSpc>
              <a:spcAft>
                <a:spcPts val="1000"/>
              </a:spcAft>
            </a:pPr>
            <a:r>
              <a:rPr sz="2000" b="1">
                <a:solidFill>
                  <a:srgbClr val="990000"/>
                </a:solidFill>
                <a:sym typeface="+mn-ea"/>
              </a:rPr>
              <a:t>Ablation Study</a:t>
            </a:r>
            <a:r>
              <a:rPr sz="2000">
                <a:solidFill>
                  <a:srgbClr val="1E293B"/>
                </a:solidFill>
                <a:sym typeface="+mn-ea"/>
              </a:rPr>
              <a:t>: Việc trích xuất vùng tổn thương cắt ROI bằng mặt nạ giúp tăng độ chính xác phân loại thêm </a:t>
            </a:r>
            <a:r>
              <a:rPr sz="2000" b="1">
                <a:solidFill>
                  <a:srgbClr val="990000"/>
                </a:solidFill>
                <a:sym typeface="+mn-ea"/>
              </a:rPr>
              <a:t>7%</a:t>
            </a:r>
            <a:r>
              <a:rPr sz="2000">
                <a:solidFill>
                  <a:srgbClr val="1E293B"/>
                </a:solidFill>
                <a:sym typeface="+mn-ea"/>
              </a:rPr>
              <a:t> so với ảnh thô.</a:t>
            </a:r>
            <a:endParaRPr sz="2000">
              <a:solidFill>
                <a:srgbClr val="1E293B"/>
              </a:solidFill>
              <a:latin typeface="+mn-lt"/>
              <a:cs typeface="+mn-lt"/>
              <a:sym typeface="+mn-ea"/>
            </a:endParaRPr>
          </a:p>
        </p:txBody>
      </p:sp>
      <p:pic>
        <p:nvPicPr>
          <p:cNvPr id="2" name="Picture 1" descr="inference_breakdown.png"/>
          <p:cNvPicPr>
            <a:picLocks noChangeAspect="1"/>
          </p:cNvPicPr>
          <p:nvPr/>
        </p:nvPicPr>
        <p:blipFill>
          <a:blip r:embed="rId1"/>
          <a:stretch>
            <a:fillRect/>
          </a:stretch>
        </p:blipFill>
        <p:spPr>
          <a:xfrm>
            <a:off x="6312535" y="1381760"/>
            <a:ext cx="5805805" cy="377380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6"/>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a:latin typeface="+mj-lt"/>
                <a:cs typeface="+mj-lt"/>
                <a:sym typeface="+mn-ea"/>
              </a:rPr>
              <a:t>KẾT LUẬN &amp; Đ</a:t>
            </a:r>
            <a:r>
              <a:rPr lang="en-US">
                <a:latin typeface="+mj-lt"/>
                <a:cs typeface="+mj-lt"/>
                <a:sym typeface="+mn-ea"/>
              </a:rPr>
              <a:t>Ó</a:t>
            </a:r>
            <a:r>
              <a:rPr>
                <a:latin typeface="+mj-lt"/>
                <a:cs typeface="+mj-lt"/>
                <a:sym typeface="+mn-ea"/>
              </a:rPr>
              <a:t>NG GÓP XÃ HỘI</a:t>
            </a:r>
            <a:endParaRPr>
              <a:latin typeface="+mj-lt"/>
              <a:cs typeface="+mj-lt"/>
            </a:endParaRPr>
          </a:p>
        </p:txBody>
      </p:sp>
      <p:sp>
        <p:nvSpPr>
          <p:cNvPr id="117" name="Google Shape;117;p6"/>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 name="TextBox 2"/>
          <p:cNvSpPr txBox="1"/>
          <p:nvPr/>
        </p:nvSpPr>
        <p:spPr>
          <a:xfrm>
            <a:off x="47625" y="1052830"/>
            <a:ext cx="12220575" cy="2471420"/>
          </a:xfrm>
          <a:prstGeom prst="rect">
            <a:avLst/>
          </a:prstGeom>
          <a:noFill/>
        </p:spPr>
        <p:txBody>
          <a:bodyPr wrap="square">
            <a:spAutoFit/>
          </a:bodyPr>
          <a:lstStyle/>
          <a:p>
            <a:pPr algn="just">
              <a:lnSpc>
                <a:spcPct val="115000"/>
              </a:lnSpc>
              <a:spcAft>
                <a:spcPts val="1000"/>
              </a:spcAft>
            </a:pPr>
            <a:r>
              <a:rPr sz="2000" b="1">
                <a:solidFill>
                  <a:srgbClr val="990000"/>
                </a:solidFill>
                <a:latin typeface="Arial" panose="020B0604020202020204"/>
              </a:rPr>
              <a:t>Bình đẳng hóa y tế cơ sở</a:t>
            </a:r>
            <a:r>
              <a:rPr sz="2000">
                <a:solidFill>
                  <a:srgbClr val="1E293B"/>
                </a:solidFill>
                <a:latin typeface="Arial" panose="020B0604020202020204"/>
              </a:rPr>
              <a:t>: Cho phép các trạm y tế tuyến trạm/huyện tầm soát sớm ung thư da với chi phí tối thiểu, mang công nghệ chất lượng cao đến vùng sâu vùng xa.</a:t>
            </a:r>
            <a:endParaRPr sz="2000">
              <a:solidFill>
                <a:srgbClr val="1E293B"/>
              </a:solidFill>
              <a:latin typeface="Arial" panose="020B0604020202020204"/>
            </a:endParaRPr>
          </a:p>
          <a:p>
            <a:pPr algn="just">
              <a:lnSpc>
                <a:spcPct val="115000"/>
              </a:lnSpc>
              <a:spcAft>
                <a:spcPts val="1000"/>
              </a:spcAft>
            </a:pPr>
            <a:r>
              <a:rPr sz="2000" b="1">
                <a:solidFill>
                  <a:srgbClr val="990000"/>
                </a:solidFill>
                <a:latin typeface="Arial" panose="020B0604020202020204"/>
              </a:rPr>
              <a:t>Hỗ trợ tự đào tạo bác sĩ</a:t>
            </a:r>
            <a:r>
              <a:rPr sz="2000">
                <a:solidFill>
                  <a:srgbClr val="1E293B"/>
                </a:solidFill>
                <a:latin typeface="Arial" panose="020B0604020202020204"/>
              </a:rPr>
              <a:t>: Trợ lý VQA RAG y văn Bộ Y tế hoạt động như cố vấn y khoa 24/7 trực quan cho bác sĩ đa khoa.</a:t>
            </a:r>
            <a:endParaRPr sz="2000">
              <a:solidFill>
                <a:srgbClr val="1E293B"/>
              </a:solidFill>
              <a:latin typeface="Arial" panose="020B0604020202020204"/>
            </a:endParaRPr>
          </a:p>
          <a:p>
            <a:pPr algn="just">
              <a:lnSpc>
                <a:spcPct val="115000"/>
              </a:lnSpc>
              <a:spcAft>
                <a:spcPts val="1000"/>
              </a:spcAft>
            </a:pPr>
            <a:r>
              <a:rPr sz="2000" b="1">
                <a:solidFill>
                  <a:srgbClr val="990000"/>
                </a:solidFill>
                <a:latin typeface="Arial" panose="020B0604020202020204"/>
              </a:rPr>
              <a:t>Kết luận</a:t>
            </a:r>
            <a:r>
              <a:rPr sz="2000">
                <a:solidFill>
                  <a:srgbClr val="1E293B"/>
                </a:solidFill>
                <a:latin typeface="Arial" panose="020B0604020202020204"/>
              </a:rPr>
              <a:t>: Xây dựng thành công hệ thống hỗ trợ chẩn đoán CDSS da liễu đa phương thức hoàn chỉnh, hoạt động offline ổn định, bảo mật cao và tối ưu tốc độ phản hồi lâm sàng.</a:t>
            </a:r>
            <a:endParaRPr sz="2000">
              <a:solidFill>
                <a:srgbClr val="1E293B"/>
              </a:solidFill>
              <a:latin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21" name="Shape 121"/>
        <p:cNvGrpSpPr/>
        <p:nvPr/>
      </p:nvGrpSpPr>
      <p:grpSpPr>
        <a:xfrm>
          <a:off x="0" y="0"/>
          <a:ext cx="0" cy="0"/>
          <a:chOff x="0" y="0"/>
          <a:chExt cx="0" cy="0"/>
        </a:xfrm>
      </p:grpSpPr>
      <p:sp>
        <p:nvSpPr>
          <p:cNvPr id="122" name="Google Shape;122;p7"/>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p>
        </p:txBody>
      </p:sp>
      <p:sp>
        <p:nvSpPr>
          <p:cNvPr id="123" name="Google Shape;123;p7"/>
          <p:cNvSpPr/>
          <p:nvPr>
            <p:ph type="chart" idx="2"/>
          </p:nvPr>
        </p:nvSpPr>
        <p:spPr>
          <a:xfrm>
            <a:off x="338736" y="1406525"/>
            <a:ext cx="5757264" cy="4670425"/>
          </a:xfrm>
          <a:prstGeom prst="rect">
            <a:avLst/>
          </a:prstGeom>
          <a:noFill/>
          <a:ln>
            <a:noFill/>
          </a:ln>
        </p:spPr>
      </p:sp>
      <p:sp>
        <p:nvSpPr>
          <p:cNvPr id="124" name="Google Shape;124;p7"/>
          <p:cNvSpPr/>
          <p:nvPr>
            <p:ph type="tbl" idx="3"/>
          </p:nvPr>
        </p:nvSpPr>
        <p:spPr>
          <a:xfrm>
            <a:off x="6210300" y="1392239"/>
            <a:ext cx="5592763" cy="4684712"/>
          </a:xfrm>
          <a:prstGeom prst="rect">
            <a:avLst/>
          </a:prstGeom>
          <a:noFill/>
          <a:ln>
            <a:noFill/>
          </a:ln>
        </p:spPr>
      </p:sp>
      <p:sp>
        <p:nvSpPr>
          <p:cNvPr id="125" name="Google Shape;125;p7"/>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8"/>
          <p:cNvSpPr txBox="1"/>
          <p:nvPr>
            <p:ph type="body" idx="1"/>
          </p:nvPr>
        </p:nvSpPr>
        <p:spPr>
          <a:xfrm>
            <a:off x="4558372" y="1248325"/>
            <a:ext cx="7391400" cy="5205412"/>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p>
        </p:txBody>
      </p:sp>
      <p:sp>
        <p:nvSpPr>
          <p:cNvPr id="131" name="Google Shape;131;p8"/>
          <p:cNvSpPr txBox="1"/>
          <p:nvPr>
            <p:ph type="title"/>
          </p:nvPr>
        </p:nvSpPr>
        <p:spPr>
          <a:xfrm>
            <a:off x="4558372" y="404265"/>
            <a:ext cx="7391400"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Font typeface="Lato" panose="020F0502020204030203"/>
              <a:buNone/>
            </a:pPr>
          </a:p>
        </p:txBody>
      </p:sp>
      <p:sp>
        <p:nvSpPr>
          <p:cNvPr id="132" name="Google Shape;132;p8"/>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36" name="Shape 136"/>
        <p:cNvGrpSpPr/>
        <p:nvPr/>
      </p:nvGrpSpPr>
      <p:grpSpPr>
        <a:xfrm>
          <a:off x="0" y="0"/>
          <a:ext cx="0" cy="0"/>
          <a:chOff x="0" y="0"/>
          <a:chExt cx="0" cy="0"/>
        </a:xfrm>
      </p:grpSpPr>
      <p:sp>
        <p:nvSpPr>
          <p:cNvPr id="137" name="Google Shape;137;p9"/>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p>
        </p:txBody>
      </p:sp>
      <p:sp>
        <p:nvSpPr>
          <p:cNvPr id="138" name="Google Shape;138;p9"/>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p>
        </p:txBody>
      </p:sp>
      <p:sp>
        <p:nvSpPr>
          <p:cNvPr id="139" name="Google Shape;139;p9"/>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10"/>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45" name="Google Shape;145;p10"/>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p>
        </p:txBody>
      </p:sp>
      <p:sp>
        <p:nvSpPr>
          <p:cNvPr id="146" name="Google Shape;146;p10"/>
          <p:cNvSpPr/>
          <p:nvPr>
            <p:ph type="chart" idx="2"/>
          </p:nvPr>
        </p:nvSpPr>
        <p:spPr>
          <a:xfrm>
            <a:off x="330201" y="1406769"/>
            <a:ext cx="5765800" cy="4655894"/>
          </a:xfrm>
          <a:prstGeom prst="rect">
            <a:avLst/>
          </a:prstGeom>
          <a:noFill/>
          <a:ln>
            <a:noFill/>
          </a:ln>
        </p:spPr>
      </p:sp>
      <p:sp>
        <p:nvSpPr>
          <p:cNvPr id="147" name="Google Shape;147;p10"/>
          <p:cNvSpPr/>
          <p:nvPr>
            <p:ph type="pic" idx="3"/>
          </p:nvPr>
        </p:nvSpPr>
        <p:spPr>
          <a:xfrm>
            <a:off x="6238875" y="1414463"/>
            <a:ext cx="5445125" cy="4656137"/>
          </a:xfrm>
          <a:prstGeom prst="rect">
            <a:avLst/>
          </a:prstGeom>
          <a:noFill/>
          <a:ln>
            <a:no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p>
        </p:txBody>
      </p:sp>
      <p:sp>
        <p:nvSpPr>
          <p:cNvPr id="153" name="Google Shape;153;p11"/>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p>
        </p:txBody>
      </p:sp>
      <p:sp>
        <p:nvSpPr>
          <p:cNvPr id="154" name="Google Shape;154;p11"/>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sp>
        <p:nvSpPr>
          <p:cNvPr id="159" name="Google Shape;159;p12"/>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60" name="Google Shape;160;p12"/>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p>
        </p:txBody>
      </p:sp>
      <p:sp>
        <p:nvSpPr>
          <p:cNvPr id="161" name="Google Shape;161;p12"/>
          <p:cNvSpPr/>
          <p:nvPr>
            <p:ph type="chart" idx="2"/>
          </p:nvPr>
        </p:nvSpPr>
        <p:spPr>
          <a:xfrm>
            <a:off x="330201" y="1406769"/>
            <a:ext cx="5765800" cy="4655894"/>
          </a:xfrm>
          <a:prstGeom prst="rect">
            <a:avLst/>
          </a:prstGeom>
          <a:noFill/>
          <a:ln>
            <a:noFill/>
          </a:ln>
        </p:spPr>
      </p:sp>
      <p:sp>
        <p:nvSpPr>
          <p:cNvPr id="162" name="Google Shape;162;p12"/>
          <p:cNvSpPr/>
          <p:nvPr>
            <p:ph type="pic" idx="3"/>
          </p:nvPr>
        </p:nvSpPr>
        <p:spPr>
          <a:xfrm>
            <a:off x="6238875" y="1414463"/>
            <a:ext cx="5445125" cy="4656137"/>
          </a:xfrm>
          <a:prstGeom prst="rect">
            <a:avLst/>
          </a:prstGeom>
          <a:noFill/>
          <a:ln>
            <a:no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TextBox 166"/>
          <p:cNvSpPr txBox="1"/>
          <p:nvPr/>
        </p:nvSpPr>
        <p:spPr>
          <a:xfrm>
            <a:off x="548640" y="2011680"/>
            <a:ext cx="8046720" cy="4114800"/>
          </a:xfrm>
          <a:prstGeom prst="rect">
            <a:avLst/>
          </a:prstGeom>
          <a:noFill/>
        </p:spPr>
        <p:txBody>
          <a:bodyPr wrap="square">
            <a:spAutoFit/>
          </a:bodyPr>
          <a:lstStyle/>
          <a:p>
            <a:pPr algn="l">
              <a:defRPr sz="3200" b="1">
                <a:solidFill>
                  <a:srgbClr val="FFFFFF"/>
                </a:solidFill>
                <a:latin typeface="Arial"/>
              </a:defRPr>
            </a:pPr>
            <a:r>
              <a:t>XIN CHÂN THÀNH CẢM ƠN !</a:t>
            </a:r>
          </a:p>
          <a:p>
            <a:br/>
            <a:pPr algn="l">
              <a:defRPr sz="1400" b="1">
                <a:solidFill>
                  <a:srgbClr val="E2E8F0"/>
                </a:solidFill>
                <a:latin typeface="Arial"/>
              </a:defRPr>
            </a:pPr>
            <a:r>
              <a:t>Em xin trân trọng cảm ơn các Thầy Cô trong Hội đồng đã lắng nghe</a:t>
            </a:r>
            <a:br/>
            <a:r>
              <a:t>và hướng dẫn em hoàn thành đồ án tốt nghiệp này!</a:t>
            </a:r>
            <a:br/>
            <a:br/>
            <a:r>
              <a:t>Q&amp;A - PHẦN TRẢ LỜI CÂU HỎI CỦA HỘI ĐỒNG BẢO VỆ</a:t>
            </a:r>
          </a:p>
        </p:txBody>
      </p:sp>
    </p:spTree>
  </p:cSld>
  <p:clrMapOvr>
    <a:masterClrMapping/>
  </p:clrMapOvr>
</p:sld>
</file>

<file path=ppt/tags/tag1.xml><?xml version="1.0" encoding="utf-8"?>
<p:tagLst xmlns:p="http://schemas.openxmlformats.org/presentationml/2006/main">
  <p:tag name="KSO_WM_DIAGRAM_VIRTUALLY_FRAME" val="{&quot;height&quot;:402.15,&quot;left&quot;:281.5,&quot;top&quot;:80.2,&quot;width&quot;:701.95}"/>
</p:tagLst>
</file>

<file path=ppt/tags/tag2.xml><?xml version="1.0" encoding="utf-8"?>
<p:tagLst xmlns:p="http://schemas.openxmlformats.org/presentationml/2006/main">
  <p:tag name="KSO_WM_DIAGRAM_VIRTUALLY_FRAME" val="{&quot;height&quot;:402.15,&quot;left&quot;:281.5,&quot;top&quot;:80.2,&quot;width&quot;:701.95}"/>
</p:tagLst>
</file>

<file path=ppt/tags/tag3.xml><?xml version="1.0" encoding="utf-8"?>
<p:tagLst xmlns:p="http://schemas.openxmlformats.org/presentationml/2006/main">
  <p:tag name="KSO_WM_DIAGRAM_VIRTUALLY_FRAME" val="{&quot;height&quot;:402.15,&quot;left&quot;:281.5,&quot;top&quot;:80.2,&quot;width&quot;:701.95}"/>
</p:tagLst>
</file>

<file path=ppt/tags/tag4.xml><?xml version="1.0" encoding="utf-8"?>
<p:tagLst xmlns:p="http://schemas.openxmlformats.org/presentationml/2006/main">
  <p:tag name="KSO_WM_DIAGRAM_VIRTUALLY_FRAME" val="{&quot;height&quot;:402.15,&quot;left&quot;:281.5,&quot;top&quot;:80.2,&quot;width&quot;:701.95}"/>
</p:tagLst>
</file>

<file path=ppt/tags/tag5.xml><?xml version="1.0" encoding="utf-8"?>
<p:tagLst xmlns:p="http://schemas.openxmlformats.org/presentationml/2006/main">
  <p:tag name="KSO_WM_DIAGRAM_VIRTUALLY_FRAME" val="{&quot;height&quot;:402.15,&quot;left&quot;:281.5,&quot;top&quot;:80.2,&quot;width&quot;:701.95}"/>
</p:tagLst>
</file>

<file path=ppt/tags/tag6.xml><?xml version="1.0" encoding="utf-8"?>
<p:tagLst xmlns:p="http://schemas.openxmlformats.org/presentationml/2006/main">
  <p:tag name="KSO_WM_DIAGRAM_VIRTUALLY_FRAME" val="{&quot;height&quot;:402.15,&quot;left&quot;:281.5,&quot;top&quot;:80.2,&quot;width&quot;:701.95}"/>
</p:tagLst>
</file>

<file path=ppt/tags/tag7.xml><?xml version="1.0" encoding="utf-8"?>
<p:tagLst xmlns:p="http://schemas.openxmlformats.org/presentationml/2006/main">
  <p:tag name="KSO_WM_DIAGRAM_VIRTUALLY_FRAME" val="{&quot;height&quot;:402.15,&quot;left&quot;:281.5,&quot;top&quot;:80.2,&quot;width&quot;:701.95}"/>
</p:tagLst>
</file>

<file path=ppt/tags/tag8.xml><?xml version="1.0" encoding="utf-8"?>
<p:tagLst xmlns:p="http://schemas.openxmlformats.org/presentationml/2006/main">
  <p:tag name="KSO_WM_DIAGRAM_VIRTUALLY_FRAME" val="{&quot;height&quot;:402.15,&quot;left&quot;:281.5,&quot;top&quot;:80.2,&quot;width&quot;:701.95}"/>
</p:tagLst>
</file>

<file path=ppt/tags/tag9.xml><?xml version="1.0" encoding="utf-8"?>
<p:tagLst xmlns:p="http://schemas.openxmlformats.org/presentationml/2006/main">
  <p:tag name="KSO_WM_DIAGRAM_VIRTUALLY_FRAME" val="{&quot;height&quot;:402.15,&quot;left&quot;:281.5,&quot;top&quot;:80.2,&quot;width&quot;:701.95}"/>
</p:tagLst>
</file>

<file path=ppt/tags/tag10.xml><?xml version="1.0" encoding="utf-8"?>
<p:tagLst xmlns:p="http://schemas.openxmlformats.org/presentationml/2006/main">
  <p:tag name="KSO_WM_DIAGRAM_VIRTUALLY_FRAME" val="{&quot;height&quot;:402.15,&quot;left&quot;:281.5,&quot;top&quot;:80.2,&quot;width&quot;:701.95}"/>
</p:tagLst>
</file>

<file path=ppt/tags/tag11.xml><?xml version="1.0" encoding="utf-8"?>
<p:tagLst xmlns:p="http://schemas.openxmlformats.org/presentationml/2006/main">
  <p:tag name="KSO_WM_DIAGRAM_VIRTUALLY_FRAME" val="{&quot;height&quot;:402.15,&quot;left&quot;:281.5,&quot;top&quot;:80.2,&quot;width&quot;:701.95}"/>
</p:tagLst>
</file>

<file path=ppt/tags/tag12.xml><?xml version="1.0" encoding="utf-8"?>
<p:tagLst xmlns:p="http://schemas.openxmlformats.org/presentationml/2006/main">
  <p:tag name="KSO_WM_DIAGRAM_VIRTUALLY_FRAME" val="{&quot;height&quot;:402.15,&quot;left&quot;:281.5,&quot;top&quot;:80.2,&quot;width&quot;:701.95}"/>
</p:tagLst>
</file>

<file path=ppt/tags/tag13.xml><?xml version="1.0" encoding="utf-8"?>
<p:tagLst xmlns:p="http://schemas.openxmlformats.org/presentationml/2006/main">
  <p:tag name="KSO_WM_DIAGRAM_VIRTUALLY_FRAME" val="{&quot;height&quot;:402.15,&quot;left&quot;:281.5,&quot;top&quot;:80.2,&quot;width&quot;:701.95}"/>
</p:tagLst>
</file>

<file path=ppt/tags/tag14.xml><?xml version="1.0" encoding="utf-8"?>
<p:tagLst xmlns:p="http://schemas.openxmlformats.org/presentationml/2006/main">
  <p:tag name="KSO_WM_DIAGRAM_VIRTUALLY_FRAME" val="{&quot;height&quot;:402.15,&quot;left&quot;:281.5,&quot;top&quot;:80.2,&quot;width&quot;:701.95}"/>
</p:tagLst>
</file>

<file path=ppt/tags/tag15.xml><?xml version="1.0" encoding="utf-8"?>
<p:tagLst xmlns:p="http://schemas.openxmlformats.org/presentationml/2006/main">
  <p:tag name="KSO_WM_DIAGRAM_VIRTUALLY_FRAME" val="{&quot;height&quot;:402.15,&quot;left&quot;:281.5,&quot;top&quot;:80.2,&quot;width&quot;:701.95}"/>
</p:tagLst>
</file>

<file path=ppt/tags/tag16.xml><?xml version="1.0" encoding="utf-8"?>
<p:tagLst xmlns:p="http://schemas.openxmlformats.org/presentationml/2006/main">
  <p:tag name="KSO_WM_DIAGRAM_VIRTUALLY_FRAME" val="{&quot;height&quot;:402.15,&quot;left&quot;:281.5,&quot;top&quot;:80.2,&quot;width&quot;:701.95}"/>
</p:tagLst>
</file>

<file path=ppt/tags/tag17.xml><?xml version="1.0" encoding="utf-8"?>
<p:tagLst xmlns:p="http://schemas.openxmlformats.org/presentationml/2006/main">
  <p:tag name="KSO_WM_DIAGRAM_VIRTUALLY_FRAME" val="{&quot;height&quot;:402.15,&quot;left&quot;:281.5,&quot;top&quot;:80.2,&quot;width&quot;:701.95}"/>
</p:tagLst>
</file>

<file path=ppt/tags/tag18.xml><?xml version="1.0" encoding="utf-8"?>
<p:tagLst xmlns:p="http://schemas.openxmlformats.org/presentationml/2006/main">
  <p:tag name="KSO_WM_DIAGRAM_VIRTUALLY_FRAME" val="{&quot;height&quot;:402.15,&quot;left&quot;:281.5,&quot;top&quot;:80.2,&quot;width&quot;:701.95}"/>
</p:tagLst>
</file>

<file path=ppt/tags/tag19.xml><?xml version="1.0" encoding="utf-8"?>
<p:tagLst xmlns:p="http://schemas.openxmlformats.org/presentationml/2006/main">
  <p:tag name="KSO_WM_DIAGRAM_VIRTUALLY_FRAME" val="{&quot;height&quot;:402.15,&quot;left&quot;:281.5,&quot;top&quot;:80.2,&quot;width&quot;:701.95}"/>
</p:tagLst>
</file>

<file path=ppt/tags/tag20.xml><?xml version="1.0" encoding="utf-8"?>
<p:tagLst xmlns:p="http://schemas.openxmlformats.org/presentationml/2006/main">
  <p:tag name="KSO_WM_DIAGRAM_VIRTUALLY_FRAME" val="{&quot;height&quot;:402.15,&quot;left&quot;:281.5,&quot;top&quot;:80.2,&quot;width&quot;:701.95}"/>
</p:tagLst>
</file>

<file path=ppt/tags/tag21.xml><?xml version="1.0" encoding="utf-8"?>
<p:tagLst xmlns:p="http://schemas.openxmlformats.org/presentationml/2006/main">
  <p:tag name="KSO_WM_DIAGRAM_VIRTUALLY_FRAME" val="{&quot;height&quot;:402.15,&quot;left&quot;:281.5,&quot;top&quot;:80.2,&quot;width&quot;:701.95}"/>
</p:tagLst>
</file>

<file path=ppt/tags/tag22.xml><?xml version="1.0" encoding="utf-8"?>
<p:tagLst xmlns:p="http://schemas.openxmlformats.org/presentationml/2006/main">
  <p:tag name="KSO_WM_DIAGRAM_VIRTUALLY_FRAME" val="{&quot;height&quot;:402.15,&quot;left&quot;:281.5,&quot;top&quot;:80.2,&quot;width&quot;:701.95}"/>
</p:tagLst>
</file>

<file path=ppt/tags/tag23.xml><?xml version="1.0" encoding="utf-8"?>
<p:tagLst xmlns:p="http://schemas.openxmlformats.org/presentationml/2006/main">
  <p:tag name="KSO_WM_DIAGRAM_VIRTUALLY_FRAME" val="{&quot;height&quot;:402.15,&quot;left&quot;:281.5,&quot;top&quot;:80.2,&quot;width&quot;:701.95}"/>
</p:tagLst>
</file>

<file path=ppt/tags/tag24.xml><?xml version="1.0" encoding="utf-8"?>
<p:tagLst xmlns:p="http://schemas.openxmlformats.org/presentationml/2006/main">
  <p:tag name="KSO_WM_DIAGRAM_VIRTUALLY_FRAME" val="{&quot;height&quot;:402.15,&quot;left&quot;:281.5,&quot;top&quot;:80.2,&quot;width&quot;:701.95}"/>
</p:tagLst>
</file>

<file path=ppt/tags/tag25.xml><?xml version="1.0" encoding="utf-8"?>
<p:tagLst xmlns:p="http://schemas.openxmlformats.org/presentationml/2006/main">
  <p:tag name="KSO_WM_DIAGRAM_VIRTUALLY_FRAME" val="{&quot;height&quot;:402.15,&quot;left&quot;:281.5,&quot;top&quot;:80.2,&quot;width&quot;:701.95}"/>
</p:tagLst>
</file>

<file path=ppt/tags/tag26.xml><?xml version="1.0" encoding="utf-8"?>
<p:tagLst xmlns:p="http://schemas.openxmlformats.org/presentationml/2006/main">
  <p:tag name="KSO_WM_DIAGRAM_VIRTUALLY_FRAME" val="{&quot;height&quot;:402.15,&quot;left&quot;:281.5,&quot;top&quot;:80.2,&quot;width&quot;:701.95}"/>
</p:tagLst>
</file>

<file path=ppt/tags/tag27.xml><?xml version="1.0" encoding="utf-8"?>
<p:tagLst xmlns:p="http://schemas.openxmlformats.org/presentationml/2006/main">
  <p:tag name="KSO_WM_DIAGRAM_VIRTUALLY_FRAME" val="{&quot;height&quot;:402.15,&quot;left&quot;:281.5,&quot;top&quot;:80.2,&quot;width&quot;:701.95}"/>
</p:tagLst>
</file>

<file path=ppt/tags/tag28.xml><?xml version="1.0" encoding="utf-8"?>
<p:tagLst xmlns:p="http://schemas.openxmlformats.org/presentationml/2006/main">
  <p:tag name="KSO_WM_DIAGRAM_VIRTUALLY_FRAME" val="{&quot;height&quot;:402.15,&quot;left&quot;:281.5,&quot;top&quot;:80.2,&quot;width&quot;:701.95}"/>
</p:tagLst>
</file>

<file path=ppt/tags/tag29.xml><?xml version="1.0" encoding="utf-8"?>
<p:tagLst xmlns:p="http://schemas.openxmlformats.org/presentationml/2006/main">
  <p:tag name="KSO_WM_DIAGRAM_VIRTUALLY_FRAME" val="{&quot;height&quot;:402.15,&quot;left&quot;:281.5,&quot;top&quot;:80.2,&quot;width&quot;:701.95}"/>
</p:tagLst>
</file>

<file path=ppt/tags/tag30.xml><?xml version="1.0" encoding="utf-8"?>
<p:tagLst xmlns:p="http://schemas.openxmlformats.org/presentationml/2006/main">
  <p:tag name="KSO_WM_DIAGRAM_VIRTUALLY_FRAME" val="{&quot;height&quot;:402.15,&quot;left&quot;:281.5,&quot;top&quot;:80.2,&quot;width&quot;:701.95}"/>
</p:tagLst>
</file>

<file path=ppt/tags/tag31.xml><?xml version="1.0" encoding="utf-8"?>
<p:tagLst xmlns:p="http://schemas.openxmlformats.org/presentationml/2006/main">
  <p:tag name="KSO_WM_DIAGRAM_VIRTUALLY_FRAME" val="{&quot;height&quot;:402.15,&quot;left&quot;:281.5,&quot;top&quot;:80.2,&quot;width&quot;:701.95}"/>
</p:tagLst>
</file>

<file path=ppt/tags/tag32.xml><?xml version="1.0" encoding="utf-8"?>
<p:tagLst xmlns:p="http://schemas.openxmlformats.org/presentationml/2006/main">
  <p:tag name="KSO_WM_DIAGRAM_VIRTUALLY_FRAME" val="{&quot;height&quot;:402.15,&quot;left&quot;:281.5,&quot;top&quot;:80.2,&quot;width&quot;:701.95}"/>
</p:tagLst>
</file>

<file path=ppt/tags/tag33.xml><?xml version="1.0" encoding="utf-8"?>
<p:tagLst xmlns:p="http://schemas.openxmlformats.org/presentationml/2006/main">
  <p:tag name="KSO_WM_DIAGRAM_VIRTUALLY_FRAME" val="{&quot;height&quot;:402.15,&quot;left&quot;:281.5,&quot;top&quot;:80.2,&quot;width&quot;:701.95}"/>
</p:tagLst>
</file>

<file path=ppt/tags/tag34.xml><?xml version="1.0" encoding="utf-8"?>
<p:tagLst xmlns:p="http://schemas.openxmlformats.org/presentationml/2006/main">
  <p:tag name="KSO_WM_DIAGRAM_VIRTUALLY_FRAME" val="{&quot;height&quot;:402.15,&quot;left&quot;:281.5,&quot;top&quot;:80.2,&quot;width&quot;:701.95}"/>
</p:tagLst>
</file>

<file path=ppt/tags/tag35.xml><?xml version="1.0" encoding="utf-8"?>
<p:tagLst xmlns:p="http://schemas.openxmlformats.org/presentationml/2006/main">
  <p:tag name="KSO_WM_DIAGRAM_VIRTUALLY_FRAME" val="{&quot;height&quot;:402.15,&quot;left&quot;:281.5,&quot;top&quot;:80.2,&quot;width&quot;:701.95}"/>
</p:tagLst>
</file>

<file path=ppt/tags/tag36.xml><?xml version="1.0" encoding="utf-8"?>
<p:tagLst xmlns:p="http://schemas.openxmlformats.org/presentationml/2006/main">
  <p:tag name="KSO_WM_DIAGRAM_VIRTUALLY_FRAME" val="{&quot;height&quot;:402.15,&quot;left&quot;:281.5,&quot;top&quot;:80.2,&quot;width&quot;:701.95}"/>
</p:tagLst>
</file>

<file path=ppt/tags/tag37.xml><?xml version="1.0" encoding="utf-8"?>
<p:tagLst xmlns:p="http://schemas.openxmlformats.org/presentationml/2006/main">
  <p:tag name="KSO_WM_DIAGRAM_VIRTUALLY_FRAME" val="{&quot;height&quot;:402.15,&quot;left&quot;:281.5,&quot;top&quot;:80.2,&quot;width&quot;:701.95}"/>
</p:tagLst>
</file>

<file path=ppt/tags/tag38.xml><?xml version="1.0" encoding="utf-8"?>
<p:tagLst xmlns:p="http://schemas.openxmlformats.org/presentationml/2006/main">
  <p:tag name="KSO_WM_DIAGRAM_VIRTUALLY_FRAME" val="{&quot;height&quot;:402.15,&quot;left&quot;:281.5,&quot;top&quot;:80.2,&quot;width&quot;:701.95}"/>
</p:tagLst>
</file>

<file path=ppt/tags/tag39.xml><?xml version="1.0" encoding="utf-8"?>
<p:tagLst xmlns:p="http://schemas.openxmlformats.org/presentationml/2006/main">
  <p:tag name="KSO_WM_DIAGRAM_VIRTUALLY_FRAME" val="{&quot;height&quot;:402.15,&quot;left&quot;:281.5,&quot;top&quot;:80.2,&quot;width&quot;:701.95}"/>
</p:tagLst>
</file>

<file path=ppt/tags/tag40.xml><?xml version="1.0" encoding="utf-8"?>
<p:tagLst xmlns:p="http://schemas.openxmlformats.org/presentationml/2006/main">
  <p:tag name="KSO_WM_DIAGRAM_VIRTUALLY_FRAME" val="{&quot;height&quot;:402.15,&quot;left&quot;:281.5,&quot;top&quot;:80.2,&quot;width&quot;:701.95}"/>
</p:tagLst>
</file>

<file path=ppt/tags/tag41.xml><?xml version="1.0" encoding="utf-8"?>
<p:tagLst xmlns:p="http://schemas.openxmlformats.org/presentationml/2006/main">
  <p:tag name="KSO_WM_DIAGRAM_VIRTUALLY_FRAME" val="{&quot;height&quot;:402.15,&quot;left&quot;:281.5,&quot;top&quot;:80.2,&quot;width&quot;:701.95}"/>
</p:tagLst>
</file>

<file path=ppt/tags/tag42.xml><?xml version="1.0" encoding="utf-8"?>
<p:tagLst xmlns:p="http://schemas.openxmlformats.org/presentationml/2006/main">
  <p:tag name="KSO_WM_DIAGRAM_VIRTUALLY_FRAME" val="{&quot;height&quot;:402.15,&quot;left&quot;:281.5,&quot;top&quot;:80.2,&quot;width&quot;:701.95}"/>
</p:tagLst>
</file>

<file path=ppt/tags/tag43.xml><?xml version="1.0" encoding="utf-8"?>
<p:tagLst xmlns:p="http://schemas.openxmlformats.org/presentationml/2006/main">
  <p:tag name="KSO_WM_DIAGRAM_VIRTUALLY_FRAME" val="{&quot;height&quot;:402.15,&quot;left&quot;:281.5,&quot;top&quot;:80.2,&quot;width&quot;:701.95}"/>
</p:tagLst>
</file>

<file path=ppt/tags/tag44.xml><?xml version="1.0" encoding="utf-8"?>
<p:tagLst xmlns:p="http://schemas.openxmlformats.org/presentationml/2006/main">
  <p:tag name="KSO_WM_DIAGRAM_VIRTUALLY_FRAME" val="{&quot;height&quot;:402.15,&quot;left&quot;:281.5,&quot;top&quot;:80.2,&quot;width&quot;:701.95}"/>
</p:tagLst>
</file>

<file path=ppt/tags/tag45.xml><?xml version="1.0" encoding="utf-8"?>
<p:tagLst xmlns:p="http://schemas.openxmlformats.org/presentationml/2006/main">
  <p:tag name="KSO_WM_DIAGRAM_VIRTUALLY_FRAME" val="{&quot;height&quot;:402.15,&quot;left&quot;:281.5,&quot;top&quot;:80.2,&quot;width&quot;:701.95}"/>
</p:tagLst>
</file>

<file path=ppt/tags/tag46.xml><?xml version="1.0" encoding="utf-8"?>
<p:tagLst xmlns:p="http://schemas.openxmlformats.org/presentationml/2006/main">
  <p:tag name="KSO_WM_DIAGRAM_VIRTUALLY_FRAME" val="{&quot;height&quot;:402.15,&quot;left&quot;:281.5,&quot;top&quot;:80.2,&quot;width&quot;:701.95}"/>
</p:tagLst>
</file>

<file path=ppt/tags/tag47.xml><?xml version="1.0" encoding="utf-8"?>
<p:tagLst xmlns:p="http://schemas.openxmlformats.org/presentationml/2006/main">
  <p:tag name="KSO_WM_DIAGRAM_VIRTUALLY_FRAME" val="{&quot;height&quot;:402.15,&quot;left&quot;:281.5,&quot;top&quot;:80.2,&quot;width&quot;:701.95}"/>
</p:tagLst>
</file>

<file path=ppt/tags/tag48.xml><?xml version="1.0" encoding="utf-8"?>
<p:tagLst xmlns:p="http://schemas.openxmlformats.org/presentationml/2006/main">
  <p:tag name="KSO_WM_DIAGRAM_VIRTUALLY_FRAME" val="{&quot;height&quot;:402.15,&quot;left&quot;:281.5,&quot;top&quot;:80.2,&quot;width&quot;:701.95}"/>
</p:tagLst>
</file>

<file path=ppt/tags/tag49.xml><?xml version="1.0" encoding="utf-8"?>
<p:tagLst xmlns:p="http://schemas.openxmlformats.org/presentationml/2006/main">
  <p:tag name="KSO_WM_DIAGRAM_VIRTUALLY_FRAME" val="{&quot;height&quot;:402.15,&quot;left&quot;:281.5,&quot;top&quot;:80.2,&quot;width&quot;:701.95}"/>
</p:tagLst>
</file>

<file path=ppt/tags/tag50.xml><?xml version="1.0" encoding="utf-8"?>
<p:tagLst xmlns:p="http://schemas.openxmlformats.org/presentationml/2006/main">
  <p:tag name="KSO_WM_DIAGRAM_VIRTUALLY_FRAME" val="{&quot;height&quot;:402.15,&quot;left&quot;:281.5,&quot;top&quot;:80.2,&quot;width&quot;:701.95}"/>
</p:tagLst>
</file>

<file path=ppt/tags/tag51.xml><?xml version="1.0" encoding="utf-8"?>
<p:tagLst xmlns:p="http://schemas.openxmlformats.org/presentationml/2006/main">
  <p:tag name="KSO_WM_DIAGRAM_VIRTUALLY_FRAME" val="{&quot;height&quot;:402.15,&quot;left&quot;:281.5,&quot;top&quot;:80.2,&quot;width&quot;:701.95}"/>
</p:tagLst>
</file>

<file path=ppt/tags/tag52.xml><?xml version="1.0" encoding="utf-8"?>
<p:tagLst xmlns:p="http://schemas.openxmlformats.org/presentationml/2006/main">
  <p:tag name="KSO_WM_DIAGRAM_VIRTUALLY_FRAME" val="{&quot;height&quot;:402.15,&quot;left&quot;:281.5,&quot;top&quot;:80.2,&quot;width&quot;:701.95}"/>
</p:tagLst>
</file>

<file path=ppt/tags/tag53.xml><?xml version="1.0" encoding="utf-8"?>
<p:tagLst xmlns:p="http://schemas.openxmlformats.org/presentationml/2006/main">
  <p:tag name="KSO_WM_DIAGRAM_VIRTUALLY_FRAME" val="{&quot;height&quot;:402.15,&quot;left&quot;:281.5,&quot;top&quot;:80.2,&quot;width&quot;:701.95}"/>
</p:tagLst>
</file>

<file path=ppt/tags/tag54.xml><?xml version="1.0" encoding="utf-8"?>
<p:tagLst xmlns:p="http://schemas.openxmlformats.org/presentationml/2006/main">
  <p:tag name="KSO_WM_DIAGRAM_VIRTUALLY_FRAME" val="{&quot;height&quot;:402.15,&quot;left&quot;:281.5,&quot;top&quot;:80.2,&quot;width&quot;:701.95}"/>
</p:tagLst>
</file>

<file path=ppt/tags/tag55.xml><?xml version="1.0" encoding="utf-8"?>
<p:tagLst xmlns:p="http://schemas.openxmlformats.org/presentationml/2006/main">
  <p:tag name="KSO_WM_DIAGRAM_VIRTUALLY_FRAME" val="{&quot;height&quot;:402.15,&quot;left&quot;:281.5,&quot;top&quot;:80.2,&quot;width&quot;:701.95}"/>
</p:tagLst>
</file>

<file path=ppt/tags/tag56.xml><?xml version="1.0" encoding="utf-8"?>
<p:tagLst xmlns:p="http://schemas.openxmlformats.org/presentationml/2006/main">
  <p:tag name="KSO_WM_DIAGRAM_VIRTUALLY_FRAME" val="{&quot;height&quot;:402.15,&quot;left&quot;:281.5,&quot;top&quot;:80.2,&quot;width&quot;:701.95}"/>
</p:tagLst>
</file>

<file path=ppt/tags/tag57.xml><?xml version="1.0" encoding="utf-8"?>
<p:tagLst xmlns:p="http://schemas.openxmlformats.org/presentationml/2006/main">
  <p:tag name="KSO_WM_DIAGRAM_VIRTUALLY_FRAME" val="{&quot;height&quot;:402.15,&quot;left&quot;:281.5,&quot;top&quot;:80.2,&quot;width&quot;:701.95}"/>
</p:tagLst>
</file>

<file path=ppt/tags/tag58.xml><?xml version="1.0" encoding="utf-8"?>
<p:tagLst xmlns:p="http://schemas.openxmlformats.org/presentationml/2006/main">
  <p:tag name="KSO_WM_DIAGRAM_VIRTUALLY_FRAME" val="{&quot;height&quot;:402.15,&quot;left&quot;:281.5,&quot;top&quot;:80.2,&quot;width&quot;:701.95}"/>
</p:tagLst>
</file>

<file path=ppt/tags/tag59.xml><?xml version="1.0" encoding="utf-8"?>
<p:tagLst xmlns:p="http://schemas.openxmlformats.org/presentationml/2006/main">
  <p:tag name="KSO_WM_DIAGRAM_VIRTUALLY_FRAME" val="{&quot;height&quot;:402.15,&quot;left&quot;:281.5,&quot;top&quot;:80.2,&quot;width&quot;:701.95}"/>
</p:tagLst>
</file>

<file path=ppt/tags/tag60.xml><?xml version="1.0" encoding="utf-8"?>
<p:tagLst xmlns:p="http://schemas.openxmlformats.org/presentationml/2006/main">
  <p:tag name="KSO_WM_DIAGRAM_VIRTUALLY_FRAME" val="{&quot;height&quot;:402.15,&quot;left&quot;:281.5,&quot;top&quot;:80.2,&quot;width&quot;:701.9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9998</Words>
  <Application>WPS Presentation</Application>
  <PresentationFormat/>
  <Paragraphs>343</Paragraphs>
  <Slides>27</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27</vt:i4>
      </vt:variant>
    </vt:vector>
  </HeadingPairs>
  <TitlesOfParts>
    <vt:vector size="49" baseType="lpstr">
      <vt:lpstr>Arial</vt:lpstr>
      <vt:lpstr>SimSun</vt:lpstr>
      <vt:lpstr>Wingdings</vt:lpstr>
      <vt:lpstr>Arial</vt:lpstr>
      <vt:lpstr>Lato</vt:lpstr>
      <vt:lpstr>Calibri</vt:lpstr>
      <vt:lpstr>Microsoft YaHei</vt:lpstr>
      <vt:lpstr>Arial Unicode MS</vt:lpstr>
      <vt:lpstr>Bahnschrift Light</vt:lpstr>
      <vt:lpstr>Bahnschrift SemiBold</vt:lpstr>
      <vt:lpstr>Cambria</vt:lpstr>
      <vt:lpstr>Bahnschrift SemiCondensed</vt:lpstr>
      <vt:lpstr>Calibri Light</vt:lpstr>
      <vt:lpstr>Calibri</vt:lpstr>
      <vt:lpstr>Book Antiqua</vt:lpstr>
      <vt:lpstr>Corbel</vt:lpstr>
      <vt:lpstr>Dubai</vt:lpstr>
      <vt:lpstr>Dubai Light</vt:lpstr>
      <vt:lpstr>Georgia</vt:lpstr>
      <vt:lpstr>Leelawadee UI</vt:lpstr>
      <vt:lpstr>Malgun Gothic Semilight</vt:lpstr>
      <vt:lpstr>Office Theme</vt:lpstr>
      <vt:lpstr>PowerPoint 演示文稿</vt:lpstr>
      <vt:lpstr>PowerPoint 演示文稿</vt:lpstr>
      <vt:lpstr>NỘI DUNG TRÌNH BÀY</vt:lpstr>
      <vt:lpstr>PHẦN 1: ĐẶT VẤN ĐỀ &amp; MỤC TIÊU ĐỀ TÀI</vt:lpstr>
      <vt:lpstr>PowerPoint 演示文稿</vt:lpstr>
      <vt:lpstr>NỘI DUNG TRÌNH BÀY</vt:lpstr>
      <vt:lpstr>PowerPoint 演示文稿</vt:lpstr>
      <vt:lpstr>PowerPoint 演示文稿</vt:lpstr>
      <vt:lpstr>NỘI DUNG TRÌNH BÀY</vt:lpstr>
      <vt:lpstr>PowerPoint 演示文稿</vt:lpstr>
      <vt:lpstr>PowerPoint 演示文稿</vt:lpstr>
      <vt:lpstr>PowerPoint 演示文稿</vt:lpstr>
      <vt:lpstr>PowerPoint 演示文稿</vt:lpstr>
      <vt:lpstr>NỘI DUNG TRÌNH BÀY</vt:lpstr>
      <vt:lpstr>PowerPoint 演示文稿</vt:lpstr>
      <vt:lpstr>PowerPoint 演示文稿</vt:lpstr>
      <vt:lpstr>NỘI DUNG TRÌNH BÀY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Phong TT &amp; QTTH</dc:creator>
  <cp:lastModifiedBy>Hương Giang Nguyễn</cp:lastModifiedBy>
  <cp:revision>1</cp:revision>
  <dcterms:created xsi:type="dcterms:W3CDTF">2026-07-08T18:04:57Z</dcterms:created>
  <dcterms:modified xsi:type="dcterms:W3CDTF">2026-07-08T18:04:59Z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B1EE828611F648FB89CC6ED6192E9721_12</vt:lpwstr>
  </property>
  <property fmtid="{D5CDD505-2E9C-101B-9397-08002B2CF9AE}" pid="3" name="KSOProductBuildVer">
    <vt:lpwstr>2057-12.2.0.23206</vt:lpwstr>
  </property>
</Properties>
</file>