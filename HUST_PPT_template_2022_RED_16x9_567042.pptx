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8" r:id="rId3"/>
    <p:sldId id="259" r:id="rId5"/>
    <p:sldId id="270" r:id="rId6"/>
    <p:sldId id="260" r:id="rId7"/>
    <p:sldId id="271" r:id="rId8"/>
    <p:sldId id="273" r:id="rId9"/>
    <p:sldId id="272" r:id="rId10"/>
    <p:sldId id="287" r:id="rId11"/>
    <p:sldId id="274" r:id="rId12"/>
    <p:sldId id="276" r:id="rId13"/>
    <p:sldId id="277" r:id="rId14"/>
    <p:sldId id="288" r:id="rId15"/>
    <p:sldId id="278" r:id="rId16"/>
    <p:sldId id="279" r:id="rId17"/>
    <p:sldId id="289" r:id="rId18"/>
    <p:sldId id="280" r:id="rId19"/>
    <p:sldId id="290" r:id="rId20"/>
    <p:sldId id="281" r:id="rId21"/>
    <p:sldId id="282" r:id="rId22"/>
    <p:sldId id="283" r:id="rId23"/>
    <p:sldId id="291" r:id="rId24"/>
    <p:sldId id="284" r:id="rId25"/>
    <p:sldId id="285" r:id="rId26"/>
    <p:sldId id="286" r:id="rId27"/>
    <p:sldId id="261" r:id="rId28"/>
    <p:sldId id="268" r:id="rId29"/>
  </p:sldIdLst>
  <p:sldSz cx="12192000" cy="6858000"/>
  <p:notesSz cx="6858000" cy="9144000"/>
  <p:embeddedFontLst>
    <p:embeddedFont>
      <p:font typeface="Lato" panose="020F0502020204030203"/>
      <p:regular r:id="rId33"/>
    </p:embeddedFont>
    <p:embeddedFont>
      <p:font typeface="Calibri" panose="020F0502020204030204"/>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Kính chào quý Thầy Cô trong Hội đồng chấm đồ án tốt nghiệp. Em tên là Nguyễn Thị Hương Giang, sinh viên khoa Toán - Tin. Hôm nay, em xin phép trình bày báo cáo đồ án tốt nghiệp đại học của mình với đề tài: 'Nghiên cứu và xây dựng hệ thống phân tích đa phương thức hỗ trợ chẩn đoán bệnh da liễu tích hợp hỏi đáp trực quan y tế'.</a:t>
            </a:r>
            <a:endParaRPr>
              <a:sym typeface="+mn-ea"/>
            </a:endParaRPr>
          </a:p>
          <a:p>
            <a:pPr marL="0" lvl="0" indent="0" algn="l" rtl="0">
              <a:spcBef>
                <a:spcPts val="0"/>
              </a:spcBef>
              <a:spcAft>
                <a:spcPts val="0"/>
              </a:spcAft>
              <a:buNone/>
            </a:pPr>
          </a:p>
          <a:p>
            <a:pPr marL="0" lvl="0" indent="0" algn="l" rtl="0">
              <a:spcBef>
                <a:spcPts val="0"/>
              </a:spcBef>
              <a:spcAft>
                <a:spcPts val="0"/>
              </a:spcAft>
              <a:buNone/>
            </a:pPr>
            <a:r>
              <a:rPr>
                <a:sym typeface="+mn-ea"/>
              </a:rPr>
              <a:t>Đồ án được thực hiện dưới sự hướng dẫn khoa học của TS. Ngô Quốc Hoàn.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90" name="Google Shape;90;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Sau đây, em xin phép bắt đầu trình bày Phần đầu tiên của báo cáo: Đặt vấn đề và Mục tiêu nghiên cứu của đề tài đồ án tốt nghiệp.</a:t>
            </a:r>
            <a:endParaRPr>
              <a:sym typeface="+mn-ea"/>
            </a:endParaRP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sĩ cơ sở và quản lý bệnh án EHR bảo mật.</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sym typeface="+mn-ea"/>
            </a:endParaRP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en-GB">
                <a:sym typeface="+mn-ea"/>
              </a:rPr>
              <a:t>K</a:t>
            </a:r>
            <a:r>
              <a:rPr lang="en-US" altLang="en-US">
                <a:sym typeface="+mn-ea"/>
              </a:rPr>
              <a:t>í</a:t>
            </a:r>
            <a:r>
              <a:rPr lang="en-US" altLang="en-GB">
                <a:sym typeface="+mn-ea"/>
              </a:rPr>
              <a:t>nh th</a:t>
            </a:r>
            <a:r>
              <a:rPr lang="" altLang="en-US">
                <a:sym typeface="+mn-ea"/>
              </a:rPr>
              <a:t>ư</a:t>
            </a:r>
            <a:r>
              <a:rPr lang="en-US" altLang="en-GB">
                <a:sym typeface="+mn-ea"/>
              </a:rPr>
              <a:t>a Hội </a:t>
            </a:r>
            <a:r>
              <a:rPr lang="" altLang="en-US">
                <a:sym typeface="+mn-ea"/>
              </a:rPr>
              <a:t>đ</a:t>
            </a:r>
            <a:r>
              <a:rPr lang="en-US" altLang="en-GB">
                <a:sym typeface="+mn-ea"/>
              </a:rPr>
              <a:t>ồng, </a:t>
            </a:r>
            <a:r>
              <a:rPr lang="" altLang="en-US">
                <a:sym typeface="+mn-ea"/>
              </a:rPr>
              <a:t>đ</a:t>
            </a:r>
            <a:r>
              <a:rPr lang="en-US" altLang="en-US">
                <a:sym typeface="+mn-ea"/>
              </a:rPr>
              <a:t>â</a:t>
            </a:r>
            <a:r>
              <a:rPr lang="en-US" altLang="en-GB">
                <a:sym typeface="+mn-ea"/>
              </a:rPr>
              <a:t>y là S</a:t>
            </a:r>
            <a:r>
              <a:rPr lang="en-US" altLang="en-US">
                <a:sym typeface="+mn-ea"/>
              </a:rPr>
              <a:t>ơ</a:t>
            </a:r>
            <a:r>
              <a:rPr lang="en-US" altLang="en-GB">
                <a:sym typeface="+mn-ea"/>
              </a:rPr>
              <a:t> </a:t>
            </a:r>
            <a:r>
              <a:rPr lang="" altLang="en-US">
                <a:sym typeface="+mn-ea"/>
              </a:rPr>
              <a:t>đ</a:t>
            </a:r>
            <a:r>
              <a:rPr lang="en-US" altLang="en-GB">
                <a:sym typeface="+mn-ea"/>
              </a:rPr>
              <a:t>ồ Kiến tr</a:t>
            </a:r>
            <a:r>
              <a:rPr lang="en-US" altLang="en-US">
                <a:sym typeface="+mn-ea"/>
              </a:rPr>
              <a:t>ú</a:t>
            </a:r>
            <a:r>
              <a:rPr lang="en-US" altLang="en-GB">
                <a:sym typeface="+mn-ea"/>
              </a:rPr>
              <a:t>c Tổng quan của hệ thống ph</a:t>
            </a:r>
            <a:r>
              <a:rPr lang="en-US" altLang="en-US">
                <a:sym typeface="+mn-ea"/>
              </a:rPr>
              <a:t>â</a:t>
            </a:r>
            <a:r>
              <a:rPr lang="en-US" altLang="en-GB">
                <a:sym typeface="+mn-ea"/>
              </a:rPr>
              <a:t>n t</a:t>
            </a:r>
            <a:r>
              <a:rPr lang="en-US" altLang="en-US">
                <a:sym typeface="+mn-ea"/>
              </a:rPr>
              <a:t>í</a:t>
            </a:r>
            <a:r>
              <a:rPr lang="en-US" altLang="en-GB">
                <a:sym typeface="+mn-ea"/>
              </a:rPr>
              <a:t>ch </a:t>
            </a:r>
            <a:r>
              <a:rPr lang="" altLang="en-US">
                <a:sym typeface="+mn-ea"/>
              </a:rPr>
              <a:t>đ</a:t>
            </a:r>
            <a:r>
              <a:rPr lang="en-US" altLang="en-GB">
                <a:sym typeface="+mn-ea"/>
              </a:rPr>
              <a:t>a ph</a:t>
            </a:r>
            <a:r>
              <a:rPr lang="" altLang="en-US">
                <a:sym typeface="+mn-ea"/>
              </a:rPr>
              <a:t>ư</a:t>
            </a:r>
            <a:r>
              <a:rPr lang="en-US" altLang="en-US">
                <a:sym typeface="+mn-ea"/>
              </a:rPr>
              <a:t>ơ</a:t>
            </a:r>
            <a:r>
              <a:rPr lang="en-US" altLang="en-GB">
                <a:sym typeface="+mn-ea"/>
              </a:rPr>
              <a:t>ng thức. Dữ liệu </a:t>
            </a:r>
            <a:r>
              <a:rPr lang="" altLang="en-US">
                <a:sym typeface="+mn-ea"/>
              </a:rPr>
              <a:t>đ</a:t>
            </a:r>
            <a:r>
              <a:rPr lang="en-US" altLang="en-GB">
                <a:sym typeface="+mn-ea"/>
              </a:rPr>
              <a:t>ầu vào từ ảnh da RGB hoặc tệp DICOM tr</a:t>
            </a:r>
            <a:r>
              <a:rPr lang="" altLang="en-US">
                <a:sym typeface="+mn-ea"/>
              </a:rPr>
              <a:t>ư</a:t>
            </a:r>
            <a:r>
              <a:rPr lang="en-US" altLang="en-GB">
                <a:sym typeface="+mn-ea"/>
              </a:rPr>
              <a:t>ớc ti</a:t>
            </a:r>
            <a:r>
              <a:rPr lang="en-US" altLang="en-US">
                <a:sym typeface="+mn-ea"/>
              </a:rPr>
              <a:t>ê</a:t>
            </a:r>
            <a:r>
              <a:rPr lang="en-US" altLang="en-GB">
                <a:sym typeface="+mn-ea"/>
              </a:rPr>
              <a:t>n phải </a:t>
            </a:r>
            <a:r>
              <a:rPr lang="" altLang="en-US">
                <a:sym typeface="+mn-ea"/>
              </a:rPr>
              <a:t>đ</a:t>
            </a:r>
            <a:r>
              <a:rPr lang="en-US" altLang="en-GB">
                <a:sym typeface="+mn-ea"/>
              </a:rPr>
              <a:t>i qua Bộ lọc Safety Gate tiền xử l</a:t>
            </a:r>
            <a:r>
              <a:rPr lang="" altLang="en-US">
                <a:sym typeface="+mn-ea"/>
              </a:rPr>
              <a:t>ý</a:t>
            </a:r>
            <a:r>
              <a:rPr lang="en-US" altLang="en-GB">
                <a:sym typeface="+mn-ea"/>
              </a:rPr>
              <a:t>.</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Tại </a:t>
            </a:r>
            <a:r>
              <a:rPr lang="" altLang="en-US">
                <a:sym typeface="+mn-ea"/>
              </a:rPr>
              <a:t>đ</a:t>
            </a:r>
            <a:r>
              <a:rPr lang="en-US" altLang="en-US">
                <a:sym typeface="+mn-ea"/>
              </a:rPr>
              <a:t>â</a:t>
            </a:r>
            <a:r>
              <a:rPr lang="en-US" altLang="en-GB">
                <a:sym typeface="+mn-ea"/>
              </a:rPr>
              <a:t>y, ảnh </a:t>
            </a:r>
            <a:r>
              <a:rPr lang="" altLang="en-US">
                <a:sym typeface="+mn-ea"/>
              </a:rPr>
              <a:t>đư</a:t>
            </a:r>
            <a:r>
              <a:rPr lang="en-US" altLang="en-GB">
                <a:sym typeface="+mn-ea"/>
              </a:rPr>
              <a:t>ợc kiểm tra </a:t>
            </a:r>
            <a:r>
              <a:rPr lang="" altLang="en-US">
                <a:sym typeface="+mn-ea"/>
              </a:rPr>
              <a:t>đ</a:t>
            </a:r>
            <a:r>
              <a:rPr lang="en-US" altLang="en-GB">
                <a:sym typeface="+mn-ea"/>
              </a:rPr>
              <a:t>ộ mờ bằng thuật to</a:t>
            </a:r>
            <a:r>
              <a:rPr lang="en-US" altLang="en-US">
                <a:sym typeface="+mn-ea"/>
              </a:rPr>
              <a:t>á</a:t>
            </a:r>
            <a:r>
              <a:rPr lang="en-US" altLang="en-GB">
                <a:sym typeface="+mn-ea"/>
              </a:rPr>
              <a:t>n biến ph</a:t>
            </a:r>
            <a:r>
              <a:rPr lang="en-US" altLang="en-US">
                <a:sym typeface="+mn-ea"/>
              </a:rPr>
              <a:t>â</a:t>
            </a:r>
            <a:r>
              <a:rPr lang="en-US" altLang="en-GB">
                <a:sym typeface="+mn-ea"/>
              </a:rPr>
              <a:t>n Laplacian và kiểm tra </a:t>
            </a:r>
            <a:r>
              <a:rPr lang="" altLang="en-US">
                <a:sym typeface="+mn-ea"/>
              </a:rPr>
              <a:t>đ</a:t>
            </a:r>
            <a:r>
              <a:rPr lang="en-US" altLang="en-GB">
                <a:sym typeface="+mn-ea"/>
              </a:rPr>
              <a:t>ộ ph</a:t>
            </a:r>
            <a:r>
              <a:rPr lang="en-US" altLang="en-US">
                <a:sym typeface="+mn-ea"/>
              </a:rPr>
              <a:t>ơ</a:t>
            </a:r>
            <a:r>
              <a:rPr lang="en-US" altLang="en-GB">
                <a:sym typeface="+mn-ea"/>
              </a:rPr>
              <a:t>i s</a:t>
            </a:r>
            <a:r>
              <a:rPr lang="en-US" altLang="en-US">
                <a:sym typeface="+mn-ea"/>
              </a:rPr>
              <a:t>á</a:t>
            </a:r>
            <a:r>
              <a:rPr lang="en-US" altLang="en-GB">
                <a:sym typeface="+mn-ea"/>
              </a:rPr>
              <a:t>ng th</a:t>
            </a:r>
            <a:r>
              <a:rPr lang="en-US" altLang="en-US">
                <a:sym typeface="+mn-ea"/>
              </a:rPr>
              <a:t>í</a:t>
            </a:r>
            <a:r>
              <a:rPr lang="en-US" altLang="en-GB">
                <a:sym typeface="+mn-ea"/>
              </a:rPr>
              <a:t>ch ứng </a:t>
            </a:r>
            <a:r>
              <a:rPr lang="" altLang="en-US">
                <a:sym typeface="+mn-ea"/>
              </a:rPr>
              <a:t>đ</a:t>
            </a:r>
            <a:r>
              <a:rPr lang="en-US" altLang="en-GB">
                <a:sym typeface="+mn-ea"/>
              </a:rPr>
              <a:t>ể chống thi</a:t>
            </a:r>
            <a:r>
              <a:rPr lang="en-US" altLang="en-US">
                <a:sym typeface="+mn-ea"/>
              </a:rPr>
              <a:t>ê</a:t>
            </a:r>
            <a:r>
              <a:rPr lang="en-US" altLang="en-GB">
                <a:sym typeface="+mn-ea"/>
              </a:rPr>
              <a:t>n lệch màu da. Chỉ khi ảnh </a:t>
            </a:r>
            <a:r>
              <a:rPr lang="" altLang="en-US">
                <a:sym typeface="+mn-ea"/>
              </a:rPr>
              <a:t>đ</a:t>
            </a:r>
            <a:r>
              <a:rPr lang="en-US" altLang="en-GB">
                <a:sym typeface="+mn-ea"/>
              </a:rPr>
              <a:t>ạt chất l</a:t>
            </a:r>
            <a:r>
              <a:rPr lang="" altLang="en-US">
                <a:sym typeface="+mn-ea"/>
              </a:rPr>
              <a:t>ư</a:t>
            </a:r>
            <a:r>
              <a:rPr lang="en-US" altLang="en-GB">
                <a:sym typeface="+mn-ea"/>
              </a:rPr>
              <a:t>ợng, hệ thống mới k</a:t>
            </a:r>
            <a:r>
              <a:rPr lang="en-US" altLang="en-US">
                <a:sym typeface="+mn-ea"/>
              </a:rPr>
              <a:t>í</a:t>
            </a:r>
            <a:r>
              <a:rPr lang="en-US" altLang="en-GB">
                <a:sym typeface="+mn-ea"/>
              </a:rPr>
              <a:t>ch hoạt bộ chia và xử l</a:t>
            </a:r>
            <a:r>
              <a:rPr lang="" altLang="en-US">
                <a:sym typeface="+mn-ea"/>
              </a:rPr>
              <a:t>ý</a:t>
            </a:r>
            <a:r>
              <a:rPr lang="en-US" altLang="en-GB">
                <a:sym typeface="+mn-ea"/>
              </a:rPr>
              <a:t> song song </a:t>
            </a:r>
            <a:r>
              <a:rPr lang="" altLang="en-US">
                <a:sym typeface="+mn-ea"/>
              </a:rPr>
              <a:t>đ</a:t>
            </a:r>
            <a:r>
              <a:rPr lang="en-US" altLang="en-GB">
                <a:sym typeface="+mn-ea"/>
              </a:rPr>
              <a:t>ộc lập tr</a:t>
            </a:r>
            <a:r>
              <a:rPr lang="en-US" altLang="en-US">
                <a:sym typeface="+mn-ea"/>
              </a:rPr>
              <a:t>ê</a:t>
            </a:r>
            <a:r>
              <a:rPr lang="en-US" altLang="en-GB">
                <a:sym typeface="+mn-ea"/>
              </a:rPr>
              <a:t>n 2 nh</a:t>
            </a:r>
            <a:r>
              <a:rPr lang="en-US" altLang="en-US">
                <a:sym typeface="+mn-ea"/>
              </a:rPr>
              <a:t>á</a:t>
            </a:r>
            <a:r>
              <a:rPr lang="en-US" altLang="en-GB">
                <a:sym typeface="+mn-ea"/>
              </a:rPr>
              <a:t>nh.</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Nh</a:t>
            </a:r>
            <a:r>
              <a:rPr lang="en-US" altLang="en-US">
                <a:sym typeface="+mn-ea"/>
              </a:rPr>
              <a:t>á</a:t>
            </a:r>
            <a:r>
              <a:rPr lang="en-US" altLang="en-GB">
                <a:sym typeface="+mn-ea"/>
              </a:rPr>
              <a:t>nh 1: Ph</a:t>
            </a:r>
            <a:r>
              <a:rPr lang="en-US" altLang="en-US">
                <a:sym typeface="+mn-ea"/>
              </a:rPr>
              <a:t>â</a:t>
            </a:r>
            <a:r>
              <a:rPr lang="en-US" altLang="en-GB">
                <a:sym typeface="+mn-ea"/>
              </a:rPr>
              <a:t>n </a:t>
            </a:r>
            <a:r>
              <a:rPr lang="" altLang="en-US">
                <a:sym typeface="+mn-ea"/>
              </a:rPr>
              <a:t>đ</a:t>
            </a:r>
            <a:r>
              <a:rPr lang="en-US" altLang="en-GB">
                <a:sym typeface="+mn-ea"/>
              </a:rPr>
              <a:t>oạn tổn th</a:t>
            </a:r>
            <a:r>
              <a:rPr lang="" altLang="en-US">
                <a:sym typeface="+mn-ea"/>
              </a:rPr>
              <a:t>ư</a:t>
            </a:r>
            <a:r>
              <a:rPr lang="en-US" altLang="en-US">
                <a:sym typeface="+mn-ea"/>
              </a:rPr>
              <a:t>ơ</a:t>
            </a:r>
            <a:r>
              <a:rPr lang="en-US" altLang="en-GB">
                <a:sym typeface="+mn-ea"/>
              </a:rPr>
              <a:t>ng qua SAM/DeepLabV3+ </a:t>
            </a:r>
            <a:r>
              <a:rPr lang="" altLang="en-US">
                <a:sym typeface="+mn-ea"/>
              </a:rPr>
              <a:t>đ</a:t>
            </a:r>
            <a:r>
              <a:rPr lang="en-US" altLang="en-GB">
                <a:sym typeface="+mn-ea"/>
              </a:rPr>
              <a:t>ể t</a:t>
            </a:r>
            <a:r>
              <a:rPr lang="en-US" altLang="en-US">
                <a:sym typeface="+mn-ea"/>
              </a:rPr>
              <a:t>í</a:t>
            </a:r>
            <a:r>
              <a:rPr lang="en-US" altLang="en-GB">
                <a:sym typeface="+mn-ea"/>
              </a:rPr>
              <a:t>nh to</a:t>
            </a:r>
            <a:r>
              <a:rPr lang="en-US" altLang="en-US">
                <a:sym typeface="+mn-ea"/>
              </a:rPr>
              <a:t>á</a:t>
            </a:r>
            <a:r>
              <a:rPr lang="en-US" altLang="en-GB">
                <a:sym typeface="+mn-ea"/>
              </a:rPr>
              <a:t>n 4 chỉ số h</a:t>
            </a:r>
            <a:r>
              <a:rPr lang="en-US" altLang="en-US">
                <a:sym typeface="+mn-ea"/>
              </a:rPr>
              <a:t>ì</a:t>
            </a:r>
            <a:r>
              <a:rPr lang="en-US" altLang="en-GB">
                <a:sym typeface="+mn-ea"/>
              </a:rPr>
              <a:t>nh học ABCD.</a:t>
            </a:r>
            <a:endParaRPr lang="en-US" altLang="en-GB">
              <a:sym typeface="+mn-ea"/>
            </a:endParaRPr>
          </a:p>
          <a:p>
            <a:pPr marL="0" lvl="0" indent="0" algn="l" rtl="0">
              <a:spcBef>
                <a:spcPts val="0"/>
              </a:spcBef>
              <a:spcAft>
                <a:spcPts val="0"/>
              </a:spcAft>
              <a:buNone/>
            </a:pPr>
            <a:r>
              <a:rPr lang="en-US" altLang="en-GB">
                <a:sym typeface="+mn-ea"/>
              </a:rPr>
              <a:t>Nh</a:t>
            </a:r>
            <a:r>
              <a:rPr lang="en-US" altLang="en-US">
                <a:sym typeface="+mn-ea"/>
              </a:rPr>
              <a:t>á</a:t>
            </a:r>
            <a:r>
              <a:rPr lang="en-US" altLang="en-GB">
                <a:sym typeface="+mn-ea"/>
              </a:rPr>
              <a:t>nh 2: Ph</a:t>
            </a:r>
            <a:r>
              <a:rPr lang="en-US" altLang="en-US">
                <a:sym typeface="+mn-ea"/>
              </a:rPr>
              <a:t>â</a:t>
            </a:r>
            <a:r>
              <a:rPr lang="en-US" altLang="en-GB">
                <a:sym typeface="+mn-ea"/>
              </a:rPr>
              <a:t>n loại bệnh l</a:t>
            </a:r>
            <a:r>
              <a:rPr lang="" altLang="en-US">
                <a:sym typeface="+mn-ea"/>
              </a:rPr>
              <a:t>ý</a:t>
            </a:r>
            <a:r>
              <a:rPr lang="en-US" altLang="en-GB">
                <a:sym typeface="+mn-ea"/>
              </a:rPr>
              <a:t> qua EfficientNet-B1 CBAM kết hợp Late Fusion Bayes với dữ liệu dịch tễ (tuổi, giới t</a:t>
            </a:r>
            <a:r>
              <a:rPr lang="en-US" altLang="en-US">
                <a:sym typeface="+mn-ea"/>
              </a:rPr>
              <a:t>í</a:t>
            </a:r>
            <a:r>
              <a:rPr lang="en-US" altLang="en-GB">
                <a:sym typeface="+mn-ea"/>
              </a:rPr>
              <a:t>nh, vị tr</a:t>
            </a:r>
            <a:r>
              <a:rPr lang="en-US" altLang="en-US">
                <a:sym typeface="+mn-ea"/>
              </a:rPr>
              <a:t>í</a:t>
            </a:r>
            <a:r>
              <a:rPr lang="en-US" altLang="en-GB">
                <a:sym typeface="+mn-ea"/>
              </a:rPr>
              <a:t> giải phẫu).</a:t>
            </a:r>
            <a:endParaRPr lang="en-US" altLang="en-GB">
              <a:sym typeface="+mn-ea"/>
            </a:endParaRPr>
          </a:p>
          <a:p>
            <a:pPr marL="0" lvl="0" indent="0" algn="l" rtl="0">
              <a:spcBef>
                <a:spcPts val="0"/>
              </a:spcBef>
              <a:spcAft>
                <a:spcPts val="0"/>
              </a:spcAft>
              <a:buNone/>
            </a:pPr>
            <a:r>
              <a:rPr lang="en-US" altLang="en-GB">
                <a:sym typeface="+mn-ea"/>
              </a:rPr>
              <a:t>Kết quả từ cả hai nh</a:t>
            </a:r>
            <a:r>
              <a:rPr lang="en-US" altLang="en-US">
                <a:sym typeface="+mn-ea"/>
              </a:rPr>
              <a:t>á</a:t>
            </a:r>
            <a:r>
              <a:rPr lang="en-US" altLang="en-GB">
                <a:sym typeface="+mn-ea"/>
              </a:rPr>
              <a:t>nh hội tụ tại Safety Gate hậu kiểm. Nếu ph</a:t>
            </a:r>
            <a:r>
              <a:rPr lang="en-US" altLang="en-US">
                <a:sym typeface="+mn-ea"/>
              </a:rPr>
              <a:t>á</a:t>
            </a:r>
            <a:r>
              <a:rPr lang="en-US" altLang="en-GB">
                <a:sym typeface="+mn-ea"/>
              </a:rPr>
              <a:t>t hiện dấu hiệu </a:t>
            </a:r>
            <a:r>
              <a:rPr lang="en-US" altLang="en-US">
                <a:sym typeface="+mn-ea"/>
              </a:rPr>
              <a:t>á</a:t>
            </a:r>
            <a:r>
              <a:rPr lang="en-US" altLang="en-GB">
                <a:sym typeface="+mn-ea"/>
              </a:rPr>
              <a:t>c t</a:t>
            </a:r>
            <a:r>
              <a:rPr lang="en-US" altLang="en-US">
                <a:sym typeface="+mn-ea"/>
              </a:rPr>
              <a:t>í</a:t>
            </a:r>
            <a:r>
              <a:rPr lang="en-US" altLang="en-GB">
                <a:sym typeface="+mn-ea"/>
              </a:rPr>
              <a:t>nh v</a:t>
            </a:r>
            <a:r>
              <a:rPr lang="" altLang="en-US">
                <a:sym typeface="+mn-ea"/>
              </a:rPr>
              <a:t>ư</a:t>
            </a:r>
            <a:r>
              <a:rPr lang="en-US" altLang="en-GB">
                <a:sym typeface="+mn-ea"/>
              </a:rPr>
              <a:t>ợt ng</a:t>
            </a:r>
            <a:r>
              <a:rPr lang="" altLang="en-US">
                <a:sym typeface="+mn-ea"/>
              </a:rPr>
              <a:t>ư</a:t>
            </a:r>
            <a:r>
              <a:rPr lang="en-US" altLang="en-GB">
                <a:sym typeface="+mn-ea"/>
              </a:rPr>
              <a:t>ỡng nguy hiểm, hệ thống sẽ </a:t>
            </a:r>
            <a:r>
              <a:rPr lang="" altLang="en-US">
                <a:sym typeface="+mn-ea"/>
              </a:rPr>
              <a:t>đư</a:t>
            </a:r>
            <a:r>
              <a:rPr lang="en-US" altLang="en-GB">
                <a:sym typeface="+mn-ea"/>
              </a:rPr>
              <a:t>a ra cảnh b</a:t>
            </a:r>
            <a:r>
              <a:rPr lang="en-US" altLang="en-US">
                <a:sym typeface="+mn-ea"/>
              </a:rPr>
              <a:t>á</a:t>
            </a:r>
            <a:r>
              <a:rPr lang="en-US" altLang="en-GB">
                <a:sym typeface="+mn-ea"/>
              </a:rPr>
              <a:t>o chuyển tuyến cấp thiết (Triage). Ng</a:t>
            </a:r>
            <a:r>
              <a:rPr lang="" altLang="en-US">
                <a:sym typeface="+mn-ea"/>
              </a:rPr>
              <a:t>ư</a:t>
            </a:r>
            <a:r>
              <a:rPr lang="en-US" altLang="en-GB">
                <a:sym typeface="+mn-ea"/>
              </a:rPr>
              <a:t>ợc lại, dữ liệu </a:t>
            </a:r>
            <a:r>
              <a:rPr lang="" altLang="en-US">
                <a:sym typeface="+mn-ea"/>
              </a:rPr>
              <a:t>đư</a:t>
            </a:r>
            <a:r>
              <a:rPr lang="en-US" altLang="en-GB">
                <a:sym typeface="+mn-ea"/>
              </a:rPr>
              <a:t>ợc chuyển </a:t>
            </a:r>
            <a:r>
              <a:rPr lang="" altLang="en-US">
                <a:sym typeface="+mn-ea"/>
              </a:rPr>
              <a:t>đ</a:t>
            </a:r>
            <a:r>
              <a:rPr lang="en-US" altLang="en-GB">
                <a:sym typeface="+mn-ea"/>
              </a:rPr>
              <a:t>ến Trợ l</a:t>
            </a:r>
            <a:r>
              <a:rPr lang="" altLang="en-US">
                <a:sym typeface="+mn-ea"/>
              </a:rPr>
              <a:t>ý</a:t>
            </a:r>
            <a:r>
              <a:rPr lang="en-US" altLang="en-GB">
                <a:sym typeface="+mn-ea"/>
              </a:rPr>
              <a:t> VQA y v</a:t>
            </a:r>
            <a:r>
              <a:rPr lang="" altLang="en-US">
                <a:sym typeface="+mn-ea"/>
              </a:rPr>
              <a:t>ă</a:t>
            </a:r>
            <a:r>
              <a:rPr lang="en-US" altLang="en-GB">
                <a:sym typeface="+mn-ea"/>
              </a:rPr>
              <a:t>n ngoại tuyến </a:t>
            </a:r>
            <a:r>
              <a:rPr lang="" altLang="en-US">
                <a:sym typeface="+mn-ea"/>
              </a:rPr>
              <a:t>đ</a:t>
            </a:r>
            <a:r>
              <a:rPr lang="en-US" altLang="en-GB">
                <a:sym typeface="+mn-ea"/>
              </a:rPr>
              <a:t>ể b</a:t>
            </a:r>
            <a:r>
              <a:rPr lang="en-US" altLang="en-US">
                <a:sym typeface="+mn-ea"/>
              </a:rPr>
              <a:t>á</a:t>
            </a:r>
            <a:r>
              <a:rPr lang="en-US" altLang="en-GB">
                <a:sym typeface="+mn-ea"/>
              </a:rPr>
              <a:t>c s</a:t>
            </a:r>
            <a:r>
              <a:rPr lang="" altLang="en-US">
                <a:sym typeface="+mn-ea"/>
              </a:rPr>
              <a:t>ĩ</a:t>
            </a:r>
            <a:r>
              <a:rPr lang="en-US" altLang="en-GB">
                <a:sym typeface="+mn-ea"/>
              </a:rPr>
              <a:t> vấn tin tr</a:t>
            </a:r>
            <a:r>
              <a:rPr lang="" altLang="en-US">
                <a:sym typeface="+mn-ea"/>
              </a:rPr>
              <a:t>ư</a:t>
            </a:r>
            <a:r>
              <a:rPr lang="en-US" altLang="en-GB">
                <a:sym typeface="+mn-ea"/>
              </a:rPr>
              <a:t>ớc khi </a:t>
            </a:r>
            <a:r>
              <a:rPr lang="" altLang="en-US">
                <a:sym typeface="+mn-ea"/>
              </a:rPr>
              <a:t>đ</a:t>
            </a:r>
            <a:r>
              <a:rPr lang="en-US" altLang="en-GB">
                <a:sym typeface="+mn-ea"/>
              </a:rPr>
              <a:t>ồng bộ h</a:t>
            </a:r>
            <a:r>
              <a:rPr lang="en-US" altLang="en-US">
                <a:sym typeface="+mn-ea"/>
              </a:rPr>
              <a:t>ó</a:t>
            </a:r>
            <a:r>
              <a:rPr lang="en-US" altLang="en-GB">
                <a:sym typeface="+mn-ea"/>
              </a:rPr>
              <a:t>a l</a:t>
            </a:r>
            <a:r>
              <a:rPr lang="en-US" altLang="en-US">
                <a:sym typeface="+mn-ea"/>
              </a:rPr>
              <a:t>ê</a:t>
            </a:r>
            <a:r>
              <a:rPr lang="en-US" altLang="en-GB">
                <a:sym typeface="+mn-ea"/>
              </a:rPr>
              <a:t>n Firestore EHR và xuất b</a:t>
            </a:r>
            <a:r>
              <a:rPr lang="en-US" altLang="en-US">
                <a:sym typeface="+mn-ea"/>
              </a:rPr>
              <a:t>á</a:t>
            </a:r>
            <a:r>
              <a:rPr lang="en-US" altLang="en-GB">
                <a:sym typeface="+mn-ea"/>
              </a:rPr>
              <a:t>o c</a:t>
            </a:r>
            <a:r>
              <a:rPr lang="en-US" altLang="en-US">
                <a:sym typeface="+mn-ea"/>
              </a:rPr>
              <a:t>á</a:t>
            </a:r>
            <a:r>
              <a:rPr lang="en-US" altLang="en-GB">
                <a:sym typeface="+mn-ea"/>
              </a:rPr>
              <a:t>o PDF y khoa.</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Về phân tích chức năng, hệ thống được thiết kế tinh gọn xoay quanh quy trình nghiệp vụ của Bác sĩ lâm sàng. Bác sĩ thực hiện cấu hình cổng Safety Gate, tải ảnh chẩn đoán, tương tác hiệu chỉnh phân đoạn tổn thương, đo đạc chỉ số ABCD y văn, tinh chỉnh trọng số Bayes, hỏi đáp VQA y văn, quản lý bệnh án điện tử EHR và xuất báo cáo PDF.</a:t>
            </a:r>
            <a:endParaRPr>
              <a:sym typeface="+mn-ea"/>
            </a:endParaRPr>
          </a:p>
          <a:p>
            <a:pPr marL="0" lvl="0" indent="0" algn="l" rtl="0">
              <a:spcBef>
                <a:spcPts val="0"/>
              </a:spcBef>
              <a:spcAft>
                <a:spcPts val="0"/>
              </a:spcAft>
              <a:buNone/>
            </a:pPr>
            <a:endParaRPr>
              <a:sym typeface="+mn-ea"/>
            </a:endParaRPr>
          </a:p>
          <a:p>
            <a:pPr marL="0" lvl="0" indent="0" algn="l" rtl="0">
              <a:spcBef>
                <a:spcPts val="0"/>
              </a:spcBef>
              <a:spcAft>
                <a:spcPts val="0"/>
              </a:spcAft>
              <a:buNone/>
            </a:pPr>
            <a:r>
              <a:rPr lang="en-US" altLang="en-GB">
                <a:sym typeface="+mn-ea"/>
              </a:rPr>
              <a:t>Th</a:t>
            </a:r>
            <a:r>
              <a:rPr lang="" altLang="en-US">
                <a:sym typeface="+mn-ea"/>
              </a:rPr>
              <a:t>ư</a:t>
            </a:r>
            <a:r>
              <a:rPr lang="en-US" altLang="en-GB">
                <a:sym typeface="+mn-ea"/>
              </a:rPr>
              <a:t>a Hội </a:t>
            </a:r>
            <a:r>
              <a:rPr lang="" altLang="en-US">
                <a:sym typeface="+mn-ea"/>
              </a:rPr>
              <a:t>đ</a:t>
            </a:r>
            <a:r>
              <a:rPr lang="en-US" altLang="en-GB">
                <a:sym typeface="+mn-ea"/>
              </a:rPr>
              <a:t>ồng, biểu </a:t>
            </a:r>
            <a:r>
              <a:rPr lang="" altLang="en-US">
                <a:sym typeface="+mn-ea"/>
              </a:rPr>
              <a:t>đ</a:t>
            </a:r>
            <a:r>
              <a:rPr lang="en-US" altLang="en-GB">
                <a:sym typeface="+mn-ea"/>
              </a:rPr>
              <a:t>ồ Use Case mô tả ph</a:t>
            </a:r>
            <a:r>
              <a:rPr lang="en-US" altLang="en-US">
                <a:sym typeface="+mn-ea"/>
              </a:rPr>
              <a:t>â</a:t>
            </a:r>
            <a:r>
              <a:rPr lang="en-US" altLang="en-GB">
                <a:sym typeface="+mn-ea"/>
              </a:rPr>
              <a:t>n hệ chức n</a:t>
            </a:r>
            <a:r>
              <a:rPr lang="" altLang="en-US">
                <a:sym typeface="+mn-ea"/>
              </a:rPr>
              <a:t>ă</a:t>
            </a:r>
            <a:r>
              <a:rPr lang="en-US" altLang="en-GB">
                <a:sym typeface="+mn-ea"/>
              </a:rPr>
              <a:t>ng xoay quanh t</a:t>
            </a:r>
            <a:r>
              <a:rPr lang="en-US" altLang="en-US">
                <a:sym typeface="+mn-ea"/>
              </a:rPr>
              <a:t>á</a:t>
            </a:r>
            <a:r>
              <a:rPr lang="en-US" altLang="en-GB">
                <a:sym typeface="+mn-ea"/>
              </a:rPr>
              <a:t>c nh</a:t>
            </a:r>
            <a:r>
              <a:rPr lang="en-US" altLang="en-US">
                <a:sym typeface="+mn-ea"/>
              </a:rPr>
              <a:t>â</a:t>
            </a:r>
            <a:r>
              <a:rPr lang="en-US" altLang="en-GB">
                <a:sym typeface="+mn-ea"/>
              </a:rPr>
              <a:t>n duy nhất là B</a:t>
            </a:r>
            <a:r>
              <a:rPr lang="en-US" altLang="en-US">
                <a:sym typeface="+mn-ea"/>
              </a:rPr>
              <a:t>á</a:t>
            </a:r>
            <a:r>
              <a:rPr lang="en-US" altLang="en-GB">
                <a:sym typeface="+mn-ea"/>
              </a:rPr>
              <a:t>c s</a:t>
            </a:r>
            <a:r>
              <a:rPr lang="" altLang="en-US">
                <a:sym typeface="+mn-ea"/>
              </a:rPr>
              <a:t>ĩ</a:t>
            </a:r>
            <a:r>
              <a:rPr lang="en-US" altLang="en-GB">
                <a:sym typeface="+mn-ea"/>
              </a:rPr>
              <a:t> l</a:t>
            </a:r>
            <a:r>
              <a:rPr lang="en-US" altLang="en-US">
                <a:sym typeface="+mn-ea"/>
              </a:rPr>
              <a:t>â</a:t>
            </a:r>
            <a:r>
              <a:rPr lang="en-US" altLang="en-GB">
                <a:sym typeface="+mn-ea"/>
              </a:rPr>
              <a:t>m sàng.</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B</a:t>
            </a:r>
            <a:r>
              <a:rPr lang="en-US" altLang="en-US">
                <a:sym typeface="+mn-ea"/>
              </a:rPr>
              <a:t>á</a:t>
            </a:r>
            <a:r>
              <a:rPr lang="en-US" altLang="en-GB">
                <a:sym typeface="+mn-ea"/>
              </a:rPr>
              <a:t>c s</a:t>
            </a:r>
            <a:r>
              <a:rPr lang="" altLang="en-US">
                <a:sym typeface="+mn-ea"/>
              </a:rPr>
              <a:t>ĩ</a:t>
            </a:r>
            <a:r>
              <a:rPr lang="en-US" altLang="en-GB">
                <a:sym typeface="+mn-ea"/>
              </a:rPr>
              <a:t> sau khi khởi chạy ứng dụng c</a:t>
            </a:r>
            <a:r>
              <a:rPr lang="en-US" altLang="en-US">
                <a:sym typeface="+mn-ea"/>
              </a:rPr>
              <a:t>ó</a:t>
            </a:r>
            <a:r>
              <a:rPr lang="en-US" altLang="en-GB">
                <a:sym typeface="+mn-ea"/>
              </a:rPr>
              <a:t> toàn quyền cấu h</a:t>
            </a:r>
            <a:r>
              <a:rPr lang="en-US" altLang="en-US">
                <a:sym typeface="+mn-ea"/>
              </a:rPr>
              <a:t>ì</a:t>
            </a:r>
            <a:r>
              <a:rPr lang="en-US" altLang="en-GB">
                <a:sym typeface="+mn-ea"/>
              </a:rPr>
              <a:t>nh c</a:t>
            </a:r>
            <a:r>
              <a:rPr lang="en-US" altLang="en-US">
                <a:sym typeface="+mn-ea"/>
              </a:rPr>
              <a:t>á</a:t>
            </a:r>
            <a:r>
              <a:rPr lang="en-US" altLang="en-GB">
                <a:sym typeface="+mn-ea"/>
              </a:rPr>
              <a:t>c tham số chất l</a:t>
            </a:r>
            <a:r>
              <a:rPr lang="" altLang="en-US">
                <a:sym typeface="+mn-ea"/>
              </a:rPr>
              <a:t>ư</a:t>
            </a:r>
            <a:r>
              <a:rPr lang="en-US" altLang="en-GB">
                <a:sym typeface="+mn-ea"/>
              </a:rPr>
              <a:t>ợng của Safety Gate, thực hiện tải ảnh da/tệp DICOM </a:t>
            </a:r>
            <a:r>
              <a:rPr lang="" altLang="en-US">
                <a:sym typeface="+mn-ea"/>
              </a:rPr>
              <a:t>đ</a:t>
            </a:r>
            <a:r>
              <a:rPr lang="en-US" altLang="en-GB">
                <a:sym typeface="+mn-ea"/>
              </a:rPr>
              <a:t>ể hệ thống chẩn </a:t>
            </a:r>
            <a:r>
              <a:rPr lang="" altLang="en-US">
                <a:sym typeface="+mn-ea"/>
              </a:rPr>
              <a:t>đ</a:t>
            </a:r>
            <a:r>
              <a:rPr lang="en-US" altLang="en-GB">
                <a:sym typeface="+mn-ea"/>
              </a:rPr>
              <a:t>o</a:t>
            </a:r>
            <a:r>
              <a:rPr lang="en-US" altLang="en-US">
                <a:sym typeface="+mn-ea"/>
              </a:rPr>
              <a:t>á</a:t>
            </a:r>
            <a:r>
              <a:rPr lang="en-US" altLang="en-GB">
                <a:sym typeface="+mn-ea"/>
              </a:rPr>
              <a:t>n. B</a:t>
            </a:r>
            <a:r>
              <a:rPr lang="en-US" altLang="en-US">
                <a:sym typeface="+mn-ea"/>
              </a:rPr>
              <a:t>á</a:t>
            </a:r>
            <a:r>
              <a:rPr lang="en-US" altLang="en-GB">
                <a:sym typeface="+mn-ea"/>
              </a:rPr>
              <a:t>c s</a:t>
            </a:r>
            <a:r>
              <a:rPr lang="" altLang="en-US">
                <a:sym typeface="+mn-ea"/>
              </a:rPr>
              <a:t>ĩ</a:t>
            </a:r>
            <a:r>
              <a:rPr lang="en-US" altLang="en-GB">
                <a:sym typeface="+mn-ea"/>
              </a:rPr>
              <a:t> c</a:t>
            </a:r>
            <a:r>
              <a:rPr lang="en-US" altLang="en-US">
                <a:sym typeface="+mn-ea"/>
              </a:rPr>
              <a:t>ó</a:t>
            </a:r>
            <a:r>
              <a:rPr lang="en-US" altLang="en-GB">
                <a:sym typeface="+mn-ea"/>
              </a:rPr>
              <a:t> thể t</a:t>
            </a:r>
            <a:r>
              <a:rPr lang="" altLang="en-US">
                <a:sym typeface="+mn-ea"/>
              </a:rPr>
              <a:t>ư</a:t>
            </a:r>
            <a:r>
              <a:rPr lang="en-US" altLang="en-US">
                <a:sym typeface="+mn-ea"/>
              </a:rPr>
              <a:t>ơ</a:t>
            </a:r>
            <a:r>
              <a:rPr lang="en-US" altLang="en-GB">
                <a:sym typeface="+mn-ea"/>
              </a:rPr>
              <a:t>ng t</a:t>
            </a:r>
            <a:r>
              <a:rPr lang="en-US" altLang="en-US">
                <a:sym typeface="+mn-ea"/>
              </a:rPr>
              <a:t>á</a:t>
            </a:r>
            <a:r>
              <a:rPr lang="en-US" altLang="en-GB">
                <a:sym typeface="+mn-ea"/>
              </a:rPr>
              <a:t>c hiệu chỉnh ph</a:t>
            </a:r>
            <a:r>
              <a:rPr lang="en-US" altLang="en-US">
                <a:sym typeface="+mn-ea"/>
              </a:rPr>
              <a:t>â</a:t>
            </a:r>
            <a:r>
              <a:rPr lang="en-US" altLang="en-GB">
                <a:sym typeface="+mn-ea"/>
              </a:rPr>
              <a:t>n </a:t>
            </a:r>
            <a:r>
              <a:rPr lang="" altLang="en-US">
                <a:sym typeface="+mn-ea"/>
              </a:rPr>
              <a:t>đ</a:t>
            </a:r>
            <a:r>
              <a:rPr lang="en-US" altLang="en-GB">
                <a:sym typeface="+mn-ea"/>
              </a:rPr>
              <a:t>oạn tổn th</a:t>
            </a:r>
            <a:r>
              <a:rPr lang="" altLang="en-US">
                <a:sym typeface="+mn-ea"/>
              </a:rPr>
              <a:t>ư</a:t>
            </a:r>
            <a:r>
              <a:rPr lang="en-US" altLang="en-US">
                <a:sym typeface="+mn-ea"/>
              </a:rPr>
              <a:t>ơ</a:t>
            </a:r>
            <a:r>
              <a:rPr lang="en-US" altLang="en-GB">
                <a:sym typeface="+mn-ea"/>
              </a:rPr>
              <a:t>ng da, xem chi tiết chỉ số ABCD c</a:t>
            </a:r>
            <a:r>
              <a:rPr lang="en-US" altLang="en-US">
                <a:sym typeface="+mn-ea"/>
              </a:rPr>
              <a:t>ù</a:t>
            </a:r>
            <a:r>
              <a:rPr lang="en-US" altLang="en-GB">
                <a:sym typeface="+mn-ea"/>
              </a:rPr>
              <a:t>ng giải th</a:t>
            </a:r>
            <a:r>
              <a:rPr lang="en-US" altLang="en-US">
                <a:sym typeface="+mn-ea"/>
              </a:rPr>
              <a:t>í</a:t>
            </a:r>
            <a:r>
              <a:rPr lang="en-US" altLang="en-GB">
                <a:sym typeface="+mn-ea"/>
              </a:rPr>
              <a:t>ch l</a:t>
            </a:r>
            <a:r>
              <a:rPr lang="en-US" altLang="en-US">
                <a:sym typeface="+mn-ea"/>
              </a:rPr>
              <a:t>â</a:t>
            </a:r>
            <a:r>
              <a:rPr lang="en-US" altLang="en-GB">
                <a:sym typeface="+mn-ea"/>
              </a:rPr>
              <a:t>m sàng, t</a:t>
            </a:r>
            <a:r>
              <a:rPr lang="en-US" altLang="en-US">
                <a:sym typeface="+mn-ea"/>
              </a:rPr>
              <a:t>ù</a:t>
            </a:r>
            <a:r>
              <a:rPr lang="en-US" altLang="en-GB">
                <a:sym typeface="+mn-ea"/>
              </a:rPr>
              <a:t>y chỉnh trọng số late fusion Bayes, hỏi </a:t>
            </a:r>
            <a:r>
              <a:rPr lang="" altLang="en-US">
                <a:sym typeface="+mn-ea"/>
              </a:rPr>
              <a:t>đ</a:t>
            </a:r>
            <a:r>
              <a:rPr lang="en-US" altLang="en-US">
                <a:sym typeface="+mn-ea"/>
              </a:rPr>
              <a:t>á</a:t>
            </a:r>
            <a:r>
              <a:rPr lang="en-US" altLang="en-GB">
                <a:sym typeface="+mn-ea"/>
              </a:rPr>
              <a:t>p VQA y v</a:t>
            </a:r>
            <a:r>
              <a:rPr lang="" altLang="en-US">
                <a:sym typeface="+mn-ea"/>
              </a:rPr>
              <a:t>ă</a:t>
            </a:r>
            <a:r>
              <a:rPr lang="en-US" altLang="en-GB">
                <a:sym typeface="+mn-ea"/>
              </a:rPr>
              <a:t>n ngoại tuyến, quản l</a:t>
            </a:r>
            <a:r>
              <a:rPr lang="" altLang="en-US">
                <a:sym typeface="+mn-ea"/>
              </a:rPr>
              <a:t>ý</a:t>
            </a:r>
            <a:r>
              <a:rPr lang="en-US" altLang="en-GB">
                <a:sym typeface="+mn-ea"/>
              </a:rPr>
              <a:t> bệnh </a:t>
            </a:r>
            <a:r>
              <a:rPr lang="en-US" altLang="en-US">
                <a:sym typeface="+mn-ea"/>
              </a:rPr>
              <a:t>á</a:t>
            </a:r>
            <a:r>
              <a:rPr lang="en-US" altLang="en-GB">
                <a:sym typeface="+mn-ea"/>
              </a:rPr>
              <a:t>n </a:t>
            </a:r>
            <a:r>
              <a:rPr lang="" altLang="en-US">
                <a:sym typeface="+mn-ea"/>
              </a:rPr>
              <a:t>đ</a:t>
            </a:r>
            <a:r>
              <a:rPr lang="en-US" altLang="en-GB">
                <a:sym typeface="+mn-ea"/>
              </a:rPr>
              <a:t>iện tử EHR với biểu </a:t>
            </a:r>
            <a:r>
              <a:rPr lang="" altLang="en-US">
                <a:sym typeface="+mn-ea"/>
              </a:rPr>
              <a:t>đ</a:t>
            </a:r>
            <a:r>
              <a:rPr lang="en-US" altLang="en-GB">
                <a:sym typeface="+mn-ea"/>
              </a:rPr>
              <a:t>ồ d</a:t>
            </a:r>
            <a:r>
              <a:rPr lang="en-US" altLang="en-US">
                <a:sym typeface="+mn-ea"/>
              </a:rPr>
              <a:t>ò</a:t>
            </a:r>
            <a:r>
              <a:rPr lang="en-US" altLang="en-GB">
                <a:sym typeface="+mn-ea"/>
              </a:rPr>
              <a:t>ng thời gian tiến triển bệnh l</a:t>
            </a:r>
            <a:r>
              <a:rPr lang="" altLang="en-US">
                <a:sym typeface="+mn-ea"/>
              </a:rPr>
              <a:t>ý</a:t>
            </a:r>
            <a:r>
              <a:rPr lang="en-US" altLang="en-GB">
                <a:sym typeface="+mn-ea"/>
              </a:rPr>
              <a:t> và kết xuất b</a:t>
            </a:r>
            <a:r>
              <a:rPr lang="en-US" altLang="en-US">
                <a:sym typeface="+mn-ea"/>
              </a:rPr>
              <a:t>á</a:t>
            </a:r>
            <a:r>
              <a:rPr lang="en-US" altLang="en-GB">
                <a:sym typeface="+mn-ea"/>
              </a:rPr>
              <a:t>o c</a:t>
            </a:r>
            <a:r>
              <a:rPr lang="en-US" altLang="en-US">
                <a:sym typeface="+mn-ea"/>
              </a:rPr>
              <a:t>á</a:t>
            </a:r>
            <a:r>
              <a:rPr lang="en-US" altLang="en-GB">
                <a:sym typeface="+mn-ea"/>
              </a:rPr>
              <a:t>o PDF l</a:t>
            </a:r>
            <a:r>
              <a:rPr lang="en-US" altLang="en-US">
                <a:sym typeface="+mn-ea"/>
              </a:rPr>
              <a:t>â</a:t>
            </a:r>
            <a:r>
              <a:rPr lang="en-US" altLang="en-GB">
                <a:sym typeface="+mn-ea"/>
              </a:rPr>
              <a:t>m sàng.</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sym typeface="+mn-ea"/>
            </a:endParaRP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en-GB">
                <a:sym typeface="+mn-ea"/>
              </a:rPr>
              <a:t>Em xin tr</a:t>
            </a:r>
            <a:r>
              <a:rPr lang="en-US" altLang="en-US">
                <a:sym typeface="+mn-ea"/>
              </a:rPr>
              <a:t>ì</a:t>
            </a:r>
            <a:r>
              <a:rPr lang="en-US" altLang="en-GB">
                <a:sym typeface="+mn-ea"/>
              </a:rPr>
              <a:t>nh bày cụ thể về thuật to</a:t>
            </a:r>
            <a:r>
              <a:rPr lang="en-US" altLang="en-US">
                <a:sym typeface="+mn-ea"/>
              </a:rPr>
              <a:t>á</a:t>
            </a:r>
            <a:r>
              <a:rPr lang="en-US" altLang="en-GB">
                <a:sym typeface="+mn-ea"/>
              </a:rPr>
              <a:t>n ph</a:t>
            </a:r>
            <a:r>
              <a:rPr lang="en-US" altLang="en-US">
                <a:sym typeface="+mn-ea"/>
              </a:rPr>
              <a:t>â</a:t>
            </a:r>
            <a:r>
              <a:rPr lang="en-US" altLang="en-GB">
                <a:sym typeface="+mn-ea"/>
              </a:rPr>
              <a:t>n </a:t>
            </a:r>
            <a:r>
              <a:rPr lang="" altLang="en-US">
                <a:sym typeface="+mn-ea"/>
              </a:rPr>
              <a:t>đ</a:t>
            </a:r>
            <a:r>
              <a:rPr lang="en-US" altLang="en-GB">
                <a:sym typeface="+mn-ea"/>
              </a:rPr>
              <a:t>oạn tổn th</a:t>
            </a:r>
            <a:r>
              <a:rPr lang="" altLang="en-US">
                <a:sym typeface="+mn-ea"/>
              </a:rPr>
              <a:t>ư</a:t>
            </a:r>
            <a:r>
              <a:rPr lang="en-US" altLang="en-US">
                <a:sym typeface="+mn-ea"/>
              </a:rPr>
              <a:t>ơ</a:t>
            </a:r>
            <a:r>
              <a:rPr lang="en-US" altLang="en-GB">
                <a:sym typeface="+mn-ea"/>
              </a:rPr>
              <a:t>ng n</a:t>
            </a:r>
            <a:r>
              <a:rPr lang="en-US" altLang="en-US">
                <a:sym typeface="+mn-ea"/>
              </a:rPr>
              <a:t>â</a:t>
            </a:r>
            <a:r>
              <a:rPr lang="en-US" altLang="en-GB">
                <a:sym typeface="+mn-ea"/>
              </a:rPr>
              <a:t>ng cao. Nhằm gi</a:t>
            </a:r>
            <a:r>
              <a:rPr lang="en-US" altLang="en-US">
                <a:sym typeface="+mn-ea"/>
              </a:rPr>
              <a:t>ú</a:t>
            </a:r>
            <a:r>
              <a:rPr lang="en-US" altLang="en-GB">
                <a:sym typeface="+mn-ea"/>
              </a:rPr>
              <a:t>p b</a:t>
            </a:r>
            <a:r>
              <a:rPr lang="en-US" altLang="en-US">
                <a:sym typeface="+mn-ea"/>
              </a:rPr>
              <a:t>á</a:t>
            </a:r>
            <a:r>
              <a:rPr lang="en-US" altLang="en-GB">
                <a:sym typeface="+mn-ea"/>
              </a:rPr>
              <a:t>c s</a:t>
            </a:r>
            <a:r>
              <a:rPr lang="" altLang="en-US">
                <a:sym typeface="+mn-ea"/>
              </a:rPr>
              <a:t>ĩ</a:t>
            </a:r>
            <a:r>
              <a:rPr lang="en-US" altLang="en-GB">
                <a:sym typeface="+mn-ea"/>
              </a:rPr>
              <a:t> chủ </a:t>
            </a:r>
            <a:r>
              <a:rPr lang="" altLang="en-US">
                <a:sym typeface="+mn-ea"/>
              </a:rPr>
              <a:t>đ</a:t>
            </a:r>
            <a:r>
              <a:rPr lang="en-US" altLang="en-GB">
                <a:sym typeface="+mn-ea"/>
              </a:rPr>
              <a:t>ộng kiểm so</a:t>
            </a:r>
            <a:r>
              <a:rPr lang="en-US" altLang="en-US">
                <a:sym typeface="+mn-ea"/>
              </a:rPr>
              <a:t>á</a:t>
            </a:r>
            <a:r>
              <a:rPr lang="en-US" altLang="en-GB">
                <a:sym typeface="+mn-ea"/>
              </a:rPr>
              <a:t>t bi</a:t>
            </a:r>
            <a:r>
              <a:rPr lang="en-US" altLang="en-US">
                <a:sym typeface="+mn-ea"/>
              </a:rPr>
              <a:t>ê</a:t>
            </a:r>
            <a:r>
              <a:rPr lang="en-US" altLang="en-GB">
                <a:sym typeface="+mn-ea"/>
              </a:rPr>
              <a:t>n bờ vết lo</a:t>
            </a:r>
            <a:r>
              <a:rPr lang="en-US" altLang="en-US">
                <a:sym typeface="+mn-ea"/>
              </a:rPr>
              <a:t>é</a:t>
            </a:r>
            <a:r>
              <a:rPr lang="en-US" altLang="en-GB">
                <a:sym typeface="+mn-ea"/>
              </a:rPr>
              <a:t>t, hệ thống thiết kế chế </a:t>
            </a:r>
            <a:r>
              <a:rPr lang="" altLang="en-US">
                <a:sym typeface="+mn-ea"/>
              </a:rPr>
              <a:t>đ</a:t>
            </a:r>
            <a:r>
              <a:rPr lang="en-US" altLang="en-GB">
                <a:sym typeface="+mn-ea"/>
              </a:rPr>
              <a:t>ộ Ph</a:t>
            </a:r>
            <a:r>
              <a:rPr lang="en-US" altLang="en-US">
                <a:sym typeface="+mn-ea"/>
              </a:rPr>
              <a:t>â</a:t>
            </a:r>
            <a:r>
              <a:rPr lang="en-US" altLang="en-GB">
                <a:sym typeface="+mn-ea"/>
              </a:rPr>
              <a:t>n </a:t>
            </a:r>
            <a:r>
              <a:rPr lang="" altLang="en-US">
                <a:sym typeface="+mn-ea"/>
              </a:rPr>
              <a:t>đ</a:t>
            </a:r>
            <a:r>
              <a:rPr lang="en-US" altLang="en-GB">
                <a:sym typeface="+mn-ea"/>
              </a:rPr>
              <a:t>oạn t</a:t>
            </a:r>
            <a:r>
              <a:rPr lang="" altLang="en-US">
                <a:sym typeface="+mn-ea"/>
              </a:rPr>
              <a:t>ư</a:t>
            </a:r>
            <a:r>
              <a:rPr lang="en-US" altLang="en-US">
                <a:sym typeface="+mn-ea"/>
              </a:rPr>
              <a:t>ơ</a:t>
            </a:r>
            <a:r>
              <a:rPr lang="en-US" altLang="en-GB">
                <a:sym typeface="+mn-ea"/>
              </a:rPr>
              <a:t>ng t</a:t>
            </a:r>
            <a:r>
              <a:rPr lang="en-US" altLang="en-US">
                <a:sym typeface="+mn-ea"/>
              </a:rPr>
              <a:t>á</a:t>
            </a:r>
            <a:r>
              <a:rPr lang="en-US" altLang="en-GB">
                <a:sym typeface="+mn-ea"/>
              </a:rPr>
              <a:t>c.</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Khi b</a:t>
            </a:r>
            <a:r>
              <a:rPr lang="en-US" altLang="en-US">
                <a:sym typeface="+mn-ea"/>
              </a:rPr>
              <a:t>á</a:t>
            </a:r>
            <a:r>
              <a:rPr lang="en-US" altLang="en-GB">
                <a:sym typeface="+mn-ea"/>
              </a:rPr>
              <a:t>c s</a:t>
            </a:r>
            <a:r>
              <a:rPr lang="" altLang="en-US">
                <a:sym typeface="+mn-ea"/>
              </a:rPr>
              <a:t>ĩ</a:t>
            </a:r>
            <a:r>
              <a:rPr lang="en-US" altLang="en-GB">
                <a:sym typeface="+mn-ea"/>
              </a:rPr>
              <a:t> nhấp </a:t>
            </a:r>
            <a:r>
              <a:rPr lang="" altLang="en-US">
                <a:sym typeface="+mn-ea"/>
              </a:rPr>
              <a:t>đ</a:t>
            </a:r>
            <a:r>
              <a:rPr lang="en-US" altLang="en-GB">
                <a:sym typeface="+mn-ea"/>
              </a:rPr>
              <a:t>iểm mồi chuột vào v</a:t>
            </a:r>
            <a:r>
              <a:rPr lang="en-US" altLang="en-US">
                <a:sym typeface="+mn-ea"/>
              </a:rPr>
              <a:t>ù</a:t>
            </a:r>
            <a:r>
              <a:rPr lang="en-US" altLang="en-GB">
                <a:sym typeface="+mn-ea"/>
              </a:rPr>
              <a:t>ng tổn th</a:t>
            </a:r>
            <a:r>
              <a:rPr lang="" altLang="en-US">
                <a:sym typeface="+mn-ea"/>
              </a:rPr>
              <a:t>ư</a:t>
            </a:r>
            <a:r>
              <a:rPr lang="en-US" altLang="en-US">
                <a:sym typeface="+mn-ea"/>
              </a:rPr>
              <a:t>ơ</a:t>
            </a:r>
            <a:r>
              <a:rPr lang="en-US" altLang="en-GB">
                <a:sym typeface="+mn-ea"/>
              </a:rPr>
              <a:t>ng, mô h</a:t>
            </a:r>
            <a:r>
              <a:rPr lang="en-US" altLang="en-US">
                <a:sym typeface="+mn-ea"/>
              </a:rPr>
              <a:t>ì</a:t>
            </a:r>
            <a:r>
              <a:rPr lang="en-US" altLang="en-GB">
                <a:sym typeface="+mn-ea"/>
              </a:rPr>
              <a:t>nh SAM sẽ sinh ra mặt nạ mồi ban </a:t>
            </a:r>
            <a:r>
              <a:rPr lang="" altLang="en-US">
                <a:sym typeface="+mn-ea"/>
              </a:rPr>
              <a:t>đ</a:t>
            </a:r>
            <a:r>
              <a:rPr lang="en-US" altLang="en-GB">
                <a:sym typeface="+mn-ea"/>
              </a:rPr>
              <a:t>ầu. </a:t>
            </a:r>
            <a:r>
              <a:rPr lang="" altLang="en-US">
                <a:sym typeface="+mn-ea"/>
              </a:rPr>
              <a:t>Đ</a:t>
            </a:r>
            <a:r>
              <a:rPr lang="en-US" altLang="en-GB">
                <a:sym typeface="+mn-ea"/>
              </a:rPr>
              <a:t>ể tinh chỉnh bi</a:t>
            </a:r>
            <a:r>
              <a:rPr lang="en-US" altLang="en-US">
                <a:sym typeface="+mn-ea"/>
              </a:rPr>
              <a:t>ê</a:t>
            </a:r>
            <a:r>
              <a:rPr lang="en-US" altLang="en-GB">
                <a:sym typeface="+mn-ea"/>
              </a:rPr>
              <a:t>n bờ </a:t>
            </a:r>
            <a:r>
              <a:rPr lang="" altLang="en-US">
                <a:sym typeface="+mn-ea"/>
              </a:rPr>
              <a:t>đ</a:t>
            </a:r>
            <a:r>
              <a:rPr lang="en-US" altLang="en-GB">
                <a:sym typeface="+mn-ea"/>
              </a:rPr>
              <a:t>ạt </a:t>
            </a:r>
            <a:r>
              <a:rPr lang="" altLang="en-US">
                <a:sym typeface="+mn-ea"/>
              </a:rPr>
              <a:t>đ</a:t>
            </a:r>
            <a:r>
              <a:rPr lang="en-US" altLang="en-GB">
                <a:sym typeface="+mn-ea"/>
              </a:rPr>
              <a:t>ộ chi tiết cao, em </a:t>
            </a:r>
            <a:r>
              <a:rPr lang="en-US" altLang="en-US">
                <a:sym typeface="+mn-ea"/>
              </a:rPr>
              <a:t>á</a:t>
            </a:r>
            <a:r>
              <a:rPr lang="en-US" altLang="en-GB">
                <a:sym typeface="+mn-ea"/>
              </a:rPr>
              <a:t>p dụng thuật to</a:t>
            </a:r>
            <a:r>
              <a:rPr lang="en-US" altLang="en-US">
                <a:sym typeface="+mn-ea"/>
              </a:rPr>
              <a:t>á</a:t>
            </a:r>
            <a:r>
              <a:rPr lang="en-US" altLang="en-GB">
                <a:sym typeface="+mn-ea"/>
              </a:rPr>
              <a:t>n GrabCut cải tiến khởi tạo bằng mặt nạ (GC_INIT_WITH_MASK).</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 altLang="en-US">
                <a:sym typeface="+mn-ea"/>
              </a:rPr>
              <a:t>Đ</a:t>
            </a:r>
            <a:r>
              <a:rPr lang="en-US" altLang="en-GB">
                <a:sym typeface="+mn-ea"/>
              </a:rPr>
              <a:t>ặc biệt, </a:t>
            </a:r>
            <a:r>
              <a:rPr lang="" altLang="en-US">
                <a:sym typeface="+mn-ea"/>
              </a:rPr>
              <a:t>đ</a:t>
            </a:r>
            <a:r>
              <a:rPr lang="en-US" altLang="en-GB">
                <a:sym typeface="+mn-ea"/>
              </a:rPr>
              <a:t>ể ph</a:t>
            </a:r>
            <a:r>
              <a:rPr lang="en-US" altLang="en-US">
                <a:sym typeface="+mn-ea"/>
              </a:rPr>
              <a:t>ò</a:t>
            </a:r>
            <a:r>
              <a:rPr lang="en-US" altLang="en-GB">
                <a:sym typeface="+mn-ea"/>
              </a:rPr>
              <a:t>ng ngừa tr</a:t>
            </a:r>
            <a:r>
              <a:rPr lang="" altLang="en-US">
                <a:sym typeface="+mn-ea"/>
              </a:rPr>
              <a:t>ư</a:t>
            </a:r>
            <a:r>
              <a:rPr lang="en-US" altLang="en-GB">
                <a:sym typeface="+mn-ea"/>
              </a:rPr>
              <a:t>ờng hợp ảnh mờ hoặc mô h</a:t>
            </a:r>
            <a:r>
              <a:rPr lang="en-US" altLang="en-US">
                <a:sym typeface="+mn-ea"/>
              </a:rPr>
              <a:t>ì</a:t>
            </a:r>
            <a:r>
              <a:rPr lang="en-US" altLang="en-GB">
                <a:sym typeface="+mn-ea"/>
              </a:rPr>
              <a:t>nh Deep Learning trả về mặt nạ rỗng (g</a:t>
            </a:r>
            <a:r>
              <a:rPr lang="en-US" altLang="en-US">
                <a:sym typeface="+mn-ea"/>
              </a:rPr>
              <a:t>â</a:t>
            </a:r>
            <a:r>
              <a:rPr lang="en-US" altLang="en-GB">
                <a:sym typeface="+mn-ea"/>
              </a:rPr>
              <a:t>y gi</a:t>
            </a:r>
            <a:r>
              <a:rPr lang="en-US" altLang="en-US">
                <a:sym typeface="+mn-ea"/>
              </a:rPr>
              <a:t>á</a:t>
            </a:r>
            <a:r>
              <a:rPr lang="en-US" altLang="en-GB">
                <a:sym typeface="+mn-ea"/>
              </a:rPr>
              <a:t>n </a:t>
            </a:r>
            <a:r>
              <a:rPr lang="" altLang="en-US">
                <a:sym typeface="+mn-ea"/>
              </a:rPr>
              <a:t>đ</a:t>
            </a:r>
            <a:r>
              <a:rPr lang="en-US" altLang="en-GB">
                <a:sym typeface="+mn-ea"/>
              </a:rPr>
              <a:t>oạn luồng </a:t>
            </a:r>
            <a:r>
              <a:rPr lang="" altLang="en-US">
                <a:sym typeface="+mn-ea"/>
              </a:rPr>
              <a:t>đ</a:t>
            </a:r>
            <a:r>
              <a:rPr lang="en-US" altLang="en-GB">
                <a:sym typeface="+mn-ea"/>
              </a:rPr>
              <a:t>o ABCD), em thiết kế giải ph</a:t>
            </a:r>
            <a:r>
              <a:rPr lang="en-US" altLang="en-US">
                <a:sym typeface="+mn-ea"/>
              </a:rPr>
              <a:t>á</a:t>
            </a:r>
            <a:r>
              <a:rPr lang="en-US" altLang="en-GB">
                <a:sym typeface="+mn-ea"/>
              </a:rPr>
              <a:t>p dự ph</a:t>
            </a:r>
            <a:r>
              <a:rPr lang="en-US" altLang="en-US">
                <a:sym typeface="+mn-ea"/>
              </a:rPr>
              <a:t>ò</a:t>
            </a:r>
            <a:r>
              <a:rPr lang="en-US" altLang="en-GB">
                <a:sym typeface="+mn-ea"/>
              </a:rPr>
              <a:t>ng y khoa bằng thuật to</a:t>
            </a:r>
            <a:r>
              <a:rPr lang="en-US" altLang="en-US">
                <a:sym typeface="+mn-ea"/>
              </a:rPr>
              <a:t>á</a:t>
            </a:r>
            <a:r>
              <a:rPr lang="en-US" altLang="en-GB">
                <a:sym typeface="+mn-ea"/>
              </a:rPr>
              <a:t>n ph</a:t>
            </a:r>
            <a:r>
              <a:rPr lang="en-US" altLang="en-US">
                <a:sym typeface="+mn-ea"/>
              </a:rPr>
              <a:t>â</a:t>
            </a:r>
            <a:r>
              <a:rPr lang="en-US" altLang="en-GB">
                <a:sym typeface="+mn-ea"/>
              </a:rPr>
              <a:t>n ng</a:t>
            </a:r>
            <a:r>
              <a:rPr lang="" altLang="en-US">
                <a:sym typeface="+mn-ea"/>
              </a:rPr>
              <a:t>ư</a:t>
            </a:r>
            <a:r>
              <a:rPr lang="en-US" altLang="en-GB">
                <a:sym typeface="+mn-ea"/>
              </a:rPr>
              <a:t>ỡng OTSU nghịch </a:t>
            </a:r>
            <a:r>
              <a:rPr lang="" altLang="en-US">
                <a:sym typeface="+mn-ea"/>
              </a:rPr>
              <a:t>đ</a:t>
            </a:r>
            <a:r>
              <a:rPr lang="en-US" altLang="en-GB">
                <a:sym typeface="+mn-ea"/>
              </a:rPr>
              <a:t>ảo. Giải ph</a:t>
            </a:r>
            <a:r>
              <a:rPr lang="en-US" altLang="en-US">
                <a:sym typeface="+mn-ea"/>
              </a:rPr>
              <a:t>á</a:t>
            </a:r>
            <a:r>
              <a:rPr lang="en-US" altLang="en-GB">
                <a:sym typeface="+mn-ea"/>
              </a:rPr>
              <a:t>p này </a:t>
            </a:r>
            <a:r>
              <a:rPr lang="" altLang="en-US">
                <a:sym typeface="+mn-ea"/>
              </a:rPr>
              <a:t>đ</a:t>
            </a:r>
            <a:r>
              <a:rPr lang="en-US" altLang="en-GB">
                <a:sym typeface="+mn-ea"/>
              </a:rPr>
              <a:t>ảm bảo hệ thống luôn tr</a:t>
            </a:r>
            <a:r>
              <a:rPr lang="en-US" altLang="en-US">
                <a:sym typeface="+mn-ea"/>
              </a:rPr>
              <a:t>í</a:t>
            </a:r>
            <a:r>
              <a:rPr lang="en-US" altLang="en-GB">
                <a:sym typeface="+mn-ea"/>
              </a:rPr>
              <a:t>ch xuất </a:t>
            </a:r>
            <a:r>
              <a:rPr lang="" altLang="en-US">
                <a:sym typeface="+mn-ea"/>
              </a:rPr>
              <a:t>đư</a:t>
            </a:r>
            <a:r>
              <a:rPr lang="en-US" altLang="en-GB">
                <a:sym typeface="+mn-ea"/>
              </a:rPr>
              <a:t>ợc mặt nạ tổn th</a:t>
            </a:r>
            <a:r>
              <a:rPr lang="" altLang="en-US">
                <a:sym typeface="+mn-ea"/>
              </a:rPr>
              <a:t>ư</a:t>
            </a:r>
            <a:r>
              <a:rPr lang="en-US" altLang="en-US">
                <a:sym typeface="+mn-ea"/>
              </a:rPr>
              <a:t>ơ</a:t>
            </a:r>
            <a:r>
              <a:rPr lang="en-US" altLang="en-GB">
                <a:sym typeface="+mn-ea"/>
              </a:rPr>
              <a:t>ng và t</a:t>
            </a:r>
            <a:r>
              <a:rPr lang="en-US" altLang="en-US">
                <a:sym typeface="+mn-ea"/>
              </a:rPr>
              <a:t>í</a:t>
            </a:r>
            <a:r>
              <a:rPr lang="en-US" altLang="en-GB">
                <a:sym typeface="+mn-ea"/>
              </a:rPr>
              <a:t>nh to</a:t>
            </a:r>
            <a:r>
              <a:rPr lang="en-US" altLang="en-US">
                <a:sym typeface="+mn-ea"/>
              </a:rPr>
              <a:t>á</a:t>
            </a:r>
            <a:r>
              <a:rPr lang="en-US" altLang="en-GB">
                <a:sym typeface="+mn-ea"/>
              </a:rPr>
              <a:t>n chỉ số ABCD ổn </a:t>
            </a:r>
            <a:r>
              <a:rPr lang="" altLang="en-US">
                <a:sym typeface="+mn-ea"/>
              </a:rPr>
              <a:t>đ</a:t>
            </a:r>
            <a:r>
              <a:rPr lang="en-US" altLang="en-GB">
                <a:sym typeface="+mn-ea"/>
              </a:rPr>
              <a:t>ịnh trong mọi t</a:t>
            </a:r>
            <a:r>
              <a:rPr lang="en-US" altLang="en-US">
                <a:sym typeface="+mn-ea"/>
              </a:rPr>
              <a:t>ì</a:t>
            </a:r>
            <a:r>
              <a:rPr lang="en-US" altLang="en-GB">
                <a:sym typeface="+mn-ea"/>
              </a:rPr>
              <a:t>nh huống</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en-GB">
                <a:sym typeface="+mn-ea"/>
              </a:rPr>
              <a:t>Th</a:t>
            </a:r>
            <a:r>
              <a:rPr lang="" altLang="en-US">
                <a:sym typeface="+mn-ea"/>
              </a:rPr>
              <a:t>ư</a:t>
            </a:r>
            <a:r>
              <a:rPr lang="en-US" altLang="en-GB">
                <a:sym typeface="+mn-ea"/>
              </a:rPr>
              <a:t>a Thầy Cô, là một sinh vi</a:t>
            </a:r>
            <a:r>
              <a:rPr lang="en-US" altLang="en-US">
                <a:sym typeface="+mn-ea"/>
              </a:rPr>
              <a:t>ê</a:t>
            </a:r>
            <a:r>
              <a:rPr lang="en-US" altLang="en-GB">
                <a:sym typeface="+mn-ea"/>
              </a:rPr>
              <a:t>n chuy</a:t>
            </a:r>
            <a:r>
              <a:rPr lang="en-US" altLang="en-US">
                <a:sym typeface="+mn-ea"/>
              </a:rPr>
              <a:t>ê</a:t>
            </a:r>
            <a:r>
              <a:rPr lang="en-US" altLang="en-GB">
                <a:sym typeface="+mn-ea"/>
              </a:rPr>
              <a:t>n ngành To</a:t>
            </a:r>
            <a:r>
              <a:rPr lang="en-US" altLang="en-US">
                <a:sym typeface="+mn-ea"/>
              </a:rPr>
              <a:t>á</a:t>
            </a:r>
            <a:r>
              <a:rPr lang="en-US" altLang="en-GB">
                <a:sym typeface="+mn-ea"/>
              </a:rPr>
              <a:t>n - Tin, em </a:t>
            </a:r>
            <a:r>
              <a:rPr lang="" altLang="en-US">
                <a:sym typeface="+mn-ea"/>
              </a:rPr>
              <a:t>đ</a:t>
            </a:r>
            <a:r>
              <a:rPr lang="en-US" altLang="en-US">
                <a:sym typeface="+mn-ea"/>
              </a:rPr>
              <a:t>ã</a:t>
            </a:r>
            <a:r>
              <a:rPr lang="en-US" altLang="en-GB">
                <a:sym typeface="+mn-ea"/>
              </a:rPr>
              <a:t> nghi</a:t>
            </a:r>
            <a:r>
              <a:rPr lang="en-US" altLang="en-US">
                <a:sym typeface="+mn-ea"/>
              </a:rPr>
              <a:t>ê</a:t>
            </a:r>
            <a:r>
              <a:rPr lang="en-US" altLang="en-GB">
                <a:sym typeface="+mn-ea"/>
              </a:rPr>
              <a:t>n cứu ứng dụng ph</a:t>
            </a:r>
            <a:r>
              <a:rPr lang="" altLang="en-US">
                <a:sym typeface="+mn-ea"/>
              </a:rPr>
              <a:t>ư</a:t>
            </a:r>
            <a:r>
              <a:rPr lang="en-US" altLang="en-US">
                <a:sym typeface="+mn-ea"/>
              </a:rPr>
              <a:t>ơ</a:t>
            </a:r>
            <a:r>
              <a:rPr lang="en-US" altLang="en-GB">
                <a:sym typeface="+mn-ea"/>
              </a:rPr>
              <a:t>ng ph</a:t>
            </a:r>
            <a:r>
              <a:rPr lang="en-US" altLang="en-US">
                <a:sym typeface="+mn-ea"/>
              </a:rPr>
              <a:t>á</a:t>
            </a:r>
            <a:r>
              <a:rPr lang="en-US" altLang="en-GB">
                <a:sym typeface="+mn-ea"/>
              </a:rPr>
              <a:t>p Hợp nhất muộn Bayes (Late Multimodal Bayesian Fusion) </a:t>
            </a:r>
            <a:r>
              <a:rPr lang="" altLang="en-US">
                <a:sym typeface="+mn-ea"/>
              </a:rPr>
              <a:t>đ</a:t>
            </a:r>
            <a:r>
              <a:rPr lang="en-US" altLang="en-GB">
                <a:sym typeface="+mn-ea"/>
              </a:rPr>
              <a:t>ể kết hợp thông tin </a:t>
            </a:r>
            <a:r>
              <a:rPr lang="" altLang="en-US">
                <a:sym typeface="+mn-ea"/>
              </a:rPr>
              <a:t>đ</a:t>
            </a:r>
            <a:r>
              <a:rPr lang="en-US" altLang="en-GB">
                <a:sym typeface="+mn-ea"/>
              </a:rPr>
              <a:t>a ph</a:t>
            </a:r>
            <a:r>
              <a:rPr lang="" altLang="en-US">
                <a:sym typeface="+mn-ea"/>
              </a:rPr>
              <a:t>ư</a:t>
            </a:r>
            <a:r>
              <a:rPr lang="en-US" altLang="en-US">
                <a:sym typeface="+mn-ea"/>
              </a:rPr>
              <a:t>ơ</a:t>
            </a:r>
            <a:r>
              <a:rPr lang="en-US" altLang="en-GB">
                <a:sym typeface="+mn-ea"/>
              </a:rPr>
              <a:t>ng thức.</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X</a:t>
            </a:r>
            <a:r>
              <a:rPr lang="en-US" altLang="en-US">
                <a:sym typeface="+mn-ea"/>
              </a:rPr>
              <a:t>á</a:t>
            </a:r>
            <a:r>
              <a:rPr lang="en-US" altLang="en-GB">
                <a:sym typeface="+mn-ea"/>
              </a:rPr>
              <a:t>c suất chẩn </a:t>
            </a:r>
            <a:r>
              <a:rPr lang="" altLang="en-US">
                <a:sym typeface="+mn-ea"/>
              </a:rPr>
              <a:t>đ</a:t>
            </a:r>
            <a:r>
              <a:rPr lang="en-US" altLang="en-GB">
                <a:sym typeface="+mn-ea"/>
              </a:rPr>
              <a:t>o</a:t>
            </a:r>
            <a:r>
              <a:rPr lang="en-US" altLang="en-US">
                <a:sym typeface="+mn-ea"/>
              </a:rPr>
              <a:t>á</a:t>
            </a:r>
            <a:r>
              <a:rPr lang="en-US" altLang="en-GB">
                <a:sym typeface="+mn-ea"/>
              </a:rPr>
              <a:t>n từ ảnh da $P(C | Image)$ do mạng EfficientNet-B1 CBAM dự </a:t>
            </a:r>
            <a:r>
              <a:rPr lang="" altLang="en-US">
                <a:sym typeface="+mn-ea"/>
              </a:rPr>
              <a:t>đ</a:t>
            </a:r>
            <a:r>
              <a:rPr lang="en-US" altLang="en-GB">
                <a:sym typeface="+mn-ea"/>
              </a:rPr>
              <a:t>o</a:t>
            </a:r>
            <a:r>
              <a:rPr lang="en-US" altLang="en-US">
                <a:sym typeface="+mn-ea"/>
              </a:rPr>
              <a:t>á</a:t>
            </a:r>
            <a:r>
              <a:rPr lang="en-US" altLang="en-GB">
                <a:sym typeface="+mn-ea"/>
              </a:rPr>
              <a:t>n sẽ </a:t>
            </a:r>
            <a:r>
              <a:rPr lang="" altLang="en-US">
                <a:sym typeface="+mn-ea"/>
              </a:rPr>
              <a:t>đ</a:t>
            </a:r>
            <a:r>
              <a:rPr lang="en-US" altLang="en-US">
                <a:sym typeface="+mn-ea"/>
              </a:rPr>
              <a:t>ó</a:t>
            </a:r>
            <a:r>
              <a:rPr lang="en-US" altLang="en-GB">
                <a:sym typeface="+mn-ea"/>
              </a:rPr>
              <a:t>ng vai tr</a:t>
            </a:r>
            <a:r>
              <a:rPr lang="en-US" altLang="en-US">
                <a:sym typeface="+mn-ea"/>
              </a:rPr>
              <a:t>ò</a:t>
            </a:r>
            <a:r>
              <a:rPr lang="en-US" altLang="en-GB">
                <a:sym typeface="+mn-ea"/>
              </a:rPr>
              <a:t> x</a:t>
            </a:r>
            <a:r>
              <a:rPr lang="en-US" altLang="en-US">
                <a:sym typeface="+mn-ea"/>
              </a:rPr>
              <a:t>á</a:t>
            </a:r>
            <a:r>
              <a:rPr lang="en-US" altLang="en-GB">
                <a:sym typeface="+mn-ea"/>
              </a:rPr>
              <a:t>c suất hợp l</a:t>
            </a:r>
            <a:r>
              <a:rPr lang="" altLang="en-US">
                <a:sym typeface="+mn-ea"/>
              </a:rPr>
              <a:t>ý</a:t>
            </a:r>
            <a:r>
              <a:rPr lang="en-US" altLang="en-GB">
                <a:sym typeface="+mn-ea"/>
              </a:rPr>
              <a:t> (Likelihood). </a:t>
            </a:r>
            <a:r>
              <a:rPr lang="" altLang="en-US">
                <a:sym typeface="+mn-ea"/>
              </a:rPr>
              <a:t>Đ</a:t>
            </a:r>
            <a:r>
              <a:rPr lang="en-US" altLang="en-GB">
                <a:sym typeface="+mn-ea"/>
              </a:rPr>
              <a:t>ồng thời, dữ liệu dịch tễ của bệnh nh</a:t>
            </a:r>
            <a:r>
              <a:rPr lang="en-US" altLang="en-US">
                <a:sym typeface="+mn-ea"/>
              </a:rPr>
              <a:t>â</a:t>
            </a:r>
            <a:r>
              <a:rPr lang="en-US" altLang="en-GB">
                <a:sym typeface="+mn-ea"/>
              </a:rPr>
              <a:t>n (Tuổi, Giới t</a:t>
            </a:r>
            <a:r>
              <a:rPr lang="en-US" altLang="en-US">
                <a:sym typeface="+mn-ea"/>
              </a:rPr>
              <a:t>í</a:t>
            </a:r>
            <a:r>
              <a:rPr lang="en-US" altLang="en-GB">
                <a:sym typeface="+mn-ea"/>
              </a:rPr>
              <a:t>nh, Vị tr</a:t>
            </a:r>
            <a:r>
              <a:rPr lang="en-US" altLang="en-US">
                <a:sym typeface="+mn-ea"/>
              </a:rPr>
              <a:t>í</a:t>
            </a:r>
            <a:r>
              <a:rPr lang="en-US" altLang="en-GB">
                <a:sym typeface="+mn-ea"/>
              </a:rPr>
              <a:t> tổn th</a:t>
            </a:r>
            <a:r>
              <a:rPr lang="" altLang="en-US">
                <a:sym typeface="+mn-ea"/>
              </a:rPr>
              <a:t>ư</a:t>
            </a:r>
            <a:r>
              <a:rPr lang="en-US" altLang="en-US">
                <a:sym typeface="+mn-ea"/>
              </a:rPr>
              <a:t>ơ</a:t>
            </a:r>
            <a:r>
              <a:rPr lang="en-US" altLang="en-GB">
                <a:sym typeface="+mn-ea"/>
              </a:rPr>
              <a:t>ng) </a:t>
            </a:r>
            <a:r>
              <a:rPr lang="" altLang="en-US">
                <a:sym typeface="+mn-ea"/>
              </a:rPr>
              <a:t>đư</a:t>
            </a:r>
            <a:r>
              <a:rPr lang="en-US" altLang="en-GB">
                <a:sym typeface="+mn-ea"/>
              </a:rPr>
              <a:t>ợc tra cứu qua bảng tần suất dịch tễ </a:t>
            </a:r>
            <a:r>
              <a:rPr lang="" altLang="en-US">
                <a:sym typeface="+mn-ea"/>
              </a:rPr>
              <a:t>đ</a:t>
            </a:r>
            <a:r>
              <a:rPr lang="en-US" altLang="en-GB">
                <a:sym typeface="+mn-ea"/>
              </a:rPr>
              <a:t>ể làm x</a:t>
            </a:r>
            <a:r>
              <a:rPr lang="en-US" altLang="en-US">
                <a:sym typeface="+mn-ea"/>
              </a:rPr>
              <a:t>á</a:t>
            </a:r>
            <a:r>
              <a:rPr lang="en-US" altLang="en-GB">
                <a:sym typeface="+mn-ea"/>
              </a:rPr>
              <a:t>c suất tiền nghiệm $P(C | Demo)$.</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 altLang="en-US">
                <a:sym typeface="+mn-ea"/>
              </a:rPr>
              <a:t>Đ</a:t>
            </a:r>
            <a:r>
              <a:rPr lang="en-US" altLang="en-GB">
                <a:sym typeface="+mn-ea"/>
              </a:rPr>
              <a:t>ể giải quyết vấn </a:t>
            </a:r>
            <a:r>
              <a:rPr lang="" altLang="en-US">
                <a:sym typeface="+mn-ea"/>
              </a:rPr>
              <a:t>đ</a:t>
            </a:r>
            <a:r>
              <a:rPr lang="en-US" altLang="en-GB">
                <a:sym typeface="+mn-ea"/>
              </a:rPr>
              <a:t>ề thi</a:t>
            </a:r>
            <a:r>
              <a:rPr lang="en-US" altLang="en-US">
                <a:sym typeface="+mn-ea"/>
              </a:rPr>
              <a:t>ê</a:t>
            </a:r>
            <a:r>
              <a:rPr lang="en-US" altLang="en-GB">
                <a:sym typeface="+mn-ea"/>
              </a:rPr>
              <a:t>n lệch chủng tộc của tập dữ liệu HAM10000 (vốn thu thập từ ng</a:t>
            </a:r>
            <a:r>
              <a:rPr lang="" altLang="en-US">
                <a:sym typeface="+mn-ea"/>
              </a:rPr>
              <a:t>ư</a:t>
            </a:r>
            <a:r>
              <a:rPr lang="en-US" altLang="en-GB">
                <a:sym typeface="+mn-ea"/>
              </a:rPr>
              <a:t>ời da trắng và c</a:t>
            </a:r>
            <a:r>
              <a:rPr lang="en-US" altLang="en-US">
                <a:sym typeface="+mn-ea"/>
              </a:rPr>
              <a:t>ó</a:t>
            </a:r>
            <a:r>
              <a:rPr lang="en-US" altLang="en-GB">
                <a:sym typeface="+mn-ea"/>
              </a:rPr>
              <a:t> ph</a:t>
            </a:r>
            <a:r>
              <a:rPr lang="en-US" altLang="en-US">
                <a:sym typeface="+mn-ea"/>
              </a:rPr>
              <a:t>â</a:t>
            </a:r>
            <a:r>
              <a:rPr lang="en-US" altLang="en-GB">
                <a:sym typeface="+mn-ea"/>
              </a:rPr>
              <a:t>n phối dịch tễ kh</a:t>
            </a:r>
            <a:r>
              <a:rPr lang="en-US" altLang="en-US">
                <a:sym typeface="+mn-ea"/>
              </a:rPr>
              <a:t>á</a:t>
            </a:r>
            <a:r>
              <a:rPr lang="en-US" altLang="en-GB">
                <a:sym typeface="+mn-ea"/>
              </a:rPr>
              <a:t>c biệt ng</a:t>
            </a:r>
            <a:r>
              <a:rPr lang="" altLang="en-US">
                <a:sym typeface="+mn-ea"/>
              </a:rPr>
              <a:t>ư</a:t>
            </a:r>
            <a:r>
              <a:rPr lang="en-US" altLang="en-GB">
                <a:sym typeface="+mn-ea"/>
              </a:rPr>
              <a:t>ời Việt), em thiết kế Trọng số </a:t>
            </a:r>
            <a:r>
              <a:rPr lang="" altLang="en-US">
                <a:sym typeface="+mn-ea"/>
              </a:rPr>
              <a:t>đ</a:t>
            </a:r>
            <a:r>
              <a:rPr lang="en-US" altLang="en-GB">
                <a:sym typeface="+mn-ea"/>
              </a:rPr>
              <a:t>iều phối Lambda ($\lambda$) tr</a:t>
            </a:r>
            <a:r>
              <a:rPr lang="en-US" altLang="en-US">
                <a:sym typeface="+mn-ea"/>
              </a:rPr>
              <a:t>ê</a:t>
            </a:r>
            <a:r>
              <a:rPr lang="en-US" altLang="en-GB">
                <a:sym typeface="+mn-ea"/>
              </a:rPr>
              <a:t>n giao diện. B</a:t>
            </a:r>
            <a:r>
              <a:rPr lang="en-US" altLang="en-US">
                <a:sym typeface="+mn-ea"/>
              </a:rPr>
              <a:t>á</a:t>
            </a:r>
            <a:r>
              <a:rPr lang="en-US" altLang="en-GB">
                <a:sym typeface="+mn-ea"/>
              </a:rPr>
              <a:t>c s</a:t>
            </a:r>
            <a:r>
              <a:rPr lang="" altLang="en-US">
                <a:sym typeface="+mn-ea"/>
              </a:rPr>
              <a:t>ĩ</a:t>
            </a:r>
            <a:r>
              <a:rPr lang="en-US" altLang="en-GB">
                <a:sym typeface="+mn-ea"/>
              </a:rPr>
              <a:t> c</a:t>
            </a:r>
            <a:r>
              <a:rPr lang="en-US" altLang="en-US">
                <a:sym typeface="+mn-ea"/>
              </a:rPr>
              <a:t>ó</a:t>
            </a:r>
            <a:r>
              <a:rPr lang="en-US" altLang="en-GB">
                <a:sym typeface="+mn-ea"/>
              </a:rPr>
              <a:t> thể </a:t>
            </a:r>
            <a:r>
              <a:rPr lang="" altLang="en-US">
                <a:sym typeface="+mn-ea"/>
              </a:rPr>
              <a:t>đ</a:t>
            </a:r>
            <a:r>
              <a:rPr lang="en-US" altLang="en-GB">
                <a:sym typeface="+mn-ea"/>
              </a:rPr>
              <a:t>iều chỉnh $\lambda$ </a:t>
            </a:r>
            <a:r>
              <a:rPr lang="" altLang="en-US">
                <a:sym typeface="+mn-ea"/>
              </a:rPr>
              <a:t>đ</a:t>
            </a:r>
            <a:r>
              <a:rPr lang="en-US" altLang="en-GB">
                <a:sym typeface="+mn-ea"/>
              </a:rPr>
              <a:t>ể hạ thấp ảnh h</a:t>
            </a:r>
            <a:r>
              <a:rPr lang="" altLang="en-US">
                <a:sym typeface="+mn-ea"/>
              </a:rPr>
              <a:t>ư</a:t>
            </a:r>
            <a:r>
              <a:rPr lang="en-US" altLang="en-GB">
                <a:sym typeface="+mn-ea"/>
              </a:rPr>
              <a:t>ởng của tiền nghiệm dịch tễ ph</a:t>
            </a:r>
            <a:r>
              <a:rPr lang="" altLang="en-US">
                <a:sym typeface="+mn-ea"/>
              </a:rPr>
              <a:t>ư</a:t>
            </a:r>
            <a:r>
              <a:rPr lang="en-US" altLang="en-US">
                <a:sym typeface="+mn-ea"/>
              </a:rPr>
              <a:t>ơ</a:t>
            </a:r>
            <a:r>
              <a:rPr lang="en-US" altLang="en-GB">
                <a:sym typeface="+mn-ea"/>
              </a:rPr>
              <a:t>ng T</a:t>
            </a:r>
            <a:r>
              <a:rPr lang="en-US" altLang="en-US">
                <a:sym typeface="+mn-ea"/>
              </a:rPr>
              <a:t>â</a:t>
            </a:r>
            <a:r>
              <a:rPr lang="en-US" altLang="en-GB">
                <a:sym typeface="+mn-ea"/>
              </a:rPr>
              <a:t>y, </a:t>
            </a:r>
            <a:r>
              <a:rPr lang="" altLang="en-US">
                <a:sym typeface="+mn-ea"/>
              </a:rPr>
              <a:t>ư</a:t>
            </a:r>
            <a:r>
              <a:rPr lang="en-US" altLang="en-GB">
                <a:sym typeface="+mn-ea"/>
              </a:rPr>
              <a:t>u ti</a:t>
            </a:r>
            <a:r>
              <a:rPr lang="en-US" altLang="en-US">
                <a:sym typeface="+mn-ea"/>
              </a:rPr>
              <a:t>ê</a:t>
            </a:r>
            <a:r>
              <a:rPr lang="en-US" altLang="en-GB">
                <a:sym typeface="+mn-ea"/>
              </a:rPr>
              <a:t>n kết quả thị gi</a:t>
            </a:r>
            <a:r>
              <a:rPr lang="en-US" altLang="en-US">
                <a:sym typeface="+mn-ea"/>
              </a:rPr>
              <a:t>á</a:t>
            </a:r>
            <a:r>
              <a:rPr lang="en-US" altLang="en-GB">
                <a:sym typeface="+mn-ea"/>
              </a:rPr>
              <a:t>c thực tế tr</a:t>
            </a:r>
            <a:r>
              <a:rPr lang="en-US" altLang="en-US">
                <a:sym typeface="+mn-ea"/>
              </a:rPr>
              <a:t>ê</a:t>
            </a:r>
            <a:r>
              <a:rPr lang="en-US" altLang="en-GB">
                <a:sym typeface="+mn-ea"/>
              </a:rPr>
              <a:t>n làn da bệnh nh</a:t>
            </a:r>
            <a:r>
              <a:rPr lang="en-US" altLang="en-US">
                <a:sym typeface="+mn-ea"/>
              </a:rPr>
              <a:t>â</a:t>
            </a:r>
            <a:r>
              <a:rPr lang="en-US" altLang="en-GB">
                <a:sym typeface="+mn-ea"/>
              </a:rPr>
              <a:t>n Việt Nam.</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 altLang="en-US">
                <a:sym typeface="+mn-ea"/>
              </a:rPr>
              <a:t>Đ</a:t>
            </a:r>
            <a:r>
              <a:rPr lang="en-US" altLang="en-GB">
                <a:sym typeface="+mn-ea"/>
              </a:rPr>
              <a:t>ể hỗ trợ b</a:t>
            </a:r>
            <a:r>
              <a:rPr lang="en-US" altLang="en-US">
                <a:sym typeface="+mn-ea"/>
              </a:rPr>
              <a:t>á</a:t>
            </a:r>
            <a:r>
              <a:rPr lang="en-US" altLang="en-GB">
                <a:sym typeface="+mn-ea"/>
              </a:rPr>
              <a:t>c s</a:t>
            </a:r>
            <a:r>
              <a:rPr lang="" altLang="en-US">
                <a:sym typeface="+mn-ea"/>
              </a:rPr>
              <a:t>ĩ</a:t>
            </a:r>
            <a:r>
              <a:rPr lang="en-US" altLang="en-GB">
                <a:sym typeface="+mn-ea"/>
              </a:rPr>
              <a:t> tuyến c</a:t>
            </a:r>
            <a:r>
              <a:rPr lang="en-US" altLang="en-US">
                <a:sym typeface="+mn-ea"/>
              </a:rPr>
              <a:t>ơ</a:t>
            </a:r>
            <a:r>
              <a:rPr lang="en-US" altLang="en-GB">
                <a:sym typeface="+mn-ea"/>
              </a:rPr>
              <a:t> sở tra cứu ph</a:t>
            </a:r>
            <a:r>
              <a:rPr lang="en-US" altLang="en-US">
                <a:sym typeface="+mn-ea"/>
              </a:rPr>
              <a:t>á</a:t>
            </a:r>
            <a:r>
              <a:rPr lang="en-US" altLang="en-GB">
                <a:sym typeface="+mn-ea"/>
              </a:rPr>
              <a:t>c </a:t>
            </a:r>
            <a:r>
              <a:rPr lang="" altLang="en-US">
                <a:sym typeface="+mn-ea"/>
              </a:rPr>
              <a:t>đ</a:t>
            </a:r>
            <a:r>
              <a:rPr lang="en-US" altLang="en-GB">
                <a:sym typeface="+mn-ea"/>
              </a:rPr>
              <a:t>ồ </a:t>
            </a:r>
            <a:r>
              <a:rPr lang="" altLang="en-US">
                <a:sym typeface="+mn-ea"/>
              </a:rPr>
              <a:t>đ</a:t>
            </a:r>
            <a:r>
              <a:rPr lang="en-US" altLang="en-GB">
                <a:sym typeface="+mn-ea"/>
              </a:rPr>
              <a:t>iều trị, hệ thống t</a:t>
            </a:r>
            <a:r>
              <a:rPr lang="en-US" altLang="en-US">
                <a:sym typeface="+mn-ea"/>
              </a:rPr>
              <a:t>í</a:t>
            </a:r>
            <a:r>
              <a:rPr lang="en-US" altLang="en-GB">
                <a:sym typeface="+mn-ea"/>
              </a:rPr>
              <a:t>ch hợp trợ l</a:t>
            </a:r>
            <a:r>
              <a:rPr lang="" altLang="en-US">
                <a:sym typeface="+mn-ea"/>
              </a:rPr>
              <a:t>ý</a:t>
            </a:r>
            <a:r>
              <a:rPr lang="en-US" altLang="en-GB">
                <a:sym typeface="+mn-ea"/>
              </a:rPr>
              <a:t> VQA y v</a:t>
            </a:r>
            <a:r>
              <a:rPr lang="" altLang="en-US">
                <a:sym typeface="+mn-ea"/>
              </a:rPr>
              <a:t>ă</a:t>
            </a:r>
            <a:r>
              <a:rPr lang="en-US" altLang="en-GB">
                <a:sym typeface="+mn-ea"/>
              </a:rPr>
              <a:t>n hoạt </a:t>
            </a:r>
            <a:r>
              <a:rPr lang="" altLang="en-US">
                <a:sym typeface="+mn-ea"/>
              </a:rPr>
              <a:t>đ</a:t>
            </a:r>
            <a:r>
              <a:rPr lang="en-US" altLang="en-GB">
                <a:sym typeface="+mn-ea"/>
              </a:rPr>
              <a:t>ộng ngoại tuyến. Khi b</a:t>
            </a:r>
            <a:r>
              <a:rPr lang="en-US" altLang="en-US">
                <a:sym typeface="+mn-ea"/>
              </a:rPr>
              <a:t>á</a:t>
            </a:r>
            <a:r>
              <a:rPr lang="en-US" altLang="en-GB">
                <a:sym typeface="+mn-ea"/>
              </a:rPr>
              <a:t>c s</a:t>
            </a:r>
            <a:r>
              <a:rPr lang="" altLang="en-US">
                <a:sym typeface="+mn-ea"/>
              </a:rPr>
              <a:t>ĩ</a:t>
            </a:r>
            <a:r>
              <a:rPr lang="en-US" altLang="en-GB">
                <a:sym typeface="+mn-ea"/>
              </a:rPr>
              <a:t> </a:t>
            </a:r>
            <a:r>
              <a:rPr lang="" altLang="en-US">
                <a:sym typeface="+mn-ea"/>
              </a:rPr>
              <a:t>đ</a:t>
            </a:r>
            <a:r>
              <a:rPr lang="en-US" altLang="en-GB">
                <a:sym typeface="+mn-ea"/>
              </a:rPr>
              <a:t>ặt c</a:t>
            </a:r>
            <a:r>
              <a:rPr lang="en-US" altLang="en-US">
                <a:sym typeface="+mn-ea"/>
              </a:rPr>
              <a:t>â</a:t>
            </a:r>
            <a:r>
              <a:rPr lang="en-US" altLang="en-GB">
                <a:sym typeface="+mn-ea"/>
              </a:rPr>
              <a:t>u hỏi bằng v</a:t>
            </a:r>
            <a:r>
              <a:rPr lang="" altLang="en-US">
                <a:sym typeface="+mn-ea"/>
              </a:rPr>
              <a:t>ă</a:t>
            </a:r>
            <a:r>
              <a:rPr lang="en-US" altLang="en-GB">
                <a:sym typeface="+mn-ea"/>
              </a:rPr>
              <a:t>n bản hoặc ghi </a:t>
            </a:r>
            <a:r>
              <a:rPr lang="en-US" altLang="en-US">
                <a:sym typeface="+mn-ea"/>
              </a:rPr>
              <a:t>â</a:t>
            </a:r>
            <a:r>
              <a:rPr lang="en-US" altLang="en-GB">
                <a:sym typeface="+mn-ea"/>
              </a:rPr>
              <a:t>m giọng n</a:t>
            </a:r>
            <a:r>
              <a:rPr lang="en-US" altLang="en-US">
                <a:sym typeface="+mn-ea"/>
              </a:rPr>
              <a:t>ó</a:t>
            </a:r>
            <a:r>
              <a:rPr lang="en-US" altLang="en-GB">
                <a:sym typeface="+mn-ea"/>
              </a:rPr>
              <a:t>i qua micro (Speech-to-Text), hệ thống sử dụng mô h</a:t>
            </a:r>
            <a:r>
              <a:rPr lang="en-US" altLang="en-US">
                <a:sym typeface="+mn-ea"/>
              </a:rPr>
              <a:t>ì</a:t>
            </a:r>
            <a:r>
              <a:rPr lang="en-US" altLang="en-GB">
                <a:sym typeface="+mn-ea"/>
              </a:rPr>
              <a:t>nh nh</a:t>
            </a:r>
            <a:r>
              <a:rPr lang="en-US" altLang="en-US">
                <a:sym typeface="+mn-ea"/>
              </a:rPr>
              <a:t>ú</a:t>
            </a:r>
            <a:r>
              <a:rPr lang="en-US" altLang="en-GB">
                <a:sym typeface="+mn-ea"/>
              </a:rPr>
              <a:t>ng All-MiniLM-L6-v2 </a:t>
            </a:r>
            <a:r>
              <a:rPr lang="" altLang="en-US">
                <a:sym typeface="+mn-ea"/>
              </a:rPr>
              <a:t>đ</a:t>
            </a:r>
            <a:r>
              <a:rPr lang="en-US" altLang="en-GB">
                <a:sym typeface="+mn-ea"/>
              </a:rPr>
              <a:t>ể vector h</a:t>
            </a:r>
            <a:r>
              <a:rPr lang="en-US" altLang="en-US">
                <a:sym typeface="+mn-ea"/>
              </a:rPr>
              <a:t>ó</a:t>
            </a:r>
            <a:r>
              <a:rPr lang="en-US" altLang="en-GB">
                <a:sym typeface="+mn-ea"/>
              </a:rPr>
              <a:t>a c</a:t>
            </a:r>
            <a:r>
              <a:rPr lang="en-US" altLang="en-US">
                <a:sym typeface="+mn-ea"/>
              </a:rPr>
              <a:t>â</a:t>
            </a:r>
            <a:r>
              <a:rPr lang="en-US" altLang="en-GB">
                <a:sym typeface="+mn-ea"/>
              </a:rPr>
              <a:t>u hỏi và truy vấn vào CSDL ChromaDB chứa tài liệu h</a:t>
            </a:r>
            <a:r>
              <a:rPr lang="" altLang="en-US">
                <a:sym typeface="+mn-ea"/>
              </a:rPr>
              <a:t>ư</a:t>
            </a:r>
            <a:r>
              <a:rPr lang="en-US" altLang="en-GB">
                <a:sym typeface="+mn-ea"/>
              </a:rPr>
              <a:t>ớng dẫn </a:t>
            </a:r>
            <a:r>
              <a:rPr lang="" altLang="en-US">
                <a:sym typeface="+mn-ea"/>
              </a:rPr>
              <a:t>đ</a:t>
            </a:r>
            <a:r>
              <a:rPr lang="en-US" altLang="en-GB">
                <a:sym typeface="+mn-ea"/>
              </a:rPr>
              <a:t>iều trị chuẩn của Bộ Y tế.</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Ngữ cảnh y v</a:t>
            </a:r>
            <a:r>
              <a:rPr lang="" altLang="en-US">
                <a:sym typeface="+mn-ea"/>
              </a:rPr>
              <a:t>ă</a:t>
            </a:r>
            <a:r>
              <a:rPr lang="en-US" altLang="en-GB">
                <a:sym typeface="+mn-ea"/>
              </a:rPr>
              <a:t>n li</a:t>
            </a:r>
            <a:r>
              <a:rPr lang="en-US" altLang="en-US">
                <a:sym typeface="+mn-ea"/>
              </a:rPr>
              <a:t>ê</a:t>
            </a:r>
            <a:r>
              <a:rPr lang="en-US" altLang="en-GB">
                <a:sym typeface="+mn-ea"/>
              </a:rPr>
              <a:t>n quan nhất sẽ </a:t>
            </a:r>
            <a:r>
              <a:rPr lang="" altLang="en-US">
                <a:sym typeface="+mn-ea"/>
              </a:rPr>
              <a:t>đư</a:t>
            </a:r>
            <a:r>
              <a:rPr lang="en-US" altLang="en-GB">
                <a:sym typeface="+mn-ea"/>
              </a:rPr>
              <a:t>ợc nhồi trực tiếp vào prompt c</a:t>
            </a:r>
            <a:r>
              <a:rPr lang="en-US" altLang="en-US">
                <a:sym typeface="+mn-ea"/>
              </a:rPr>
              <a:t>ù</a:t>
            </a:r>
            <a:r>
              <a:rPr lang="en-US" altLang="en-GB">
                <a:sym typeface="+mn-ea"/>
              </a:rPr>
              <a:t>ng c</a:t>
            </a:r>
            <a:r>
              <a:rPr lang="en-US" altLang="en-US">
                <a:sym typeface="+mn-ea"/>
              </a:rPr>
              <a:t>â</a:t>
            </a:r>
            <a:r>
              <a:rPr lang="en-US" altLang="en-GB">
                <a:sym typeface="+mn-ea"/>
              </a:rPr>
              <a:t>u hỏi gốc </a:t>
            </a:r>
            <a:r>
              <a:rPr lang="" altLang="en-US">
                <a:sym typeface="+mn-ea"/>
              </a:rPr>
              <a:t>đ</a:t>
            </a:r>
            <a:r>
              <a:rPr lang="en-US" altLang="en-GB">
                <a:sym typeface="+mn-ea"/>
              </a:rPr>
              <a:t>ể </a:t>
            </a:r>
            <a:r>
              <a:rPr lang="" altLang="en-US">
                <a:sym typeface="+mn-ea"/>
              </a:rPr>
              <a:t>đư</a:t>
            </a:r>
            <a:r>
              <a:rPr lang="en-US" altLang="en-GB">
                <a:sym typeface="+mn-ea"/>
              </a:rPr>
              <a:t>a vào mô h</a:t>
            </a:r>
            <a:r>
              <a:rPr lang="en-US" altLang="en-US">
                <a:sym typeface="+mn-ea"/>
              </a:rPr>
              <a:t>ì</a:t>
            </a:r>
            <a:r>
              <a:rPr lang="en-US" altLang="en-GB">
                <a:sym typeface="+mn-ea"/>
              </a:rPr>
              <a:t>nh DistilGPT-2 LoRA hoặc mô h</a:t>
            </a:r>
            <a:r>
              <a:rPr lang="en-US" altLang="en-US">
                <a:sym typeface="+mn-ea"/>
              </a:rPr>
              <a:t>ì</a:t>
            </a:r>
            <a:r>
              <a:rPr lang="en-US" altLang="en-GB">
                <a:sym typeface="+mn-ea"/>
              </a:rPr>
              <a:t>nh Qwen chạy cục bộ qua Ollama. C</a:t>
            </a:r>
            <a:r>
              <a:rPr lang="en-US" altLang="en-US">
                <a:sym typeface="+mn-ea"/>
              </a:rPr>
              <a:t>ơ</a:t>
            </a:r>
            <a:r>
              <a:rPr lang="en-US" altLang="en-GB">
                <a:sym typeface="+mn-ea"/>
              </a:rPr>
              <a:t> chế RAG này gi</a:t>
            </a:r>
            <a:r>
              <a:rPr lang="en-US" altLang="en-US">
                <a:sym typeface="+mn-ea"/>
              </a:rPr>
              <a:t>ú</a:t>
            </a:r>
            <a:r>
              <a:rPr lang="en-US" altLang="en-GB">
                <a:sym typeface="+mn-ea"/>
              </a:rPr>
              <a:t>p triệt ti</a:t>
            </a:r>
            <a:r>
              <a:rPr lang="en-US" altLang="en-US">
                <a:sym typeface="+mn-ea"/>
              </a:rPr>
              <a:t>ê</a:t>
            </a:r>
            <a:r>
              <a:rPr lang="en-US" altLang="en-GB">
                <a:sym typeface="+mn-ea"/>
              </a:rPr>
              <a:t>u hiện t</a:t>
            </a:r>
            <a:r>
              <a:rPr lang="" altLang="en-US">
                <a:sym typeface="+mn-ea"/>
              </a:rPr>
              <a:t>ư</a:t>
            </a:r>
            <a:r>
              <a:rPr lang="en-US" altLang="en-GB">
                <a:sym typeface="+mn-ea"/>
              </a:rPr>
              <a:t>ợng ảo gi</a:t>
            </a:r>
            <a:r>
              <a:rPr lang="en-US" altLang="en-US">
                <a:sym typeface="+mn-ea"/>
              </a:rPr>
              <a:t>á</a:t>
            </a:r>
            <a:r>
              <a:rPr lang="en-US" altLang="en-GB">
                <a:sym typeface="+mn-ea"/>
              </a:rPr>
              <a:t>c của LLM.</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 altLang="en-US">
                <a:sym typeface="+mn-ea"/>
              </a:rPr>
              <a:t>Đ</a:t>
            </a:r>
            <a:r>
              <a:rPr lang="en-US" altLang="en-GB">
                <a:sym typeface="+mn-ea"/>
              </a:rPr>
              <a:t>ồng thời, em thiết kế Cổng lọc an toàn thuốc (Medication Guardrails) </a:t>
            </a:r>
            <a:r>
              <a:rPr lang="" altLang="en-US">
                <a:sym typeface="+mn-ea"/>
              </a:rPr>
              <a:t>đ</a:t>
            </a:r>
            <a:r>
              <a:rPr lang="en-US" altLang="en-GB">
                <a:sym typeface="+mn-ea"/>
              </a:rPr>
              <a:t>ể nhận diện c</a:t>
            </a:r>
            <a:r>
              <a:rPr lang="en-US" altLang="en-US">
                <a:sym typeface="+mn-ea"/>
              </a:rPr>
              <a:t>á</a:t>
            </a:r>
            <a:r>
              <a:rPr lang="en-US" altLang="en-GB">
                <a:sym typeface="+mn-ea"/>
              </a:rPr>
              <a:t>c c</a:t>
            </a:r>
            <a:r>
              <a:rPr lang="en-US" altLang="en-US">
                <a:sym typeface="+mn-ea"/>
              </a:rPr>
              <a:t>â</a:t>
            </a:r>
            <a:r>
              <a:rPr lang="en-US" altLang="en-GB">
                <a:sym typeface="+mn-ea"/>
              </a:rPr>
              <a:t>u hỏi y</a:t>
            </a:r>
            <a:r>
              <a:rPr lang="en-US" altLang="en-US">
                <a:sym typeface="+mn-ea"/>
              </a:rPr>
              <a:t>ê</a:t>
            </a:r>
            <a:r>
              <a:rPr lang="en-US" altLang="en-GB">
                <a:sym typeface="+mn-ea"/>
              </a:rPr>
              <a:t>u cầu tự k</a:t>
            </a:r>
            <a:r>
              <a:rPr lang="en-US" altLang="en-US">
                <a:sym typeface="+mn-ea"/>
              </a:rPr>
              <a:t>ê</a:t>
            </a:r>
            <a:r>
              <a:rPr lang="en-US" altLang="en-GB">
                <a:sym typeface="+mn-ea"/>
              </a:rPr>
              <a:t> </a:t>
            </a:r>
            <a:r>
              <a:rPr lang="" altLang="en-US">
                <a:sym typeface="+mn-ea"/>
              </a:rPr>
              <a:t>đ</a:t>
            </a:r>
            <a:r>
              <a:rPr lang="en-US" altLang="en-US">
                <a:sym typeface="+mn-ea"/>
              </a:rPr>
              <a:t>ơ</a:t>
            </a:r>
            <a:r>
              <a:rPr lang="en-US" altLang="en-GB">
                <a:sym typeface="+mn-ea"/>
              </a:rPr>
              <a:t>n thuốc nhạy cảm, lập tức chặn và chuyển sang thông b</a:t>
            </a:r>
            <a:r>
              <a:rPr lang="en-US" altLang="en-US">
                <a:sym typeface="+mn-ea"/>
              </a:rPr>
              <a:t>á</a:t>
            </a:r>
            <a:r>
              <a:rPr lang="en-US" altLang="en-GB">
                <a:sym typeface="+mn-ea"/>
              </a:rPr>
              <a:t>o cảnh b</a:t>
            </a:r>
            <a:r>
              <a:rPr lang="en-US" altLang="en-US">
                <a:sym typeface="+mn-ea"/>
              </a:rPr>
              <a:t>á</a:t>
            </a:r>
            <a:r>
              <a:rPr lang="en-US" altLang="en-GB">
                <a:sym typeface="+mn-ea"/>
              </a:rPr>
              <a:t>o an toàn l</a:t>
            </a:r>
            <a:r>
              <a:rPr lang="en-US" altLang="en-US">
                <a:sym typeface="+mn-ea"/>
              </a:rPr>
              <a:t>â</a:t>
            </a:r>
            <a:r>
              <a:rPr lang="en-US" altLang="en-GB">
                <a:sym typeface="+mn-ea"/>
              </a:rPr>
              <a:t>m sàng, cuối c</a:t>
            </a:r>
            <a:r>
              <a:rPr lang="en-US" altLang="en-US">
                <a:sym typeface="+mn-ea"/>
              </a:rPr>
              <a:t>ù</a:t>
            </a:r>
            <a:r>
              <a:rPr lang="en-US" altLang="en-GB">
                <a:sym typeface="+mn-ea"/>
              </a:rPr>
              <a:t>ng hiển thị c</a:t>
            </a:r>
            <a:r>
              <a:rPr lang="en-US" altLang="en-US">
                <a:sym typeface="+mn-ea"/>
              </a:rPr>
              <a:t>â</a:t>
            </a:r>
            <a:r>
              <a:rPr lang="en-US" altLang="en-GB">
                <a:sym typeface="+mn-ea"/>
              </a:rPr>
              <a:t>u trả lời dạng v</a:t>
            </a:r>
            <a:r>
              <a:rPr lang="" altLang="en-US">
                <a:sym typeface="+mn-ea"/>
              </a:rPr>
              <a:t>ă</a:t>
            </a:r>
            <a:r>
              <a:rPr lang="en-US" altLang="en-GB">
                <a:sym typeface="+mn-ea"/>
              </a:rPr>
              <a:t>n bản an toàn y khoa.</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sym typeface="+mn-ea"/>
            </a:endParaRP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endParaRPr>
              <a:sym typeface="+mn-ea"/>
            </a:endParaRPr>
          </a:p>
          <a:p>
            <a:pPr marL="0" lvl="0" indent="0" algn="l" rtl="0">
              <a:spcBef>
                <a:spcPts val="0"/>
              </a:spcBef>
              <a:spcAft>
                <a:spcPts val="0"/>
              </a:spcAft>
              <a:buNone/>
            </a:pPr>
            <a:endParaRPr>
              <a:sym typeface="+mn-ea"/>
            </a:endParaRPr>
          </a:p>
          <a:p>
            <a:pPr marL="0" lvl="0" indent="0" algn="l" rtl="0">
              <a:spcBef>
                <a:spcPts val="0"/>
              </a:spcBef>
              <a:spcAft>
                <a:spcPts val="0"/>
              </a:spcAft>
              <a:buNone/>
            </a:pPr>
            <a:r>
              <a:rPr lang="en-US" altLang="en-GB">
                <a:sym typeface="+mn-ea"/>
              </a:rPr>
              <a:t> em xin giới thiệu cấu tr</a:t>
            </a:r>
            <a:r>
              <a:rPr lang="en-US" altLang="en-US">
                <a:sym typeface="+mn-ea"/>
              </a:rPr>
              <a:t>ú</a:t>
            </a:r>
            <a:r>
              <a:rPr lang="en-US" altLang="en-GB">
                <a:sym typeface="+mn-ea"/>
              </a:rPr>
              <a:t>c phần mềm </a:t>
            </a:r>
            <a:r>
              <a:rPr lang="" altLang="en-US">
                <a:sym typeface="+mn-ea"/>
              </a:rPr>
              <a:t>đư</a:t>
            </a:r>
            <a:r>
              <a:rPr lang="en-US" altLang="en-GB">
                <a:sym typeface="+mn-ea"/>
              </a:rPr>
              <a:t>ợc thiết kế h</a:t>
            </a:r>
            <a:r>
              <a:rPr lang="" altLang="en-US">
                <a:sym typeface="+mn-ea"/>
              </a:rPr>
              <a:t>ư</a:t>
            </a:r>
            <a:r>
              <a:rPr lang="en-US" altLang="en-GB">
                <a:sym typeface="+mn-ea"/>
              </a:rPr>
              <a:t>ớng </a:t>
            </a:r>
            <a:r>
              <a:rPr lang="" altLang="en-US">
                <a:sym typeface="+mn-ea"/>
              </a:rPr>
              <a:t>đ</a:t>
            </a:r>
            <a:r>
              <a:rPr lang="en-US" altLang="en-GB">
                <a:sym typeface="+mn-ea"/>
              </a:rPr>
              <a:t>ối t</a:t>
            </a:r>
            <a:r>
              <a:rPr lang="" altLang="en-US">
                <a:sym typeface="+mn-ea"/>
              </a:rPr>
              <a:t>ư</a:t>
            </a:r>
            <a:r>
              <a:rPr lang="en-US" altLang="en-GB">
                <a:sym typeface="+mn-ea"/>
              </a:rPr>
              <a:t>ợng hoàn chỉnh của </a:t>
            </a:r>
            <a:r>
              <a:rPr lang="" altLang="en-US">
                <a:sym typeface="+mn-ea"/>
              </a:rPr>
              <a:t>đ</a:t>
            </a:r>
            <a:r>
              <a:rPr lang="en-US" altLang="en-GB">
                <a:sym typeface="+mn-ea"/>
              </a:rPr>
              <a:t>ồ </a:t>
            </a:r>
            <a:r>
              <a:rPr lang="en-US" altLang="en-US">
                <a:sym typeface="+mn-ea"/>
              </a:rPr>
              <a:t>á</a:t>
            </a:r>
            <a:r>
              <a:rPr lang="en-US" altLang="en-GB">
                <a:sym typeface="+mn-ea"/>
              </a:rPr>
              <a:t>n. Lớp </a:t>
            </a:r>
            <a:r>
              <a:rPr lang="" altLang="en-US">
                <a:sym typeface="+mn-ea"/>
              </a:rPr>
              <a:t>đ</a:t>
            </a:r>
            <a:r>
              <a:rPr lang="en-US" altLang="en-GB">
                <a:sym typeface="+mn-ea"/>
              </a:rPr>
              <a:t>iều phối trung t</a:t>
            </a:r>
            <a:r>
              <a:rPr lang="en-US" altLang="en-US">
                <a:sym typeface="+mn-ea"/>
              </a:rPr>
              <a:t>â</a:t>
            </a:r>
            <a:r>
              <a:rPr lang="en-US" altLang="en-GB">
                <a:sym typeface="+mn-ea"/>
              </a:rPr>
              <a:t>m là UnifiedDermatologyPipeline </a:t>
            </a:r>
            <a:r>
              <a:rPr lang="" altLang="en-US">
                <a:sym typeface="+mn-ea"/>
              </a:rPr>
              <a:t>đ</a:t>
            </a:r>
            <a:r>
              <a:rPr lang="en-US" altLang="en-US">
                <a:sym typeface="+mn-ea"/>
              </a:rPr>
              <a:t>ó</a:t>
            </a:r>
            <a:r>
              <a:rPr lang="en-US" altLang="en-GB">
                <a:sym typeface="+mn-ea"/>
              </a:rPr>
              <a:t>ng vai tr</a:t>
            </a:r>
            <a:r>
              <a:rPr lang="en-US" altLang="en-US">
                <a:sym typeface="+mn-ea"/>
              </a:rPr>
              <a:t>ò</a:t>
            </a:r>
            <a:r>
              <a:rPr lang="en-US" altLang="en-GB">
                <a:sym typeface="+mn-ea"/>
              </a:rPr>
              <a:t> </a:t>
            </a:r>
            <a:r>
              <a:rPr lang="" altLang="en-US">
                <a:sym typeface="+mn-ea"/>
              </a:rPr>
              <a:t>đ</a:t>
            </a:r>
            <a:r>
              <a:rPr lang="en-US" altLang="en-GB">
                <a:sym typeface="+mn-ea"/>
              </a:rPr>
              <a:t>iều khiển (Controller).</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Lớp này kết nối </a:t>
            </a:r>
            <a:r>
              <a:rPr lang="" altLang="en-US">
                <a:sym typeface="+mn-ea"/>
              </a:rPr>
              <a:t>đ</a:t>
            </a:r>
            <a:r>
              <a:rPr lang="en-US" altLang="en-GB">
                <a:sym typeface="+mn-ea"/>
              </a:rPr>
              <a:t>ộc lập với c</a:t>
            </a:r>
            <a:r>
              <a:rPr lang="en-US" altLang="en-US">
                <a:sym typeface="+mn-ea"/>
              </a:rPr>
              <a:t>á</a:t>
            </a:r>
            <a:r>
              <a:rPr lang="en-US" altLang="en-GB">
                <a:sym typeface="+mn-ea"/>
              </a:rPr>
              <a:t>c lớp dịch vụ chuy</a:t>
            </a:r>
            <a:r>
              <a:rPr lang="en-US" altLang="en-US">
                <a:sym typeface="+mn-ea"/>
              </a:rPr>
              <a:t>ê</a:t>
            </a:r>
            <a:r>
              <a:rPr lang="en-US" altLang="en-GB">
                <a:sym typeface="+mn-ea"/>
              </a:rPr>
              <a:t>n tr</a:t>
            </a:r>
            <a:r>
              <a:rPr lang="en-US" altLang="en-US">
                <a:sym typeface="+mn-ea"/>
              </a:rPr>
              <a:t>á</a:t>
            </a:r>
            <a:r>
              <a:rPr lang="en-US" altLang="en-GB">
                <a:sym typeface="+mn-ea"/>
              </a:rPr>
              <a:t>ch:</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SafetyGate: </a:t>
            </a:r>
            <a:r>
              <a:rPr lang="" altLang="en-US">
                <a:sym typeface="+mn-ea"/>
              </a:rPr>
              <a:t>Đ</a:t>
            </a:r>
            <a:r>
              <a:rPr lang="en-US" altLang="en-GB">
                <a:sym typeface="+mn-ea"/>
              </a:rPr>
              <a:t>ảm nhiệm tiền kiểm chất l</a:t>
            </a:r>
            <a:r>
              <a:rPr lang="" altLang="en-US">
                <a:sym typeface="+mn-ea"/>
              </a:rPr>
              <a:t>ư</a:t>
            </a:r>
            <a:r>
              <a:rPr lang="en-US" altLang="en-GB">
                <a:sym typeface="+mn-ea"/>
              </a:rPr>
              <a:t>ợng ảnh l</a:t>
            </a:r>
            <a:r>
              <a:rPr lang="en-US" altLang="en-US">
                <a:sym typeface="+mn-ea"/>
              </a:rPr>
              <a:t>â</a:t>
            </a:r>
            <a:r>
              <a:rPr lang="en-US" altLang="en-GB">
                <a:sym typeface="+mn-ea"/>
              </a:rPr>
              <a:t>m sàng và hậu kiểm cảnh b</a:t>
            </a:r>
            <a:r>
              <a:rPr lang="en-US" altLang="en-US">
                <a:sym typeface="+mn-ea"/>
              </a:rPr>
              <a:t>á</a:t>
            </a:r>
            <a:r>
              <a:rPr lang="en-US" altLang="en-GB">
                <a:sym typeface="+mn-ea"/>
              </a:rPr>
              <a:t>o chuyển tuyến.</a:t>
            </a:r>
            <a:endParaRPr lang="en-US" altLang="en-GB">
              <a:sym typeface="+mn-ea"/>
            </a:endParaRPr>
          </a:p>
          <a:p>
            <a:pPr marL="0" lvl="0" indent="0" algn="l" rtl="0">
              <a:spcBef>
                <a:spcPts val="0"/>
              </a:spcBef>
              <a:spcAft>
                <a:spcPts val="0"/>
              </a:spcAft>
              <a:buNone/>
            </a:pPr>
            <a:r>
              <a:rPr lang="en-US" altLang="en-GB">
                <a:sym typeface="+mn-ea"/>
              </a:rPr>
              <a:t>InteractiveSegmenter: </a:t>
            </a:r>
            <a:r>
              <a:rPr lang="" altLang="en-US">
                <a:sym typeface="+mn-ea"/>
              </a:rPr>
              <a:t>Đ</a:t>
            </a:r>
            <a:r>
              <a:rPr lang="en-US" altLang="en-GB">
                <a:sym typeface="+mn-ea"/>
              </a:rPr>
              <a:t>ảm nhiệm thuật to</a:t>
            </a:r>
            <a:r>
              <a:rPr lang="en-US" altLang="en-US">
                <a:sym typeface="+mn-ea"/>
              </a:rPr>
              <a:t>á</a:t>
            </a:r>
            <a:r>
              <a:rPr lang="en-US" altLang="en-GB">
                <a:sym typeface="+mn-ea"/>
              </a:rPr>
              <a:t>n ph</a:t>
            </a:r>
            <a:r>
              <a:rPr lang="en-US" altLang="en-US">
                <a:sym typeface="+mn-ea"/>
              </a:rPr>
              <a:t>â</a:t>
            </a:r>
            <a:r>
              <a:rPr lang="en-US" altLang="en-GB">
                <a:sym typeface="+mn-ea"/>
              </a:rPr>
              <a:t>n </a:t>
            </a:r>
            <a:r>
              <a:rPr lang="" altLang="en-US">
                <a:sym typeface="+mn-ea"/>
              </a:rPr>
              <a:t>đ</a:t>
            </a:r>
            <a:r>
              <a:rPr lang="en-US" altLang="en-GB">
                <a:sym typeface="+mn-ea"/>
              </a:rPr>
              <a:t>oạn SAM, GrabCut và OTSU.</a:t>
            </a:r>
            <a:endParaRPr lang="en-US" altLang="en-GB">
              <a:sym typeface="+mn-ea"/>
            </a:endParaRPr>
          </a:p>
          <a:p>
            <a:pPr marL="0" lvl="0" indent="0" algn="l" rtl="0">
              <a:spcBef>
                <a:spcPts val="0"/>
              </a:spcBef>
              <a:spcAft>
                <a:spcPts val="0"/>
              </a:spcAft>
              <a:buNone/>
            </a:pPr>
            <a:r>
              <a:rPr lang="en-US" altLang="en-GB">
                <a:sym typeface="+mn-ea"/>
              </a:rPr>
              <a:t>MultimodalBayesianFusion: Quản l</a:t>
            </a:r>
            <a:r>
              <a:rPr lang="" altLang="en-US">
                <a:sym typeface="+mn-ea"/>
              </a:rPr>
              <a:t>ý</a:t>
            </a:r>
            <a:r>
              <a:rPr lang="en-US" altLang="en-GB">
                <a:sym typeface="+mn-ea"/>
              </a:rPr>
              <a:t> mạng n</a:t>
            </a:r>
            <a:r>
              <a:rPr lang="en-US" altLang="en-US">
                <a:sym typeface="+mn-ea"/>
              </a:rPr>
              <a:t>ơ</a:t>
            </a:r>
            <a:r>
              <a:rPr lang="en-US" altLang="en-GB">
                <a:sym typeface="+mn-ea"/>
              </a:rPr>
              <a:t>-ron ph</a:t>
            </a:r>
            <a:r>
              <a:rPr lang="en-US" altLang="en-US">
                <a:sym typeface="+mn-ea"/>
              </a:rPr>
              <a:t>â</a:t>
            </a:r>
            <a:r>
              <a:rPr lang="en-US" altLang="en-GB">
                <a:sym typeface="+mn-ea"/>
              </a:rPr>
              <a:t>n loại EfficientNet và công thức Bayes.</a:t>
            </a:r>
            <a:endParaRPr lang="en-US" altLang="en-GB">
              <a:sym typeface="+mn-ea"/>
            </a:endParaRPr>
          </a:p>
          <a:p>
            <a:pPr marL="0" lvl="0" indent="0" algn="l" rtl="0">
              <a:spcBef>
                <a:spcPts val="0"/>
              </a:spcBef>
              <a:spcAft>
                <a:spcPts val="0"/>
              </a:spcAft>
              <a:buNone/>
            </a:pPr>
            <a:r>
              <a:rPr lang="en-US" altLang="en-GB">
                <a:sym typeface="+mn-ea"/>
              </a:rPr>
              <a:t>EHRManager: Chịu tr</a:t>
            </a:r>
            <a:r>
              <a:rPr lang="en-US" altLang="en-US">
                <a:sym typeface="+mn-ea"/>
              </a:rPr>
              <a:t>á</a:t>
            </a:r>
            <a:r>
              <a:rPr lang="en-US" altLang="en-GB">
                <a:sym typeface="+mn-ea"/>
              </a:rPr>
              <a:t>ch nhiệm m</a:t>
            </a:r>
            <a:r>
              <a:rPr lang="en-US" altLang="en-US">
                <a:sym typeface="+mn-ea"/>
              </a:rPr>
              <a:t>ã</a:t>
            </a:r>
            <a:r>
              <a:rPr lang="en-US" altLang="en-GB">
                <a:sym typeface="+mn-ea"/>
              </a:rPr>
              <a:t> h</a:t>
            </a:r>
            <a:r>
              <a:rPr lang="en-US" altLang="en-US">
                <a:sym typeface="+mn-ea"/>
              </a:rPr>
              <a:t>ó</a:t>
            </a:r>
            <a:r>
              <a:rPr lang="en-US" altLang="en-GB">
                <a:sym typeface="+mn-ea"/>
              </a:rPr>
              <a:t>a dữ liệu bệnh nh</a:t>
            </a:r>
            <a:r>
              <a:rPr lang="en-US" altLang="en-US">
                <a:sym typeface="+mn-ea"/>
              </a:rPr>
              <a:t>â</a:t>
            </a:r>
            <a:r>
              <a:rPr lang="en-US" altLang="en-GB">
                <a:sym typeface="+mn-ea"/>
              </a:rPr>
              <a:t>n và </a:t>
            </a:r>
            <a:r>
              <a:rPr lang="" altLang="en-US">
                <a:sym typeface="+mn-ea"/>
              </a:rPr>
              <a:t>đ</a:t>
            </a:r>
            <a:r>
              <a:rPr lang="en-US" altLang="en-GB">
                <a:sym typeface="+mn-ea"/>
              </a:rPr>
              <a:t>ồng bộ Firestore.</a:t>
            </a:r>
            <a:endParaRPr lang="en-US" altLang="en-GB">
              <a:sym typeface="+mn-ea"/>
            </a:endParaRPr>
          </a:p>
          <a:p>
            <a:pPr marL="0" lvl="0" indent="0" algn="l" rtl="0">
              <a:spcBef>
                <a:spcPts val="0"/>
              </a:spcBef>
              <a:spcAft>
                <a:spcPts val="0"/>
              </a:spcAft>
              <a:buNone/>
            </a:pPr>
            <a:r>
              <a:rPr lang="en-US" altLang="en-GB">
                <a:sym typeface="+mn-ea"/>
              </a:rPr>
              <a:t>Kiến tr</a:t>
            </a:r>
            <a:r>
              <a:rPr lang="en-US" altLang="en-US">
                <a:sym typeface="+mn-ea"/>
              </a:rPr>
              <a:t>ú</a:t>
            </a:r>
            <a:r>
              <a:rPr lang="en-US" altLang="en-GB">
                <a:sym typeface="+mn-ea"/>
              </a:rPr>
              <a:t>c ph</a:t>
            </a:r>
            <a:r>
              <a:rPr lang="en-US" altLang="en-US">
                <a:sym typeface="+mn-ea"/>
              </a:rPr>
              <a:t>â</a:t>
            </a:r>
            <a:r>
              <a:rPr lang="en-US" altLang="en-GB">
                <a:sym typeface="+mn-ea"/>
              </a:rPr>
              <a:t>n r</a:t>
            </a:r>
            <a:r>
              <a:rPr lang="en-US" altLang="en-US">
                <a:sym typeface="+mn-ea"/>
              </a:rPr>
              <a:t>ã</a:t>
            </a:r>
            <a:r>
              <a:rPr lang="en-US" altLang="en-GB">
                <a:sym typeface="+mn-ea"/>
              </a:rPr>
              <a:t> này gi</a:t>
            </a:r>
            <a:r>
              <a:rPr lang="en-US" altLang="en-US">
                <a:sym typeface="+mn-ea"/>
              </a:rPr>
              <a:t>ú</a:t>
            </a:r>
            <a:r>
              <a:rPr lang="en-US" altLang="en-GB">
                <a:sym typeface="+mn-ea"/>
              </a:rPr>
              <a:t>p hệ thống </a:t>
            </a:r>
            <a:r>
              <a:rPr lang="" altLang="en-US">
                <a:sym typeface="+mn-ea"/>
              </a:rPr>
              <a:t>đ</a:t>
            </a:r>
            <a:r>
              <a:rPr lang="en-US" altLang="en-GB">
                <a:sym typeface="+mn-ea"/>
              </a:rPr>
              <a:t>ạt </a:t>
            </a:r>
            <a:r>
              <a:rPr lang="" altLang="en-US">
                <a:sym typeface="+mn-ea"/>
              </a:rPr>
              <a:t>đ</a:t>
            </a:r>
            <a:r>
              <a:rPr lang="en-US" altLang="en-GB">
                <a:sym typeface="+mn-ea"/>
              </a:rPr>
              <a:t>ộ kết d</a:t>
            </a:r>
            <a:r>
              <a:rPr lang="en-US" altLang="en-US">
                <a:sym typeface="+mn-ea"/>
              </a:rPr>
              <a:t>í</a:t>
            </a:r>
            <a:r>
              <a:rPr lang="en-US" altLang="en-GB">
                <a:sym typeface="+mn-ea"/>
              </a:rPr>
              <a:t>nh cao (High Cohesion) và li</a:t>
            </a:r>
            <a:r>
              <a:rPr lang="en-US" altLang="en-US">
                <a:sym typeface="+mn-ea"/>
              </a:rPr>
              <a:t>ê</a:t>
            </a:r>
            <a:r>
              <a:rPr lang="en-US" altLang="en-GB">
                <a:sym typeface="+mn-ea"/>
              </a:rPr>
              <a:t>n kết yếu (Loose Coupling), gi</a:t>
            </a:r>
            <a:r>
              <a:rPr lang="en-US" altLang="en-US">
                <a:sym typeface="+mn-ea"/>
              </a:rPr>
              <a:t>ú</a:t>
            </a:r>
            <a:r>
              <a:rPr lang="en-US" altLang="en-GB">
                <a:sym typeface="+mn-ea"/>
              </a:rPr>
              <a:t>p dễ dàng thay thế mô h</a:t>
            </a:r>
            <a:r>
              <a:rPr lang="en-US" altLang="en-US">
                <a:sym typeface="+mn-ea"/>
              </a:rPr>
              <a:t>ì</a:t>
            </a:r>
            <a:r>
              <a:rPr lang="en-US" altLang="en-GB">
                <a:sym typeface="+mn-ea"/>
              </a:rPr>
              <a:t>nh AI hoặc n</a:t>
            </a:r>
            <a:r>
              <a:rPr lang="en-US" altLang="en-US">
                <a:sym typeface="+mn-ea"/>
              </a:rPr>
              <a:t>â</a:t>
            </a:r>
            <a:r>
              <a:rPr lang="en-US" altLang="en-GB">
                <a:sym typeface="+mn-ea"/>
              </a:rPr>
              <a:t>ng cấp CSDL trong t</a:t>
            </a:r>
            <a:r>
              <a:rPr lang="" altLang="en-US">
                <a:sym typeface="+mn-ea"/>
              </a:rPr>
              <a:t>ư</a:t>
            </a:r>
            <a:r>
              <a:rPr lang="en-US" altLang="en-US">
                <a:sym typeface="+mn-ea"/>
              </a:rPr>
              <a:t>ơ</a:t>
            </a:r>
            <a:r>
              <a:rPr lang="en-US" altLang="en-GB">
                <a:sym typeface="+mn-ea"/>
              </a:rPr>
              <a:t>ng lai.</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en-GB">
                <a:sym typeface="+mn-ea"/>
              </a:rPr>
              <a:t>Em xin tr</a:t>
            </a:r>
            <a:r>
              <a:rPr lang="en-US" altLang="en-US">
                <a:sym typeface="+mn-ea"/>
              </a:rPr>
              <a:t>ì</a:t>
            </a:r>
            <a:r>
              <a:rPr lang="en-US" altLang="en-GB">
                <a:sym typeface="+mn-ea"/>
              </a:rPr>
              <a:t>nh bày Ph</a:t>
            </a:r>
            <a:r>
              <a:rPr lang="en-US" altLang="en-US">
                <a:sym typeface="+mn-ea"/>
              </a:rPr>
              <a:t>â</a:t>
            </a:r>
            <a:r>
              <a:rPr lang="en-US" altLang="en-GB">
                <a:sym typeface="+mn-ea"/>
              </a:rPr>
              <a:t>n hệ bảo mật và tối </a:t>
            </a:r>
            <a:r>
              <a:rPr lang="" altLang="en-US">
                <a:sym typeface="+mn-ea"/>
              </a:rPr>
              <a:t>ư</a:t>
            </a:r>
            <a:r>
              <a:rPr lang="en-US" altLang="en-GB">
                <a:sym typeface="+mn-ea"/>
              </a:rPr>
              <a:t>u h</a:t>
            </a:r>
            <a:r>
              <a:rPr lang="en-US" altLang="en-US">
                <a:sym typeface="+mn-ea"/>
              </a:rPr>
              <a:t>ó</a:t>
            </a:r>
            <a:r>
              <a:rPr lang="en-US" altLang="en-GB">
                <a:sym typeface="+mn-ea"/>
              </a:rPr>
              <a:t>a hệ thống. Nhằm tu</a:t>
            </a:r>
            <a:r>
              <a:rPr lang="en-US" altLang="en-US">
                <a:sym typeface="+mn-ea"/>
              </a:rPr>
              <a:t>â</a:t>
            </a:r>
            <a:r>
              <a:rPr lang="en-US" altLang="en-GB">
                <a:sym typeface="+mn-ea"/>
              </a:rPr>
              <a:t>n thủ ti</a:t>
            </a:r>
            <a:r>
              <a:rPr lang="en-US" altLang="en-US">
                <a:sym typeface="+mn-ea"/>
              </a:rPr>
              <a:t>ê</a:t>
            </a:r>
            <a:r>
              <a:rPr lang="en-US" altLang="en-GB">
                <a:sym typeface="+mn-ea"/>
              </a:rPr>
              <a:t>u chuẩn bảo mật y tế HIPAA, dữ liệu bệnh nh</a:t>
            </a:r>
            <a:r>
              <a:rPr lang="en-US" altLang="en-US">
                <a:sym typeface="+mn-ea"/>
              </a:rPr>
              <a:t>â</a:t>
            </a:r>
            <a:r>
              <a:rPr lang="en-US" altLang="en-GB">
                <a:sym typeface="+mn-ea"/>
              </a:rPr>
              <a:t>n </a:t>
            </a:r>
            <a:r>
              <a:rPr lang="" altLang="en-US">
                <a:sym typeface="+mn-ea"/>
              </a:rPr>
              <a:t>đư</a:t>
            </a:r>
            <a:r>
              <a:rPr lang="en-US" altLang="en-GB">
                <a:sym typeface="+mn-ea"/>
              </a:rPr>
              <a:t>ợc ẩn danh h</a:t>
            </a:r>
            <a:r>
              <a:rPr lang="en-US" altLang="en-US">
                <a:sym typeface="+mn-ea"/>
              </a:rPr>
              <a:t>ó</a:t>
            </a:r>
            <a:r>
              <a:rPr lang="en-US" altLang="en-GB">
                <a:sym typeface="+mn-ea"/>
              </a:rPr>
              <a:t>a bằng c</a:t>
            </a:r>
            <a:r>
              <a:rPr lang="en-US" altLang="en-US">
                <a:sym typeface="+mn-ea"/>
              </a:rPr>
              <a:t>á</a:t>
            </a:r>
            <a:r>
              <a:rPr lang="en-US" altLang="en-GB">
                <a:sym typeface="+mn-ea"/>
              </a:rPr>
              <a:t>ch b</a:t>
            </a:r>
            <a:r>
              <a:rPr lang="" altLang="en-US">
                <a:sym typeface="+mn-ea"/>
              </a:rPr>
              <a:t>ă</a:t>
            </a:r>
            <a:r>
              <a:rPr lang="en-US" altLang="en-GB">
                <a:sym typeface="+mn-ea"/>
              </a:rPr>
              <a:t>m SHA-256 số </a:t>
            </a:r>
            <a:r>
              <a:rPr lang="" altLang="en-US">
                <a:sym typeface="+mn-ea"/>
              </a:rPr>
              <a:t>đ</a:t>
            </a:r>
            <a:r>
              <a:rPr lang="en-US" altLang="en-GB">
                <a:sym typeface="+mn-ea"/>
              </a:rPr>
              <a:t>ịnh danh (CCCD/T</a:t>
            </a:r>
            <a:r>
              <a:rPr lang="en-US" altLang="en-US">
                <a:sym typeface="+mn-ea"/>
              </a:rPr>
              <a:t>ê</a:t>
            </a:r>
            <a:r>
              <a:rPr lang="en-US" altLang="en-GB">
                <a:sym typeface="+mn-ea"/>
              </a:rPr>
              <a:t>n) làm Document ID.</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Toàn bộ dữ liệu bệnh </a:t>
            </a:r>
            <a:r>
              <a:rPr lang="en-US" altLang="en-US">
                <a:sym typeface="+mn-ea"/>
              </a:rPr>
              <a:t>á</a:t>
            </a:r>
            <a:r>
              <a:rPr lang="en-US" altLang="en-GB">
                <a:sym typeface="+mn-ea"/>
              </a:rPr>
              <a:t>n l</a:t>
            </a:r>
            <a:r>
              <a:rPr lang="en-US" altLang="en-US">
                <a:sym typeface="+mn-ea"/>
              </a:rPr>
              <a:t>â</a:t>
            </a:r>
            <a:r>
              <a:rPr lang="en-US" altLang="en-GB">
                <a:sym typeface="+mn-ea"/>
              </a:rPr>
              <a:t>m sàng nhạy cảm </a:t>
            </a:r>
            <a:r>
              <a:rPr lang="" altLang="en-US">
                <a:sym typeface="+mn-ea"/>
              </a:rPr>
              <a:t>đư</a:t>
            </a:r>
            <a:r>
              <a:rPr lang="en-US" altLang="en-GB">
                <a:sym typeface="+mn-ea"/>
              </a:rPr>
              <a:t>ợc m</a:t>
            </a:r>
            <a:r>
              <a:rPr lang="en-US" altLang="en-US">
                <a:sym typeface="+mn-ea"/>
              </a:rPr>
              <a:t>ã</a:t>
            </a:r>
            <a:r>
              <a:rPr lang="en-US" altLang="en-GB">
                <a:sym typeface="+mn-ea"/>
              </a:rPr>
              <a:t> h</a:t>
            </a:r>
            <a:r>
              <a:rPr lang="en-US" altLang="en-US">
                <a:sym typeface="+mn-ea"/>
              </a:rPr>
              <a:t>ó</a:t>
            </a:r>
            <a:r>
              <a:rPr lang="en-US" altLang="en-GB">
                <a:sym typeface="+mn-ea"/>
              </a:rPr>
              <a:t>a </a:t>
            </a:r>
            <a:r>
              <a:rPr lang="" altLang="en-US">
                <a:sym typeface="+mn-ea"/>
              </a:rPr>
              <a:t>đ</a:t>
            </a:r>
            <a:r>
              <a:rPr lang="en-US" altLang="en-GB">
                <a:sym typeface="+mn-ea"/>
              </a:rPr>
              <a:t>ối xứng XOR + Base64 tr</a:t>
            </a:r>
            <a:r>
              <a:rPr lang="" altLang="en-US">
                <a:sym typeface="+mn-ea"/>
              </a:rPr>
              <a:t>ư</a:t>
            </a:r>
            <a:r>
              <a:rPr lang="en-US" altLang="en-GB">
                <a:sym typeface="+mn-ea"/>
              </a:rPr>
              <a:t>ớc khi </a:t>
            </a:r>
            <a:r>
              <a:rPr lang="" altLang="en-US">
                <a:sym typeface="+mn-ea"/>
              </a:rPr>
              <a:t>đ</a:t>
            </a:r>
            <a:r>
              <a:rPr lang="en-US" altLang="en-GB">
                <a:sym typeface="+mn-ea"/>
              </a:rPr>
              <a:t>ồng bộ l</a:t>
            </a:r>
            <a:r>
              <a:rPr lang="en-US" altLang="en-US">
                <a:sym typeface="+mn-ea"/>
              </a:rPr>
              <a:t>ê</a:t>
            </a:r>
            <a:r>
              <a:rPr lang="en-US" altLang="en-GB">
                <a:sym typeface="+mn-ea"/>
              </a:rPr>
              <a:t>n Cloud Firestore </a:t>
            </a:r>
            <a:r>
              <a:rPr lang="" altLang="en-US">
                <a:sym typeface="+mn-ea"/>
              </a:rPr>
              <a:t>đ</a:t>
            </a:r>
            <a:r>
              <a:rPr lang="en-US" altLang="en-GB">
                <a:sym typeface="+mn-ea"/>
              </a:rPr>
              <a:t>ể chống r</a:t>
            </a:r>
            <a:r>
              <a:rPr lang="en-US" altLang="en-US">
                <a:sym typeface="+mn-ea"/>
              </a:rPr>
              <a:t>ò</a:t>
            </a:r>
            <a:r>
              <a:rPr lang="en-US" altLang="en-GB">
                <a:sym typeface="+mn-ea"/>
              </a:rPr>
              <a:t> rỉ thông tin.</a:t>
            </a:r>
            <a:endParaRPr lang="en-US" altLang="en-GB">
              <a:sym typeface="+mn-ea"/>
            </a:endParaRPr>
          </a:p>
          <a:p>
            <a:pPr marL="0" lvl="0" indent="0" algn="l" rtl="0">
              <a:spcBef>
                <a:spcPts val="0"/>
              </a:spcBef>
              <a:spcAft>
                <a:spcPts val="0"/>
              </a:spcAft>
              <a:buNone/>
            </a:pPr>
            <a:endParaRPr lang="en-US" altLang="en-GB">
              <a:sym typeface="+mn-ea"/>
            </a:endParaRPr>
          </a:p>
          <a:p>
            <a:pPr marL="0" lvl="0" indent="0" algn="l" rtl="0">
              <a:spcBef>
                <a:spcPts val="0"/>
              </a:spcBef>
              <a:spcAft>
                <a:spcPts val="0"/>
              </a:spcAft>
              <a:buNone/>
            </a:pPr>
            <a:r>
              <a:rPr lang="en-US" altLang="en-GB">
                <a:sym typeface="+mn-ea"/>
              </a:rPr>
              <a:t>Về hiệu n</a:t>
            </a:r>
            <a:r>
              <a:rPr lang="" altLang="en-US">
                <a:sym typeface="+mn-ea"/>
              </a:rPr>
              <a:t>ă</a:t>
            </a:r>
            <a:r>
              <a:rPr lang="en-US" altLang="en-GB">
                <a:sym typeface="+mn-ea"/>
              </a:rPr>
              <a:t>ng, do luồng l</a:t>
            </a:r>
            <a:r>
              <a:rPr lang="" altLang="en-US">
                <a:sym typeface="+mn-ea"/>
              </a:rPr>
              <a:t>ư</a:t>
            </a:r>
            <a:r>
              <a:rPr lang="en-US" altLang="en-GB">
                <a:sym typeface="+mn-ea"/>
              </a:rPr>
              <a:t>u trữ cần tải l</a:t>
            </a:r>
            <a:r>
              <a:rPr lang="en-US" altLang="en-US">
                <a:sym typeface="+mn-ea"/>
              </a:rPr>
              <a:t>ê</a:t>
            </a:r>
            <a:r>
              <a:rPr lang="en-US" altLang="en-GB">
                <a:sym typeface="+mn-ea"/>
              </a:rPr>
              <a:t>n c</a:t>
            </a:r>
            <a:r>
              <a:rPr lang="en-US" altLang="en-US">
                <a:sym typeface="+mn-ea"/>
              </a:rPr>
              <a:t>ù</a:t>
            </a:r>
            <a:r>
              <a:rPr lang="en-US" altLang="en-GB">
                <a:sym typeface="+mn-ea"/>
              </a:rPr>
              <a:t>ng l</a:t>
            </a:r>
            <a:r>
              <a:rPr lang="en-US" altLang="en-US">
                <a:sym typeface="+mn-ea"/>
              </a:rPr>
              <a:t>ú</a:t>
            </a:r>
            <a:r>
              <a:rPr lang="en-US" altLang="en-GB">
                <a:sym typeface="+mn-ea"/>
              </a:rPr>
              <a:t>c 3 tệp ảnh (gốc, mặt nạ, Grad-CAM), nếu l</a:t>
            </a:r>
            <a:r>
              <a:rPr lang="" altLang="en-US">
                <a:sym typeface="+mn-ea"/>
              </a:rPr>
              <a:t>ư</a:t>
            </a:r>
            <a:r>
              <a:rPr lang="en-US" altLang="en-GB">
                <a:sym typeface="+mn-ea"/>
              </a:rPr>
              <a:t>u tuần tự sẽ g</a:t>
            </a:r>
            <a:r>
              <a:rPr lang="en-US" altLang="en-US">
                <a:sym typeface="+mn-ea"/>
              </a:rPr>
              <a:t>â</a:t>
            </a:r>
            <a:r>
              <a:rPr lang="en-US" altLang="en-GB">
                <a:sym typeface="+mn-ea"/>
              </a:rPr>
              <a:t>y kh</a:t>
            </a:r>
            <a:r>
              <a:rPr lang="en-US" altLang="en-US">
                <a:sym typeface="+mn-ea"/>
              </a:rPr>
              <a:t>ó</a:t>
            </a:r>
            <a:r>
              <a:rPr lang="en-US" altLang="en-GB">
                <a:sym typeface="+mn-ea"/>
              </a:rPr>
              <a:t>a giao diện ch</a:t>
            </a:r>
            <a:r>
              <a:rPr lang="en-US" altLang="en-US">
                <a:sym typeface="+mn-ea"/>
              </a:rPr>
              <a:t>í</a:t>
            </a:r>
            <a:r>
              <a:rPr lang="en-US" altLang="en-GB">
                <a:sym typeface="+mn-ea"/>
              </a:rPr>
              <a:t>nh Streamlit tới 5 gi</a:t>
            </a:r>
            <a:r>
              <a:rPr lang="en-US" altLang="en-US">
                <a:sym typeface="+mn-ea"/>
              </a:rPr>
              <a:t>â</a:t>
            </a:r>
            <a:r>
              <a:rPr lang="en-US" altLang="en-GB">
                <a:sym typeface="+mn-ea"/>
              </a:rPr>
              <a:t>y. Em </a:t>
            </a:r>
            <a:r>
              <a:rPr lang="" altLang="en-US">
                <a:sym typeface="+mn-ea"/>
              </a:rPr>
              <a:t>đ</a:t>
            </a:r>
            <a:r>
              <a:rPr lang="en-US" altLang="en-US">
                <a:sym typeface="+mn-ea"/>
              </a:rPr>
              <a:t>ã</a:t>
            </a:r>
            <a:r>
              <a:rPr lang="en-US" altLang="en-GB">
                <a:sym typeface="+mn-ea"/>
              </a:rPr>
              <a:t> </a:t>
            </a:r>
            <a:r>
              <a:rPr lang="en-US" altLang="en-US">
                <a:sym typeface="+mn-ea"/>
              </a:rPr>
              <a:t>á</a:t>
            </a:r>
            <a:r>
              <a:rPr lang="en-US" altLang="en-GB">
                <a:sym typeface="+mn-ea"/>
              </a:rPr>
              <a:t>p dụng c</a:t>
            </a:r>
            <a:r>
              <a:rPr lang="en-US" altLang="en-US">
                <a:sym typeface="+mn-ea"/>
              </a:rPr>
              <a:t>ơ</a:t>
            </a:r>
            <a:r>
              <a:rPr lang="en-US" altLang="en-GB">
                <a:sym typeface="+mn-ea"/>
              </a:rPr>
              <a:t> chế song song h</a:t>
            </a:r>
            <a:r>
              <a:rPr lang="en-US" altLang="en-US">
                <a:sym typeface="+mn-ea"/>
              </a:rPr>
              <a:t>ó</a:t>
            </a:r>
            <a:r>
              <a:rPr lang="en-US" altLang="en-GB">
                <a:sym typeface="+mn-ea"/>
              </a:rPr>
              <a:t>a ThreadPoolExecutor, gi</a:t>
            </a:r>
            <a:r>
              <a:rPr lang="en-US" altLang="en-US">
                <a:sym typeface="+mn-ea"/>
              </a:rPr>
              <a:t>ú</a:t>
            </a:r>
            <a:r>
              <a:rPr lang="en-US" altLang="en-GB">
                <a:sym typeface="+mn-ea"/>
              </a:rPr>
              <a:t>p giảm thời gian kh</a:t>
            </a:r>
            <a:r>
              <a:rPr lang="en-US" altLang="en-US">
                <a:sym typeface="+mn-ea"/>
              </a:rPr>
              <a:t>ó</a:t>
            </a:r>
            <a:r>
              <a:rPr lang="en-US" altLang="en-GB">
                <a:sym typeface="+mn-ea"/>
              </a:rPr>
              <a:t>a giao diện xuống chỉ c</a:t>
            </a:r>
            <a:r>
              <a:rPr lang="en-US" altLang="en-US">
                <a:sym typeface="+mn-ea"/>
              </a:rPr>
              <a:t>ò</a:t>
            </a:r>
            <a:r>
              <a:rPr lang="en-US" altLang="en-GB">
                <a:sym typeface="+mn-ea"/>
              </a:rPr>
              <a:t>n 1.5 gi</a:t>
            </a:r>
            <a:r>
              <a:rPr lang="en-US" altLang="en-US">
                <a:sym typeface="+mn-ea"/>
              </a:rPr>
              <a:t>â</a:t>
            </a:r>
            <a:r>
              <a:rPr lang="en-US" altLang="en-GB">
                <a:sym typeface="+mn-ea"/>
              </a:rPr>
              <a:t>y, t</a:t>
            </a:r>
            <a:r>
              <a:rPr lang="" altLang="en-US">
                <a:sym typeface="+mn-ea"/>
              </a:rPr>
              <a:t>ă</a:t>
            </a:r>
            <a:r>
              <a:rPr lang="en-US" altLang="en-GB">
                <a:sym typeface="+mn-ea"/>
              </a:rPr>
              <a:t>ng </a:t>
            </a:r>
            <a:r>
              <a:rPr lang="" altLang="en-US">
                <a:sym typeface="+mn-ea"/>
              </a:rPr>
              <a:t>đ</a:t>
            </a:r>
            <a:r>
              <a:rPr lang="en-US" altLang="en-US">
                <a:sym typeface="+mn-ea"/>
              </a:rPr>
              <a:t>á</a:t>
            </a:r>
            <a:r>
              <a:rPr lang="en-US" altLang="en-GB">
                <a:sym typeface="+mn-ea"/>
              </a:rPr>
              <a:t>ng kể trải nghiệm l</a:t>
            </a:r>
            <a:r>
              <a:rPr lang="en-US" altLang="en-US">
                <a:sym typeface="+mn-ea"/>
              </a:rPr>
              <a:t>â</a:t>
            </a:r>
            <a:r>
              <a:rPr lang="en-US" altLang="en-GB">
                <a:sym typeface="+mn-ea"/>
              </a:rPr>
              <a:t>m sàng của b</a:t>
            </a:r>
            <a:r>
              <a:rPr lang="en-US" altLang="en-US">
                <a:sym typeface="+mn-ea"/>
              </a:rPr>
              <a:t>á</a:t>
            </a:r>
            <a:r>
              <a:rPr lang="en-US" altLang="en-GB">
                <a:sym typeface="+mn-ea"/>
              </a:rPr>
              <a:t>c s</a:t>
            </a:r>
            <a:r>
              <a:rPr lang="" altLang="en-US">
                <a:sym typeface="+mn-ea"/>
              </a:rPr>
              <a:t>ĩ</a:t>
            </a:r>
            <a:r>
              <a:rPr lang="en-US" altLang="en-GB">
                <a:sym typeface="+mn-ea"/>
              </a:rPr>
              <a:t>.</a:t>
            </a:r>
            <a:endParaRPr lang="en-US" altLang="en-GB">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sym typeface="+mn-ea"/>
            </a:endParaRP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chạy ảnh gốc.</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113" name="Google Shape;113;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5" name="Google Shape;16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stretch>
            <a:fillRect/>
          </a:stretch>
        </a:blipFill>
        <a:effectLst/>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800"/>
              <a:buFont typeface="Lato" panose="020F0502020204030203"/>
              <a:buNone/>
              <a:defRPr sz="4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stretch>
            <a:fillRect/>
          </a:stretch>
        </a:blipFill>
        <a:effectLst/>
      </p:bgPr>
    </p:bg>
    <p:spTree>
      <p:nvGrpSpPr>
        <p:cNvPr id="13" name="Shape 13"/>
        <p:cNvGrpSpPr/>
        <p:nvPr/>
      </p:nvGrpSpPr>
      <p:grpSpPr>
        <a:xfrm>
          <a:off x="0" y="0"/>
          <a:ext cx="0" cy="0"/>
          <a:chOff x="0" y="0"/>
          <a:chExt cx="0" cy="0"/>
        </a:xfrm>
      </p:grpSpPr>
      <p:sp>
        <p:nvSpPr>
          <p:cNvPr id="14" name="Google Shape;14;p17"/>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 name="Google Shape;15;p17"/>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6" name="Google Shape;16;p1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stretch>
            <a:fillRect/>
          </a:stretch>
        </a:blipFill>
        <a:effectLst/>
      </p:bgPr>
    </p:bg>
    <p:spTree>
      <p:nvGrpSpPr>
        <p:cNvPr id="17" name="Shape 17"/>
        <p:cNvGrpSpPr/>
        <p:nvPr/>
      </p:nvGrpSpPr>
      <p:grpSpPr>
        <a:xfrm>
          <a:off x="0" y="0"/>
          <a:ext cx="0" cy="0"/>
          <a:chOff x="0" y="0"/>
          <a:chExt cx="0" cy="0"/>
        </a:xfrm>
      </p:grpSpPr>
      <p:sp>
        <p:nvSpPr>
          <p:cNvPr id="18" name="Google Shape;18;p18"/>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9" name="Google Shape;19;p18"/>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0" name="Google Shape;20;p18"/>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21" name="Google Shape;21;p18"/>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stretch>
            <a:fillRect/>
          </a:stretch>
        </a:blipFill>
        <a:effectLst/>
      </p:bgPr>
    </p:bg>
    <p:spTree>
      <p:nvGrpSpPr>
        <p:cNvPr id="23" name="Shape 23"/>
        <p:cNvGrpSpPr/>
        <p:nvPr/>
      </p:nvGrpSpPr>
      <p:grpSpPr>
        <a:xfrm>
          <a:off x="0" y="0"/>
          <a:ext cx="0" cy="0"/>
          <a:chOff x="0" y="0"/>
          <a:chExt cx="0" cy="0"/>
        </a:xfrm>
      </p:grpSpPr>
      <p:sp>
        <p:nvSpPr>
          <p:cNvPr id="24" name="Google Shape;24;p19"/>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5" name="Google Shape;25;p19"/>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6" name="Google Shape;26;p19"/>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27" name="Google Shape;27;p19"/>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9" name="Google Shape;29;p19"/>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stretch>
            <a:fillRect/>
          </a:stretch>
        </a:blipFill>
        <a:effectLst/>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3" name="Google Shape;33;p20"/>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4" name="Google Shape;34;p20"/>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5" name="Google Shape;35;p20"/>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bg>
      <p:bgPr>
        <a:blipFill>
          <a:blip r:embed="rId2"/>
          <a:stretch>
            <a:fillRect/>
          </a:stretch>
        </a:blipFill>
        <a:effectLst/>
      </p:bgPr>
    </p:bg>
    <p:spTree>
      <p:nvGrpSpPr>
        <p:cNvPr id="36" name="Shape 36"/>
        <p:cNvGrpSpPr/>
        <p:nvPr/>
      </p:nvGrpSpPr>
      <p:grpSpPr>
        <a:xfrm>
          <a:off x="0" y="0"/>
          <a:ext cx="0" cy="0"/>
          <a:chOff x="0" y="0"/>
          <a:chExt cx="0" cy="0"/>
        </a:xfrm>
      </p:grpSpPr>
      <p:sp>
        <p:nvSpPr>
          <p:cNvPr id="37" name="Google Shape;37;p21"/>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8" name="Google Shape;38;p21"/>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9" name="Google Shape;39;p21"/>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40" name="Google Shape;40;p21"/>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type="chart" idx="2"/>
          </p:nvPr>
        </p:nvSpPr>
        <p:spPr>
          <a:xfrm>
            <a:off x="338736" y="1406525"/>
            <a:ext cx="5757264" cy="46704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 name="Google Shape;42;p21"/>
          <p:cNvSpPr/>
          <p:nvPr>
            <p:ph type="tbl" idx="3"/>
          </p:nvPr>
        </p:nvSpPr>
        <p:spPr>
          <a:xfrm>
            <a:off x="6210300" y="1392239"/>
            <a:ext cx="5592763" cy="46847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bg>
      <p:bgPr>
        <a:blipFill>
          <a:blip r:embed="rId2"/>
          <a:stretch>
            <a:fillRect/>
          </a:stretch>
        </a:blipFill>
        <a:effectLst/>
      </p:bgPr>
    </p:bg>
    <p:spTree>
      <p:nvGrpSpPr>
        <p:cNvPr id="43" name="Shape 43"/>
        <p:cNvGrpSpPr/>
        <p:nvPr/>
      </p:nvGrpSpPr>
      <p:grpSpPr>
        <a:xfrm>
          <a:off x="0" y="0"/>
          <a:ext cx="0" cy="0"/>
          <a:chOff x="0" y="0"/>
          <a:chExt cx="0" cy="0"/>
        </a:xfrm>
      </p:grpSpPr>
      <p:sp>
        <p:nvSpPr>
          <p:cNvPr id="44" name="Google Shape;44;p22"/>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5" name="Google Shape;45;p22"/>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6" name="Google Shape;46;p22"/>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47" name="Google Shape;47;p22"/>
          <p:cNvSpPr txBox="1"/>
          <p:nvPr>
            <p:ph type="body" idx="1"/>
          </p:nvPr>
        </p:nvSpPr>
        <p:spPr>
          <a:xfrm>
            <a:off x="4558372" y="1248325"/>
            <a:ext cx="7391400" cy="52054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2800"/>
              <a:buFont typeface="Lato" panose="020F0502020204030203"/>
              <a:buNone/>
              <a:defRPr sz="2800" b="1" i="0" u="none" strike="noStrike" cap="none">
                <a:solidFill>
                  <a:schemeClr val="dk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stretch>
            <a:fillRect/>
          </a:stretch>
        </a:blipFill>
        <a:effectLst/>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2" name="Google Shape;52;p23"/>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23"/>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4" name="Google Shape;54;p2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stretch>
            <a:fillRect/>
          </a:stretch>
        </a:blipFill>
        <a:effectLst/>
      </p:bgPr>
    </p:bg>
    <p:spTree>
      <p:nvGrpSpPr>
        <p:cNvPr id="55" name="Shape 55"/>
        <p:cNvGrpSpPr/>
        <p:nvPr/>
      </p:nvGrpSpPr>
      <p:grpSpPr>
        <a:xfrm>
          <a:off x="0" y="0"/>
          <a:ext cx="0" cy="0"/>
          <a:chOff x="0" y="0"/>
          <a:chExt cx="0" cy="0"/>
        </a:xfrm>
      </p:grpSpPr>
      <p:sp>
        <p:nvSpPr>
          <p:cNvPr id="56" name="Google Shape;56;p24"/>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7" name="Google Shape;57;p24"/>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8" name="Google Shape;58;p2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59" name="Google Shape;59;p2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1" name="Google Shape;61;p24"/>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stretch>
            <a:fillRect/>
          </a:stretch>
        </a:blipFill>
        <a:effectLst/>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5" name="Google Shape;65;p25"/>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6" name="Google Shape;66;p25"/>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7" name="Google Shape;67;p2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stretch>
            <a:fillRect/>
          </a:stretch>
        </a:blipFill>
        <a:effectLst/>
      </p:bgPr>
    </p:bg>
    <p:spTree>
      <p:nvGrpSpPr>
        <p:cNvPr id="68" name="Shape 68"/>
        <p:cNvGrpSpPr/>
        <p:nvPr/>
      </p:nvGrpSpPr>
      <p:grpSpPr>
        <a:xfrm>
          <a:off x="0" y="0"/>
          <a:ext cx="0" cy="0"/>
          <a:chOff x="0" y="0"/>
          <a:chExt cx="0" cy="0"/>
        </a:xfrm>
      </p:grpSpPr>
      <p:sp>
        <p:nvSpPr>
          <p:cNvPr id="69" name="Google Shape;69;p26"/>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0" name="Google Shape;70;p26"/>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1" name="Google Shape;71;p26"/>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72" name="Google Shape;72;p26"/>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4" name="Google Shape;74;p26"/>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stretch>
            <a:fillRect/>
          </a:stretch>
        </a:blipFill>
        <a:effectLst/>
      </p:bgPr>
    </p:bg>
    <p:spTree>
      <p:nvGrpSpPr>
        <p:cNvPr id="75" name="Shape 75"/>
        <p:cNvGrpSpPr/>
        <p:nvPr/>
      </p:nvGrpSpPr>
      <p:grpSpPr>
        <a:xfrm>
          <a:off x="0" y="0"/>
          <a:ext cx="0" cy="0"/>
          <a:chOff x="0" y="0"/>
          <a:chExt cx="0" cy="0"/>
        </a:xfrm>
      </p:grpSpPr>
      <p:sp>
        <p:nvSpPr>
          <p:cNvPr id="76" name="Google Shape;76;p27"/>
          <p:cNvSpPr txBox="1"/>
          <p:nvPr>
            <p:ph type="dt" idx="10"/>
          </p:nvPr>
        </p:nvSpPr>
        <p:spPr>
          <a:xfrm>
            <a:off x="838200" y="6492875"/>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7" name="Google Shape;77;p27"/>
          <p:cNvSpPr txBox="1"/>
          <p:nvPr>
            <p:ph type="ftr" idx="11"/>
          </p:nvPr>
        </p:nvSpPr>
        <p:spPr>
          <a:xfrm>
            <a:off x="4038600" y="6492875"/>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8" name="Google Shape;78;p2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2.xml"/><Relationship Id="rId11" Type="http://schemas.openxmlformats.org/officeDocument/2006/relationships/slideLayout" Target="../slideLayouts/slideLayout4.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2" Type="http://schemas.openxmlformats.org/officeDocument/2006/relationships/notesSlide" Target="../notesSlides/notesSlide3.xml"/><Relationship Id="rId11" Type="http://schemas.openxmlformats.org/officeDocument/2006/relationships/slideLayout" Target="../slideLayouts/slideLayout4.xml"/><Relationship Id="rId10" Type="http://schemas.openxmlformats.org/officeDocument/2006/relationships/tags" Target="../tags/tag20.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4.jpeg"/></Relationships>
</file>

<file path=ppt/slides/_rels/slide6.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2" Type="http://schemas.openxmlformats.org/officeDocument/2006/relationships/notesSlide" Target="../notesSlides/notesSlide6.xml"/><Relationship Id="rId11" Type="http://schemas.openxmlformats.org/officeDocument/2006/relationships/slideLayout" Target="../slideLayouts/slideLayout4.xml"/><Relationship Id="rId10" Type="http://schemas.openxmlformats.org/officeDocument/2006/relationships/tags" Target="../tags/tag30.xml"/><Relationship Id="rId1" Type="http://schemas.openxmlformats.org/officeDocument/2006/relationships/tags" Target="../tags/tag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2" Type="http://schemas.openxmlformats.org/officeDocument/2006/relationships/notesSlide" Target="../notesSlides/notesSlide10.xml"/><Relationship Id="rId11" Type="http://schemas.openxmlformats.org/officeDocument/2006/relationships/slideLayout" Target="../slideLayouts/slideLayout4.xml"/><Relationship Id="rId10" Type="http://schemas.openxmlformats.org/officeDocument/2006/relationships/tags" Target="../tags/tag40.xml"/><Relationship Id="rId1" Type="http://schemas.openxmlformats.org/officeDocument/2006/relationships/tags" Target="../tags/tag3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2" Type="http://schemas.openxmlformats.org/officeDocument/2006/relationships/notesSlide" Target="../notesSlides/notesSlide18.xml"/><Relationship Id="rId11" Type="http://schemas.openxmlformats.org/officeDocument/2006/relationships/slideLayout" Target="../slideLayouts/slideLayout4.xml"/><Relationship Id="rId10" Type="http://schemas.openxmlformats.org/officeDocument/2006/relationships/tags" Target="../tags/tag50.xml"/><Relationship Id="rId1" Type="http://schemas.openxmlformats.org/officeDocument/2006/relationships/tags" Target="../tags/tag4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2" Type="http://schemas.openxmlformats.org/officeDocument/2006/relationships/notesSlide" Target="../notesSlides/notesSlide22.xml"/><Relationship Id="rId11" Type="http://schemas.openxmlformats.org/officeDocument/2006/relationships/slideLayout" Target="../slideLayouts/slideLayout4.xml"/><Relationship Id="rId10" Type="http://schemas.openxmlformats.org/officeDocument/2006/relationships/tags" Target="../tags/tag60.xml"/><Relationship Id="rId1" Type="http://schemas.openxmlformats.org/officeDocument/2006/relationships/tags" Target="../tags/tag5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1"/>
          <a:srcRect/>
          <a:stretch>
            <a:fillRect/>
          </a:stretch>
        </p:blipFill>
        <p:spPr>
          <a:xfrm>
            <a:off x="386634" y="331380"/>
            <a:ext cx="3174367" cy="952975"/>
          </a:xfrm>
          <a:prstGeom prst="rect">
            <a:avLst/>
          </a:prstGeom>
          <a:noFill/>
          <a:ln>
            <a:noFill/>
          </a:ln>
        </p:spPr>
      </p:pic>
      <p:sp>
        <p:nvSpPr>
          <p:cNvPr id="93" name="Google Shape;93;p3"/>
          <p:cNvSpPr txBox="1"/>
          <p:nvPr/>
        </p:nvSpPr>
        <p:spPr>
          <a:xfrm>
            <a:off x="263525" y="1701165"/>
            <a:ext cx="9582785" cy="848995"/>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C00000"/>
              </a:buClr>
              <a:buSzPts val="5400"/>
              <a:buFont typeface="Lato" panose="020F0502020204030203"/>
              <a:buNone/>
            </a:pPr>
            <a:r>
              <a:rPr lang="en-US" altLang="en-GB" sz="3600" b="1" i="0" u="none" strike="noStrike" cap="none">
                <a:solidFill>
                  <a:srgbClr val="C00000"/>
                </a:solidFill>
                <a:latin typeface="+mj-lt"/>
                <a:ea typeface="Lato" panose="020F0502020204030203"/>
                <a:cs typeface="+mj-lt"/>
                <a:sym typeface="Lato" panose="020F0502020204030203"/>
              </a:rPr>
              <a:t>NGHI</a:t>
            </a:r>
            <a:r>
              <a:rPr lang="" altLang="en-US" sz="3600" b="1" i="0" u="none" strike="noStrike" cap="none">
                <a:solidFill>
                  <a:srgbClr val="C00000"/>
                </a:solidFill>
                <a:latin typeface="+mj-lt"/>
                <a:ea typeface="Lato" panose="020F0502020204030203"/>
                <a:cs typeface="+mj-lt"/>
                <a:sym typeface="Lato" panose="020F0502020204030203"/>
              </a:rPr>
              <a:t>Ê</a:t>
            </a:r>
            <a:r>
              <a:rPr lang="en-US" altLang="en-GB" sz="3600" b="1" i="0" u="none" strike="noStrike" cap="none">
                <a:solidFill>
                  <a:srgbClr val="C00000"/>
                </a:solidFill>
                <a:latin typeface="+mj-lt"/>
                <a:ea typeface="Lato" panose="020F0502020204030203"/>
                <a:cs typeface="+mj-lt"/>
                <a:sym typeface="Lato" panose="020F0502020204030203"/>
              </a:rPr>
              <a:t>N CỨU V</a:t>
            </a:r>
            <a:r>
              <a:rPr lang="" altLang="en-US" sz="3600" b="1" i="0" u="none" strike="noStrike" cap="none">
                <a:solidFill>
                  <a:srgbClr val="C00000"/>
                </a:solidFill>
                <a:latin typeface="+mj-lt"/>
                <a:ea typeface="Lato" panose="020F0502020204030203"/>
                <a:cs typeface="+mj-lt"/>
                <a:sym typeface="Lato" panose="020F0502020204030203"/>
              </a:rPr>
              <a:t>À</a:t>
            </a:r>
            <a:r>
              <a:rPr lang="en-US" altLang="en-GB" sz="3600" b="1" i="0" u="none" strike="noStrike" cap="none">
                <a:solidFill>
                  <a:srgbClr val="C00000"/>
                </a:solidFill>
                <a:latin typeface="+mj-lt"/>
                <a:ea typeface="Lato" panose="020F0502020204030203"/>
                <a:cs typeface="+mj-lt"/>
                <a:sym typeface="Lato" panose="020F0502020204030203"/>
              </a:rPr>
              <a:t> X</a:t>
            </a:r>
            <a:r>
              <a:rPr lang="" altLang="en-US" sz="3600" b="1" i="0" u="none" strike="noStrike" cap="none">
                <a:solidFill>
                  <a:srgbClr val="C00000"/>
                </a:solidFill>
                <a:latin typeface="+mj-lt"/>
                <a:ea typeface="Lato" panose="020F0502020204030203"/>
                <a:cs typeface="+mj-lt"/>
                <a:sym typeface="Lato" panose="020F0502020204030203"/>
              </a:rPr>
              <a:t>Â</a:t>
            </a:r>
            <a:r>
              <a:rPr lang="en-US" altLang="en-GB" sz="3600" b="1" i="0" u="none" strike="noStrike" cap="none">
                <a:solidFill>
                  <a:srgbClr val="C00000"/>
                </a:solidFill>
                <a:latin typeface="+mj-lt"/>
                <a:ea typeface="Lato" panose="020F0502020204030203"/>
                <a:cs typeface="+mj-lt"/>
                <a:sym typeface="Lato" panose="020F0502020204030203"/>
              </a:rPr>
              <a:t>Y DỰNG HỆ THỐNG PH</a:t>
            </a:r>
            <a:r>
              <a:rPr lang="" altLang="en-US" sz="3600" b="1" i="0" u="none" strike="noStrike" cap="none">
                <a:solidFill>
                  <a:srgbClr val="C00000"/>
                </a:solidFill>
                <a:latin typeface="+mj-lt"/>
                <a:ea typeface="Lato" panose="020F0502020204030203"/>
                <a:cs typeface="+mj-lt"/>
                <a:sym typeface="Lato" panose="020F0502020204030203"/>
              </a:rPr>
              <a:t>Â</a:t>
            </a:r>
            <a:r>
              <a:rPr lang="en-US" altLang="en-GB" sz="3600" b="1" i="0" u="none" strike="noStrike" cap="none">
                <a:solidFill>
                  <a:srgbClr val="C00000"/>
                </a:solidFill>
                <a:latin typeface="+mj-lt"/>
                <a:ea typeface="Lato" panose="020F0502020204030203"/>
                <a:cs typeface="+mj-lt"/>
                <a:sym typeface="Lato" panose="020F0502020204030203"/>
              </a:rPr>
              <a:t>N T</a:t>
            </a:r>
            <a:r>
              <a:rPr lang="" altLang="en-US" sz="3600" b="1" i="0" u="none" strike="noStrike" cap="none">
                <a:solidFill>
                  <a:srgbClr val="C00000"/>
                </a:solidFill>
                <a:latin typeface="+mj-lt"/>
                <a:ea typeface="Lato" panose="020F0502020204030203"/>
                <a:cs typeface="+mj-lt"/>
                <a:sym typeface="Lato" panose="020F0502020204030203"/>
              </a:rPr>
              <a:t>Í</a:t>
            </a:r>
            <a:r>
              <a:rPr lang="en-US" altLang="en-GB" sz="3600" b="1" i="0" u="none" strike="noStrike" cap="none">
                <a:solidFill>
                  <a:srgbClr val="C00000"/>
                </a:solidFill>
                <a:latin typeface="+mj-lt"/>
                <a:ea typeface="Lato" panose="020F0502020204030203"/>
                <a:cs typeface="+mj-lt"/>
                <a:sym typeface="Lato" panose="020F0502020204030203"/>
              </a:rPr>
              <a:t>CH </a:t>
            </a:r>
            <a:r>
              <a:rPr lang="" altLang="en-US" sz="3600" b="1" i="0" u="none" strike="noStrike" cap="none">
                <a:solidFill>
                  <a:srgbClr val="C00000"/>
                </a:solidFill>
                <a:latin typeface="+mj-lt"/>
                <a:ea typeface="Lato" panose="020F0502020204030203"/>
                <a:cs typeface="+mj-lt"/>
                <a:sym typeface="Lato" panose="020F0502020204030203"/>
              </a:rPr>
              <a:t>Đ</a:t>
            </a:r>
            <a:r>
              <a:rPr lang="en-US" altLang="en-GB" sz="3600" b="1" i="0" u="none" strike="noStrike" cap="none">
                <a:solidFill>
                  <a:srgbClr val="C00000"/>
                </a:solidFill>
                <a:latin typeface="+mj-lt"/>
                <a:ea typeface="Lato" panose="020F0502020204030203"/>
                <a:cs typeface="+mj-lt"/>
                <a:sym typeface="Lato" panose="020F0502020204030203"/>
              </a:rPr>
              <a:t>A PH</a:t>
            </a:r>
            <a:r>
              <a:rPr lang="" altLang="en-US" sz="3600" b="1" i="0" u="none" strike="noStrike" cap="none">
                <a:solidFill>
                  <a:srgbClr val="C00000"/>
                </a:solidFill>
                <a:latin typeface="+mj-lt"/>
                <a:ea typeface="Lato" panose="020F0502020204030203"/>
                <a:cs typeface="+mj-lt"/>
                <a:sym typeface="Lato" panose="020F0502020204030203"/>
              </a:rPr>
              <a:t>ƯƠ</a:t>
            </a:r>
            <a:r>
              <a:rPr lang="en-US" altLang="en-GB" sz="3600" b="1" i="0" u="none" strike="noStrike" cap="none">
                <a:solidFill>
                  <a:srgbClr val="C00000"/>
                </a:solidFill>
                <a:latin typeface="+mj-lt"/>
                <a:ea typeface="Lato" panose="020F0502020204030203"/>
                <a:cs typeface="+mj-lt"/>
                <a:sym typeface="Lato" panose="020F0502020204030203"/>
              </a:rPr>
              <a:t>NG THỨC HỖ TRỢ CHẨN </a:t>
            </a:r>
            <a:r>
              <a:rPr lang="" altLang="en-US" sz="3600" b="1" i="0" u="none" strike="noStrike" cap="none">
                <a:solidFill>
                  <a:srgbClr val="C00000"/>
                </a:solidFill>
                <a:latin typeface="+mj-lt"/>
                <a:ea typeface="Lato" panose="020F0502020204030203"/>
                <a:cs typeface="+mj-lt"/>
                <a:sym typeface="Lato" panose="020F0502020204030203"/>
              </a:rPr>
              <a:t>Đ</a:t>
            </a:r>
            <a:r>
              <a:rPr lang="en-US" altLang="en-GB" sz="3600" b="1" i="0" u="none" strike="noStrike" cap="none">
                <a:solidFill>
                  <a:srgbClr val="C00000"/>
                </a:solidFill>
                <a:latin typeface="+mj-lt"/>
                <a:ea typeface="Lato" panose="020F0502020204030203"/>
                <a:cs typeface="+mj-lt"/>
                <a:sym typeface="Lato" panose="020F0502020204030203"/>
              </a:rPr>
              <a:t>O</a:t>
            </a:r>
            <a:r>
              <a:rPr lang="" altLang="en-US" sz="3600" b="1" i="0" u="none" strike="noStrike" cap="none">
                <a:solidFill>
                  <a:srgbClr val="C00000"/>
                </a:solidFill>
                <a:latin typeface="+mj-lt"/>
                <a:ea typeface="Lato" panose="020F0502020204030203"/>
                <a:cs typeface="+mj-lt"/>
                <a:sym typeface="Lato" panose="020F0502020204030203"/>
              </a:rPr>
              <a:t>Á</a:t>
            </a:r>
            <a:r>
              <a:rPr lang="en-US" altLang="en-GB" sz="3600" b="1" i="0" u="none" strike="noStrike" cap="none">
                <a:solidFill>
                  <a:srgbClr val="C00000"/>
                </a:solidFill>
                <a:latin typeface="+mj-lt"/>
                <a:ea typeface="Lato" panose="020F0502020204030203"/>
                <a:cs typeface="+mj-lt"/>
                <a:sym typeface="Lato" panose="020F0502020204030203"/>
              </a:rPr>
              <a:t>N BỆNH DA LIỄU T</a:t>
            </a:r>
            <a:r>
              <a:rPr lang="" altLang="en-US" sz="3600" b="1" i="0" u="none" strike="noStrike" cap="none">
                <a:solidFill>
                  <a:srgbClr val="C00000"/>
                </a:solidFill>
                <a:latin typeface="+mj-lt"/>
                <a:ea typeface="Lato" panose="020F0502020204030203"/>
                <a:cs typeface="+mj-lt"/>
                <a:sym typeface="Lato" panose="020F0502020204030203"/>
              </a:rPr>
              <a:t>Í</a:t>
            </a:r>
            <a:r>
              <a:rPr lang="en-US" altLang="en-GB" sz="3600" b="1" i="0" u="none" strike="noStrike" cap="none">
                <a:solidFill>
                  <a:srgbClr val="C00000"/>
                </a:solidFill>
                <a:latin typeface="+mj-lt"/>
                <a:ea typeface="Lato" panose="020F0502020204030203"/>
                <a:cs typeface="+mj-lt"/>
                <a:sym typeface="Lato" panose="020F0502020204030203"/>
              </a:rPr>
              <a:t>CH HỢP HỎI </a:t>
            </a:r>
            <a:r>
              <a:rPr lang="" altLang="en-US" sz="3600" b="1" i="0" u="none" strike="noStrike" cap="none">
                <a:solidFill>
                  <a:srgbClr val="C00000"/>
                </a:solidFill>
                <a:latin typeface="+mj-lt"/>
                <a:ea typeface="Lato" panose="020F0502020204030203"/>
                <a:cs typeface="+mj-lt"/>
                <a:sym typeface="Lato" panose="020F0502020204030203"/>
              </a:rPr>
              <a:t>ĐÁ</a:t>
            </a:r>
            <a:r>
              <a:rPr lang="en-US" altLang="en-GB" sz="3600" b="1" i="0" u="none" strike="noStrike" cap="none">
                <a:solidFill>
                  <a:srgbClr val="C00000"/>
                </a:solidFill>
                <a:latin typeface="+mj-lt"/>
                <a:ea typeface="Lato" panose="020F0502020204030203"/>
                <a:cs typeface="+mj-lt"/>
                <a:sym typeface="Lato" panose="020F0502020204030203"/>
              </a:rPr>
              <a:t>P TRỰC QUAN Y TẾ</a:t>
            </a:r>
            <a:endParaRPr lang="en-US" altLang="en-GB" sz="3600" b="1" i="0" u="none" strike="noStrike" cap="none">
              <a:solidFill>
                <a:srgbClr val="C00000"/>
              </a:solidFill>
              <a:latin typeface="+mj-lt"/>
              <a:ea typeface="Lato" panose="020F0502020204030203"/>
              <a:cs typeface="+mj-lt"/>
              <a:sym typeface="Lato" panose="020F0502020204030203"/>
            </a:endParaRPr>
          </a:p>
          <a:p>
            <a:pPr marL="0" marR="0" lvl="0" indent="0" algn="just" rtl="0">
              <a:lnSpc>
                <a:spcPct val="90000"/>
              </a:lnSpc>
              <a:spcBef>
                <a:spcPts val="0"/>
              </a:spcBef>
              <a:spcAft>
                <a:spcPts val="0"/>
              </a:spcAft>
              <a:buClr>
                <a:srgbClr val="C00000"/>
              </a:buClr>
              <a:buSzPts val="5400"/>
              <a:buFont typeface="Lato" panose="020F0502020204030203"/>
              <a:buNone/>
            </a:pPr>
            <a:endParaRPr lang="en-US" altLang="en-GB" sz="3600" b="1" i="0" u="none" strike="noStrike" cap="none">
              <a:solidFill>
                <a:srgbClr val="C00000"/>
              </a:solidFill>
              <a:latin typeface="+mj-lt"/>
              <a:ea typeface="Lato" panose="020F0502020204030203"/>
              <a:cs typeface="+mj-lt"/>
              <a:sym typeface="Lato" panose="020F0502020204030203"/>
            </a:endParaRPr>
          </a:p>
        </p:txBody>
      </p:sp>
      <p:sp>
        <p:nvSpPr>
          <p:cNvPr id="94" name="Google Shape;94;p3"/>
          <p:cNvSpPr txBox="1"/>
          <p:nvPr/>
        </p:nvSpPr>
        <p:spPr>
          <a:xfrm>
            <a:off x="767715" y="3933190"/>
            <a:ext cx="10778490" cy="848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2800"/>
              <a:buFont typeface="Lato" panose="020F0502020204030203"/>
              <a:buNone/>
            </a:pPr>
            <a:r>
              <a:rPr lang="en-US" altLang="en-GB" sz="2800" b="0" i="0" u="none" strike="noStrike" cap="none">
                <a:solidFill>
                  <a:srgbClr val="C00000"/>
                </a:solidFill>
                <a:latin typeface="+mn-lt"/>
                <a:ea typeface="Lato" panose="020F0502020204030203"/>
                <a:cs typeface="+mn-lt"/>
                <a:sym typeface="Lato" panose="020F0502020204030203"/>
              </a:rPr>
              <a:t>Sinh vi</a:t>
            </a:r>
            <a:r>
              <a:rPr lang="en-US" altLang="en-US" sz="2800" b="0" i="0" u="none" strike="noStrike" cap="none">
                <a:solidFill>
                  <a:srgbClr val="C00000"/>
                </a:solidFill>
                <a:latin typeface="+mn-lt"/>
                <a:ea typeface="Lato" panose="020F0502020204030203"/>
                <a:cs typeface="+mn-lt"/>
                <a:sym typeface="Lato" panose="020F0502020204030203"/>
              </a:rPr>
              <a:t>ê</a:t>
            </a:r>
            <a:r>
              <a:rPr lang="en-US" altLang="en-GB" sz="2800" b="0" i="0" u="none" strike="noStrike" cap="none">
                <a:solidFill>
                  <a:srgbClr val="C00000"/>
                </a:solidFill>
                <a:latin typeface="+mn-lt"/>
                <a:ea typeface="Lato" panose="020F0502020204030203"/>
                <a:cs typeface="+mn-lt"/>
                <a:sym typeface="Lato" panose="020F0502020204030203"/>
              </a:rPr>
              <a:t>n thực hiện: Nguyễn Thị H</a:t>
            </a:r>
            <a:r>
              <a:rPr lang="" altLang="en-US" sz="2800" b="0" i="0" u="none" strike="noStrike" cap="none">
                <a:solidFill>
                  <a:srgbClr val="C00000"/>
                </a:solidFill>
                <a:latin typeface="+mn-lt"/>
                <a:ea typeface="Lato" panose="020F0502020204030203"/>
                <a:cs typeface="+mn-lt"/>
                <a:sym typeface="Lato" panose="020F0502020204030203"/>
              </a:rPr>
              <a:t>ư</a:t>
            </a:r>
            <a:r>
              <a:rPr lang="en-US" altLang="en-US" sz="2800" b="0" i="0" u="none" strike="noStrike" cap="none">
                <a:solidFill>
                  <a:srgbClr val="C00000"/>
                </a:solidFill>
                <a:latin typeface="+mn-lt"/>
                <a:ea typeface="Lato" panose="020F0502020204030203"/>
                <a:cs typeface="+mn-lt"/>
                <a:sym typeface="Lato" panose="020F0502020204030203"/>
              </a:rPr>
              <a:t>ơ</a:t>
            </a:r>
            <a:r>
              <a:rPr lang="en-US" altLang="en-GB" sz="2800" b="0" i="0" u="none" strike="noStrike" cap="none">
                <a:solidFill>
                  <a:srgbClr val="C00000"/>
                </a:solidFill>
                <a:latin typeface="+mn-lt"/>
                <a:ea typeface="Lato" panose="020F0502020204030203"/>
                <a:cs typeface="+mn-lt"/>
                <a:sym typeface="Lato" panose="020F0502020204030203"/>
              </a:rPr>
              <a:t>ng Giang </a:t>
            </a:r>
            <a:endParaRPr lang="en-US" altLang="en-GB" sz="2800" b="0" i="0" u="none" strike="noStrike" cap="none">
              <a:solidFill>
                <a:srgbClr val="C00000"/>
              </a:solidFill>
              <a:latin typeface="+mn-lt"/>
              <a:ea typeface="Lato" panose="020F0502020204030203"/>
              <a:cs typeface="+mn-lt"/>
              <a:sym typeface="Lato" panose="020F0502020204030203"/>
            </a:endParaRPr>
          </a:p>
          <a:p>
            <a:pPr marL="0" marR="0" lvl="0" indent="0" algn="l" rtl="0">
              <a:lnSpc>
                <a:spcPct val="100000"/>
              </a:lnSpc>
              <a:spcBef>
                <a:spcPts val="0"/>
              </a:spcBef>
              <a:spcAft>
                <a:spcPts val="0"/>
              </a:spcAft>
              <a:buClr>
                <a:srgbClr val="C00000"/>
              </a:buClr>
              <a:buSzPts val="2800"/>
              <a:buFont typeface="Lato" panose="020F0502020204030203"/>
              <a:buNone/>
            </a:pPr>
            <a:r>
              <a:rPr lang="en-US" altLang="en-GB" sz="2800" b="0" i="0" u="none" strike="noStrike" cap="none">
                <a:solidFill>
                  <a:srgbClr val="C00000"/>
                </a:solidFill>
                <a:latin typeface="+mn-lt"/>
                <a:ea typeface="Lato" panose="020F0502020204030203"/>
                <a:cs typeface="+mn-lt"/>
                <a:sym typeface="Lato" panose="020F0502020204030203"/>
              </a:rPr>
              <a:t>MSSV: 20227106</a:t>
            </a:r>
            <a:endParaRPr lang="en-US" altLang="en-GB" sz="2800" b="0" i="0" u="none" strike="noStrike" cap="none">
              <a:solidFill>
                <a:srgbClr val="C00000"/>
              </a:solidFill>
              <a:latin typeface="+mn-lt"/>
              <a:ea typeface="Lato" panose="020F0502020204030203"/>
              <a:cs typeface="+mn-lt"/>
              <a:sym typeface="Lato" panose="020F0502020204030203"/>
            </a:endParaRPr>
          </a:p>
          <a:p>
            <a:pPr marL="0" marR="0" lvl="0" indent="0" algn="l" rtl="0">
              <a:lnSpc>
                <a:spcPct val="100000"/>
              </a:lnSpc>
              <a:spcBef>
                <a:spcPts val="0"/>
              </a:spcBef>
              <a:spcAft>
                <a:spcPts val="0"/>
              </a:spcAft>
              <a:buClr>
                <a:srgbClr val="C00000"/>
              </a:buClr>
              <a:buSzPts val="2800"/>
              <a:buFont typeface="Lato" panose="020F0502020204030203"/>
              <a:buNone/>
            </a:pPr>
            <a:r>
              <a:rPr lang="en-US" altLang="en-GB" sz="2800" b="0" i="0" u="none" strike="noStrike" cap="none">
                <a:solidFill>
                  <a:srgbClr val="C00000"/>
                </a:solidFill>
                <a:latin typeface="+mn-lt"/>
                <a:ea typeface="Lato" panose="020F0502020204030203"/>
                <a:cs typeface="+mn-lt"/>
                <a:sym typeface="Lato" panose="020F0502020204030203"/>
              </a:rPr>
              <a:t>Chuy</a:t>
            </a:r>
            <a:r>
              <a:rPr lang="en-US" altLang="en-US" sz="2800" b="0" i="0" u="none" strike="noStrike" cap="none">
                <a:solidFill>
                  <a:srgbClr val="C00000"/>
                </a:solidFill>
                <a:latin typeface="+mn-lt"/>
                <a:ea typeface="Lato" panose="020F0502020204030203"/>
                <a:cs typeface="+mn-lt"/>
                <a:sym typeface="Lato" panose="020F0502020204030203"/>
              </a:rPr>
              <a:t>ê</a:t>
            </a:r>
            <a:r>
              <a:rPr lang="en-US" altLang="en-GB" sz="2800" b="0" i="0" u="none" strike="noStrike" cap="none">
                <a:solidFill>
                  <a:srgbClr val="C00000"/>
                </a:solidFill>
                <a:latin typeface="+mn-lt"/>
                <a:ea typeface="Lato" panose="020F0502020204030203"/>
                <a:cs typeface="+mn-lt"/>
                <a:sym typeface="Lato" panose="020F0502020204030203"/>
              </a:rPr>
              <a:t>n ngành: To</a:t>
            </a:r>
            <a:r>
              <a:rPr lang="en-US" altLang="en-US" sz="2800" b="0" i="0" u="none" strike="noStrike" cap="none">
                <a:solidFill>
                  <a:srgbClr val="C00000"/>
                </a:solidFill>
                <a:latin typeface="+mn-lt"/>
                <a:ea typeface="Lato" panose="020F0502020204030203"/>
                <a:cs typeface="+mn-lt"/>
                <a:sym typeface="Lato" panose="020F0502020204030203"/>
              </a:rPr>
              <a:t>á</a:t>
            </a:r>
            <a:r>
              <a:rPr lang="en-US" altLang="en-GB" sz="2800" b="0" i="0" u="none" strike="noStrike" cap="none">
                <a:solidFill>
                  <a:srgbClr val="C00000"/>
                </a:solidFill>
                <a:latin typeface="+mn-lt"/>
                <a:ea typeface="Lato" panose="020F0502020204030203"/>
                <a:cs typeface="+mn-lt"/>
                <a:sym typeface="Lato" panose="020F0502020204030203"/>
              </a:rPr>
              <a:t>n - Tin</a:t>
            </a:r>
            <a:endParaRPr lang="en-US" altLang="en-GB" sz="2800" b="0" i="0" u="none" strike="noStrike" cap="none">
              <a:solidFill>
                <a:srgbClr val="C00000"/>
              </a:solidFill>
              <a:latin typeface="+mn-lt"/>
              <a:ea typeface="Lato" panose="020F0502020204030203"/>
              <a:cs typeface="+mn-lt"/>
              <a:sym typeface="Lato" panose="020F0502020204030203"/>
            </a:endParaRPr>
          </a:p>
          <a:p>
            <a:pPr marL="0" marR="0" lvl="0" indent="0" algn="l" rtl="0">
              <a:lnSpc>
                <a:spcPct val="100000"/>
              </a:lnSpc>
              <a:spcBef>
                <a:spcPts val="0"/>
              </a:spcBef>
              <a:spcAft>
                <a:spcPts val="0"/>
              </a:spcAft>
              <a:buClr>
                <a:srgbClr val="C00000"/>
              </a:buClr>
              <a:buSzPts val="2800"/>
              <a:buFont typeface="Lato" panose="020F0502020204030203"/>
              <a:buNone/>
            </a:pPr>
            <a:r>
              <a:rPr lang="en-US" altLang="en-GB" sz="2800" b="0" i="0" u="none" strike="noStrike" cap="none">
                <a:solidFill>
                  <a:srgbClr val="C00000"/>
                </a:solidFill>
                <a:latin typeface="+mn-lt"/>
                <a:ea typeface="Lato" panose="020F0502020204030203"/>
                <a:cs typeface="+mn-lt"/>
                <a:sym typeface="Lato" panose="020F0502020204030203"/>
              </a:rPr>
              <a:t>Giảng vi</a:t>
            </a:r>
            <a:r>
              <a:rPr lang="en-US" altLang="en-US" sz="2800" b="0" i="0" u="none" strike="noStrike" cap="none">
                <a:solidFill>
                  <a:srgbClr val="C00000"/>
                </a:solidFill>
                <a:latin typeface="+mn-lt"/>
                <a:ea typeface="Lato" panose="020F0502020204030203"/>
                <a:cs typeface="+mn-lt"/>
                <a:sym typeface="Lato" panose="020F0502020204030203"/>
              </a:rPr>
              <a:t>ê</a:t>
            </a:r>
            <a:r>
              <a:rPr lang="en-US" altLang="en-GB" sz="2800" b="0" i="0" u="none" strike="noStrike" cap="none">
                <a:solidFill>
                  <a:srgbClr val="C00000"/>
                </a:solidFill>
                <a:latin typeface="+mn-lt"/>
                <a:ea typeface="Lato" panose="020F0502020204030203"/>
                <a:cs typeface="+mn-lt"/>
                <a:sym typeface="Lato" panose="020F0502020204030203"/>
              </a:rPr>
              <a:t>n h</a:t>
            </a:r>
            <a:r>
              <a:rPr lang="" altLang="en-US" sz="2800" b="0" i="0" u="none" strike="noStrike" cap="none">
                <a:solidFill>
                  <a:srgbClr val="C00000"/>
                </a:solidFill>
                <a:latin typeface="+mn-lt"/>
                <a:ea typeface="Lato" panose="020F0502020204030203"/>
                <a:cs typeface="+mn-lt"/>
                <a:sym typeface="Lato" panose="020F0502020204030203"/>
              </a:rPr>
              <a:t>ư</a:t>
            </a:r>
            <a:r>
              <a:rPr lang="en-US" altLang="en-GB" sz="2800" b="0" i="0" u="none" strike="noStrike" cap="none">
                <a:solidFill>
                  <a:srgbClr val="C00000"/>
                </a:solidFill>
                <a:latin typeface="+mn-lt"/>
                <a:ea typeface="Lato" panose="020F0502020204030203"/>
                <a:cs typeface="+mn-lt"/>
                <a:sym typeface="Lato" panose="020F0502020204030203"/>
              </a:rPr>
              <a:t>ớng dẫn: TS. Ngô Quốc Hoàn</a:t>
            </a:r>
            <a:endParaRPr lang="en-US" altLang="en-GB" sz="2800" b="0" i="0" u="none" strike="noStrike" cap="none">
              <a:solidFill>
                <a:srgbClr val="C00000"/>
              </a:solidFill>
              <a:latin typeface="+mn-lt"/>
              <a:ea typeface="Lato" panose="020F0502020204030203"/>
              <a:cs typeface="+mn-lt"/>
              <a:sym typeface="Lato" panose="020F0502020204030203"/>
            </a:endParaRPr>
          </a:p>
          <a:p>
            <a:pPr marL="0" marR="0" lvl="0" indent="0" algn="l" rtl="0">
              <a:lnSpc>
                <a:spcPct val="100000"/>
              </a:lnSpc>
              <a:spcBef>
                <a:spcPts val="0"/>
              </a:spcBef>
              <a:spcAft>
                <a:spcPts val="0"/>
              </a:spcAft>
              <a:buClr>
                <a:srgbClr val="C00000"/>
              </a:buClr>
              <a:buSzPts val="2800"/>
              <a:buFont typeface="Lato" panose="020F0502020204030203"/>
              <a:buNone/>
            </a:pPr>
            <a:endParaRPr lang="en-US" altLang="en-GB" sz="2800" b="0" i="0" u="none" strike="noStrike" cap="none">
              <a:solidFill>
                <a:srgbClr val="C00000"/>
              </a:solidFill>
              <a:latin typeface="+mn-lt"/>
              <a:ea typeface="Lato" panose="020F0502020204030203"/>
              <a:cs typeface="+mn-lt"/>
              <a:sym typeface="Lato" panose="020F0502020204030203"/>
            </a:endParaRPr>
          </a:p>
        </p:txBody>
      </p:sp>
      <p:sp>
        <p:nvSpPr>
          <p:cNvPr id="95" name="Google Shape;95;p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NỘI DUNG TRÌNH BÀY</a:t>
            </a:r>
            <a:endParaRPr>
              <a:latin typeface="+mj-lt"/>
              <a:cs typeface="+mj-lt"/>
            </a:endParaRPr>
          </a:p>
        </p:txBody>
      </p:sp>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01</a:t>
            </a:r>
            <a:endParaRPr sz="2400"/>
          </a:p>
        </p:txBody>
      </p:sp>
      <p:sp>
        <p:nvSpPr>
          <p:cNvPr id="104" name="TextBox 103"/>
          <p:cNvSpPr txBox="1"/>
          <p:nvPr>
            <p:custDataLst>
              <p:tags r:id="rId2"/>
            </p:custDataLst>
          </p:nvPr>
        </p:nvSpPr>
        <p:spPr>
          <a:xfrm>
            <a:off x="4306570" y="1174750"/>
            <a:ext cx="7571105" cy="744855"/>
          </a:xfrm>
          <a:prstGeom prst="rect">
            <a:avLst/>
          </a:prstGeom>
          <a:noFill/>
        </p:spPr>
        <p:txBody>
          <a:bodyPr wrap="square">
            <a:spAutoFit/>
          </a:bodyPr>
          <a:lstStyle/>
          <a:p>
            <a:pPr>
              <a:defRPr sz="1300" b="1">
                <a:solidFill>
                  <a:srgbClr val="990000"/>
                </a:solidFill>
                <a:latin typeface="Arial" panose="020B0604020202020204"/>
              </a:defRPr>
            </a:pPr>
            <a:r>
              <a:rPr sz="2400"/>
              <a:t>Phần 1: Đặt Vấn Đề &amp; Mục Tiêu</a:t>
            </a:r>
            <a:endParaRPr sz="2400"/>
          </a:p>
          <a:p>
            <a:pPr>
              <a:spcBef>
                <a:spcPts val="300"/>
              </a:spcBef>
              <a:defRPr sz="1000">
                <a:solidFill>
                  <a:srgbClr val="1E293B"/>
                </a:solidFill>
                <a:latin typeface="Arial" panose="020B0604020202020204"/>
              </a:defRPr>
            </a:pPr>
            <a:r>
              <a:rPr sz="1600"/>
              <a:t>Tính cấp thiết của chẩn đoán sớm và các mục tiêu nghiên cứu cốt lõi của đề tài.</a:t>
            </a:r>
            <a:endParaRPr sz="1600"/>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02</a:t>
            </a:r>
            <a:endParaRPr sz="2400"/>
          </a:p>
        </p:txBody>
      </p:sp>
      <p:sp>
        <p:nvSpPr>
          <p:cNvPr id="107" name="TextBox 106"/>
          <p:cNvSpPr txBox="1"/>
          <p:nvPr>
            <p:custDataLst>
              <p:tags r:id="rId4"/>
            </p:custDataLst>
          </p:nvPr>
        </p:nvSpPr>
        <p:spPr>
          <a:xfrm>
            <a:off x="4306570" y="2216785"/>
            <a:ext cx="7222490" cy="744855"/>
          </a:xfrm>
          <a:prstGeom prst="rect">
            <a:avLst/>
          </a:prstGeom>
          <a:noFill/>
        </p:spPr>
        <p:txBody>
          <a:bodyPr wrap="square">
            <a:spAutoFit/>
          </a:bodyPr>
          <a:lstStyle/>
          <a:p>
            <a:pPr>
              <a:defRPr sz="1300" b="1">
                <a:solidFill>
                  <a:srgbClr val="990000"/>
                </a:solidFill>
                <a:latin typeface="Arial" panose="020B0604020202020204"/>
              </a:defRPr>
            </a:pPr>
            <a:r>
              <a:rPr sz="2400"/>
              <a:t>Phần 2: Phân Tích &amp; Thiết Kế Hệ Thống</a:t>
            </a:r>
            <a:endParaRPr sz="2400"/>
          </a:p>
          <a:p>
            <a:pPr>
              <a:spcBef>
                <a:spcPts val="300"/>
              </a:spcBef>
              <a:defRPr sz="1000">
                <a:solidFill>
                  <a:srgbClr val="1E293B"/>
                </a:solidFill>
                <a:latin typeface="Arial" panose="020B0604020202020204"/>
              </a:defRPr>
            </a:pPr>
            <a:r>
              <a:rPr sz="1600"/>
              <a:t>Thiết kế luồng xử lý song song, bộ lọc Safety Gate và các biểu đồ Use Case.</a:t>
            </a:r>
            <a:endParaRPr sz="1600"/>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03</a:t>
            </a:r>
            <a:endParaRPr sz="2400"/>
          </a:p>
        </p:txBody>
      </p:sp>
      <p:sp>
        <p:nvSpPr>
          <p:cNvPr id="110" name="TextBox 109"/>
          <p:cNvSpPr txBox="1"/>
          <p:nvPr>
            <p:custDataLst>
              <p:tags r:id="rId6"/>
            </p:custDataLst>
          </p:nvPr>
        </p:nvSpPr>
        <p:spPr>
          <a:xfrm>
            <a:off x="4338955" y="3284855"/>
            <a:ext cx="7916545" cy="744855"/>
          </a:xfrm>
          <a:prstGeom prst="rect">
            <a:avLst/>
          </a:prstGeom>
          <a:noFill/>
        </p:spPr>
        <p:txBody>
          <a:bodyPr wrap="square">
            <a:spAutoFit/>
          </a:bodyPr>
          <a:lstStyle/>
          <a:p>
            <a:pPr>
              <a:defRPr sz="1300" b="1">
                <a:solidFill>
                  <a:srgbClr val="990000"/>
                </a:solidFill>
                <a:latin typeface="Arial" panose="020B0604020202020204"/>
              </a:defRPr>
            </a:pPr>
            <a:r>
              <a:rPr sz="2400"/>
              <a:t>Phần 3: Thuật Toán &amp; Giải Thuật Nâng Cấp</a:t>
            </a:r>
            <a:endParaRPr sz="2400"/>
          </a:p>
          <a:p>
            <a:pPr>
              <a:spcBef>
                <a:spcPts val="300"/>
              </a:spcBef>
              <a:defRPr sz="1000">
                <a:solidFill>
                  <a:srgbClr val="1E293B"/>
                </a:solidFill>
                <a:latin typeface="Arial" panose="020B0604020202020204"/>
              </a:defRPr>
            </a:pPr>
            <a:r>
              <a:rPr sz="1600"/>
              <a:t>SAM + GrabCut tương tác, OTSU dự phòng, late fusion Bayes và trợ lý VQA RAG.</a:t>
            </a:r>
            <a:endParaRPr sz="1600"/>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04</a:t>
            </a:r>
            <a:endParaRPr sz="2400"/>
          </a:p>
        </p:txBody>
      </p:sp>
      <p:sp>
        <p:nvSpPr>
          <p:cNvPr id="113" name="TextBox 112"/>
          <p:cNvSpPr txBox="1"/>
          <p:nvPr>
            <p:custDataLst>
              <p:tags r:id="rId8"/>
            </p:custDataLst>
          </p:nvPr>
        </p:nvSpPr>
        <p:spPr>
          <a:xfrm>
            <a:off x="4338955" y="4293235"/>
            <a:ext cx="8150860" cy="744855"/>
          </a:xfrm>
          <a:prstGeom prst="rect">
            <a:avLst/>
          </a:prstGeom>
          <a:noFill/>
        </p:spPr>
        <p:txBody>
          <a:bodyPr wrap="square">
            <a:spAutoFit/>
          </a:bodyPr>
          <a:lstStyle/>
          <a:p>
            <a:pPr>
              <a:defRPr sz="1300" b="1">
                <a:solidFill>
                  <a:srgbClr val="990000"/>
                </a:solidFill>
                <a:latin typeface="Arial" panose="020B0604020202020204"/>
              </a:defRPr>
            </a:pPr>
            <a:r>
              <a:rPr sz="2400"/>
              <a:t>Phần 4: Thiết Kế CSDL &amp; Bảo Mật EHR</a:t>
            </a:r>
            <a:endParaRPr sz="2400"/>
          </a:p>
          <a:p>
            <a:pPr>
              <a:spcBef>
                <a:spcPts val="300"/>
              </a:spcBef>
              <a:defRPr sz="1000">
                <a:solidFill>
                  <a:srgbClr val="1E293B"/>
                </a:solidFill>
                <a:latin typeface="Arial" panose="020B0604020202020204"/>
              </a:defRPr>
            </a:pPr>
            <a:r>
              <a:rPr sz="1600"/>
              <a:t>Cấu trúc Firestore phân cấp, mã hóa XOR-Base64 tuân thủ HIPAA và tối ưu đa luồng.</a:t>
            </a:r>
            <a:endParaRPr sz="1600"/>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05</a:t>
            </a:r>
            <a:endParaRPr sz="2400"/>
          </a:p>
        </p:txBody>
      </p:sp>
      <p:sp>
        <p:nvSpPr>
          <p:cNvPr id="17" name="TextBox 115"/>
          <p:cNvSpPr txBox="1"/>
          <p:nvPr>
            <p:custDataLst>
              <p:tags r:id="rId10"/>
            </p:custDataLst>
          </p:nvPr>
        </p:nvSpPr>
        <p:spPr>
          <a:xfrm>
            <a:off x="4306570" y="5373370"/>
            <a:ext cx="7007225" cy="744855"/>
          </a:xfrm>
          <a:prstGeom prst="rect">
            <a:avLst/>
          </a:prstGeom>
          <a:noFill/>
        </p:spPr>
        <p:txBody>
          <a:bodyPr wrap="square">
            <a:spAutoFit/>
          </a:bodyPr>
          <a:lstStyle/>
          <a:p>
            <a:pPr>
              <a:defRPr sz="1300" b="1">
                <a:solidFill>
                  <a:srgbClr val="990000"/>
                </a:solidFill>
                <a:latin typeface="Arial" panose="020B0604020202020204"/>
              </a:defRPr>
            </a:pPr>
            <a:r>
              <a:rPr sz="2400"/>
              <a:t>Phần 5: Kết Kết Quả Thử Nghiệm &amp; Kết Luận</a:t>
            </a:r>
            <a:endParaRPr sz="2400"/>
          </a:p>
          <a:p>
            <a:pPr>
              <a:spcBef>
                <a:spcPts val="300"/>
              </a:spcBef>
              <a:defRPr sz="1000">
                <a:solidFill>
                  <a:srgbClr val="1E293B"/>
                </a:solidFill>
                <a:latin typeface="Arial" panose="020B0604020202020204"/>
              </a:defRPr>
            </a:pPr>
            <a:r>
              <a:rPr sz="1600"/>
              <a:t>Đánh giá độ chính xác, thời gian trễ và đóng góp thực tế.</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NỘI DUNG TRÌNH BÀY</a:t>
            </a:r>
            <a:endParaRPr>
              <a:latin typeface="+mj-lt"/>
              <a:cs typeface="+mj-lt"/>
            </a:endParaRPr>
          </a:p>
        </p:txBody>
      </p:sp>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01</a:t>
            </a:r>
            <a:endParaRPr sz="2400"/>
          </a:p>
        </p:txBody>
      </p:sp>
      <p:sp>
        <p:nvSpPr>
          <p:cNvPr id="104" name="TextBox 103"/>
          <p:cNvSpPr txBox="1"/>
          <p:nvPr>
            <p:custDataLst>
              <p:tags r:id="rId2"/>
            </p:custDataLst>
          </p:nvPr>
        </p:nvSpPr>
        <p:spPr>
          <a:xfrm>
            <a:off x="4306570" y="1174750"/>
            <a:ext cx="7571105" cy="744855"/>
          </a:xfrm>
          <a:prstGeom prst="rect">
            <a:avLst/>
          </a:prstGeom>
          <a:noFill/>
        </p:spPr>
        <p:txBody>
          <a:bodyPr wrap="square">
            <a:spAutoFit/>
          </a:bodyPr>
          <a:lstStyle/>
          <a:p>
            <a:pPr>
              <a:defRPr sz="1300" b="1">
                <a:solidFill>
                  <a:srgbClr val="990000"/>
                </a:solidFill>
                <a:latin typeface="Arial" panose="020B0604020202020204"/>
              </a:defRPr>
            </a:pPr>
            <a:r>
              <a:rPr sz="2400"/>
              <a:t>Phần 1: Đặt Vấn Đề &amp; Mục Tiêu</a:t>
            </a:r>
            <a:endParaRPr sz="2400"/>
          </a:p>
          <a:p>
            <a:pPr>
              <a:spcBef>
                <a:spcPts val="300"/>
              </a:spcBef>
              <a:defRPr sz="1000">
                <a:solidFill>
                  <a:srgbClr val="1E293B"/>
                </a:solidFill>
                <a:latin typeface="Arial" panose="020B0604020202020204"/>
              </a:defRPr>
            </a:pPr>
            <a:r>
              <a:rPr sz="1600"/>
              <a:t>Tính cấp thiết của chẩn đoán sớm và các mục tiêu nghiên cứu cốt lõi của đề tài.</a:t>
            </a:r>
            <a:endParaRPr sz="1600"/>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07" name="TextBox 106"/>
          <p:cNvSpPr txBox="1"/>
          <p:nvPr>
            <p:custDataLst>
              <p:tags r:id="rId4"/>
            </p:custDataLst>
          </p:nvPr>
        </p:nvSpPr>
        <p:spPr>
          <a:xfrm>
            <a:off x="4306570" y="2216785"/>
            <a:ext cx="722249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2: Phân Tích &amp; Thiết Kế Hệ Thống</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Thiết kế luồng xử lý song song, bộ lọc Safety Gate và các biểu đồ Use Case.</a:t>
            </a:r>
            <a:endParaRPr sz="1600">
              <a:solidFill>
                <a:srgbClr val="1E293B">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10" name="TextBox 109"/>
          <p:cNvSpPr txBox="1"/>
          <p:nvPr>
            <p:custDataLst>
              <p:tags r:id="rId6"/>
            </p:custDataLst>
          </p:nvPr>
        </p:nvSpPr>
        <p:spPr>
          <a:xfrm>
            <a:off x="4338955" y="3284855"/>
            <a:ext cx="791654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3: Thuật Toán &amp; Giải Thuật Nâng Cấp</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SAM + GrabCut tương tác, OTSU dự phòng, late fusion Bayes và trợ lý VQA RAG.</a:t>
            </a:r>
            <a:endParaRPr sz="1600">
              <a:solidFill>
                <a:srgbClr val="1E293B">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3" name="TextBox 112"/>
          <p:cNvSpPr txBox="1"/>
          <p:nvPr>
            <p:custDataLst>
              <p:tags r:id="rId8"/>
            </p:custDataLst>
          </p:nvPr>
        </p:nvSpPr>
        <p:spPr>
          <a:xfrm>
            <a:off x="4338955" y="4293235"/>
            <a:ext cx="815086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4: Thiết Kế CSDL &amp; Bảo Mật EHR</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Cấu trúc Firestore phân cấp, mã hóa XOR-Base64 tuân thủ HIPAA và tối ưu đa luồng.</a:t>
            </a:r>
            <a:endParaRPr sz="1600">
              <a:solidFill>
                <a:srgbClr val="1E293B">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7" name="TextBox 115"/>
          <p:cNvSpPr txBox="1"/>
          <p:nvPr>
            <p:custDataLst>
              <p:tags r:id="rId10"/>
            </p:custDataLst>
          </p:nvPr>
        </p:nvSpPr>
        <p:spPr>
          <a:xfrm>
            <a:off x="4306570" y="5373370"/>
            <a:ext cx="700722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5: Kết Kết Quả Thử Nghiệm &amp; Kết Luận</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Đánh giá độ chính xác, thời gian trễ và đóng góp thực tế.</a:t>
            </a:r>
            <a:endParaRPr sz="1600">
              <a:solidFill>
                <a:srgbClr val="1E293B">
                  <a:alpha val="20000"/>
                </a:srgb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1: ĐẶT VẤN ĐỀ &amp; MỤC TIÊU ĐỀ TÀI</a:t>
            </a:r>
            <a:endParaRPr>
              <a:latin typeface="+mj-lt"/>
              <a:cs typeface="+mj-lt"/>
            </a:endParaRPr>
          </a:p>
        </p:txBody>
      </p:sp>
      <p:sp>
        <p:nvSpPr>
          <p:cNvPr id="1" name="Text Box 0"/>
          <p:cNvSpPr txBox="1"/>
          <p:nvPr/>
        </p:nvSpPr>
        <p:spPr>
          <a:xfrm>
            <a:off x="407670" y="781685"/>
            <a:ext cx="5221605" cy="353060"/>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ĐẶT VẤN ĐỀ &amp; TÍNH CẤP THIẾT</a:t>
            </a:r>
            <a:endParaRPr lang="en-GB" altLang="en-US" sz="2400">
              <a:sym typeface="+mn-ea"/>
            </a:endParaRPr>
          </a:p>
        </p:txBody>
      </p:sp>
      <p:sp>
        <p:nvSpPr>
          <p:cNvPr id="112" name="TextBox 111"/>
          <p:cNvSpPr txBox="1"/>
          <p:nvPr/>
        </p:nvSpPr>
        <p:spPr>
          <a:xfrm>
            <a:off x="479425" y="1484630"/>
            <a:ext cx="10500360" cy="2471420"/>
          </a:xfrm>
          <a:prstGeom prst="rect">
            <a:avLst/>
          </a:prstGeom>
          <a:noFill/>
        </p:spPr>
        <p:txBody>
          <a:bodyPr wrap="square">
            <a:spAutoFit/>
          </a:bodyPr>
          <a:lstStyle/>
          <a:p>
            <a:pPr algn="just">
              <a:lnSpc>
                <a:spcPct val="115000"/>
              </a:lnSpc>
              <a:spcAft>
                <a:spcPts val="1000"/>
              </a:spcAft>
            </a:pPr>
            <a:r>
              <a:rPr sz="2000" b="1">
                <a:solidFill>
                  <a:srgbClr val="990000"/>
                </a:solidFill>
                <a:latin typeface="+mn-lt"/>
                <a:cs typeface="+mn-lt"/>
              </a:rPr>
              <a:t>Gánh nặng bệnh ác tính</a:t>
            </a:r>
            <a:r>
              <a:rPr sz="2000">
                <a:solidFill>
                  <a:srgbClr val="1E293B"/>
                </a:solidFill>
                <a:latin typeface="+mn-lt"/>
                <a:cs typeface="+mn-lt"/>
              </a:rPr>
              <a:t>: Các bệnh ung thư hắc tố (Melanoma, BCC) tăng trưởng nhanh. Chẩn đoán và điều trị sớm quyết định trên </a:t>
            </a:r>
            <a:r>
              <a:rPr sz="2000" b="1">
                <a:solidFill>
                  <a:srgbClr val="990000"/>
                </a:solidFill>
                <a:latin typeface="+mn-lt"/>
                <a:cs typeface="+mn-lt"/>
              </a:rPr>
              <a:t>95%</a:t>
            </a:r>
            <a:r>
              <a:rPr sz="2000">
                <a:solidFill>
                  <a:srgbClr val="1E293B"/>
                </a:solidFill>
                <a:latin typeface="+mn-lt"/>
                <a:cs typeface="+mn-lt"/>
              </a:rPr>
              <a:t> tỷ lệ sống sót.</a:t>
            </a:r>
            <a:endParaRPr sz="2000">
              <a:solidFill>
                <a:srgbClr val="1E293B"/>
              </a:solidFill>
              <a:latin typeface="+mn-lt"/>
              <a:cs typeface="+mn-lt"/>
            </a:endParaRPr>
          </a:p>
          <a:p>
            <a:pPr algn="just">
              <a:lnSpc>
                <a:spcPct val="115000"/>
              </a:lnSpc>
              <a:spcAft>
                <a:spcPts val="1000"/>
              </a:spcAft>
            </a:pPr>
            <a:r>
              <a:rPr sz="2000" b="1">
                <a:solidFill>
                  <a:srgbClr val="990000"/>
                </a:solidFill>
                <a:latin typeface="+mn-lt"/>
                <a:cs typeface="+mn-lt"/>
              </a:rPr>
              <a:t>Thực trạng tuyến cơ sở</a:t>
            </a:r>
            <a:r>
              <a:rPr sz="2000">
                <a:solidFill>
                  <a:srgbClr val="1E293B"/>
                </a:solidFill>
                <a:latin typeface="+mn-lt"/>
                <a:cs typeface="+mn-lt"/>
              </a:rPr>
              <a:t>: Thiếu hụt nghiêm trọng bác sĩ chuyên khoa sâu và các thiết bị soi chuyên dụng ở tuyến huyện, xã.</a:t>
            </a:r>
            <a:endParaRPr sz="2000">
              <a:solidFill>
                <a:srgbClr val="1E293B"/>
              </a:solidFill>
              <a:latin typeface="+mn-lt"/>
              <a:cs typeface="+mn-lt"/>
            </a:endParaRPr>
          </a:p>
          <a:p>
            <a:pPr algn="just">
              <a:lnSpc>
                <a:spcPct val="115000"/>
              </a:lnSpc>
              <a:spcAft>
                <a:spcPts val="1000"/>
              </a:spcAft>
            </a:pPr>
            <a:r>
              <a:rPr sz="2000" b="1">
                <a:solidFill>
                  <a:srgbClr val="990000"/>
                </a:solidFill>
                <a:latin typeface="+mn-lt"/>
                <a:cs typeface="+mn-lt"/>
              </a:rPr>
              <a:t>Giới hạn của mô hình AI cũ</a:t>
            </a:r>
            <a:r>
              <a:rPr sz="2000">
                <a:solidFill>
                  <a:srgbClr val="1E293B"/>
                </a:solidFill>
                <a:latin typeface="+mn-lt"/>
                <a:cs typeface="+mn-lt"/>
              </a:rPr>
              <a:t>: Hầu hết là mô hình Black-box không có giải thích lâm sàng, hoạt động đơn phương thức và có nguy cơ rò rỉ dữ liệu qua Cloud API công cộng.</a:t>
            </a:r>
            <a:endParaRPr sz="2000">
              <a:solidFill>
                <a:srgbClr val="1E293B"/>
              </a:solidFill>
              <a:latin typeface="+mn-lt"/>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1: ĐẶT VẤN ĐỀ &amp; MỤC TIÊU ĐỀ TÀI</a:t>
            </a:r>
            <a:endParaRPr>
              <a:latin typeface="+mj-lt"/>
              <a:cs typeface="+mj-lt"/>
            </a:endParaRPr>
          </a:p>
        </p:txBody>
      </p:sp>
      <p:sp>
        <p:nvSpPr>
          <p:cNvPr id="1" name="Text Box 0"/>
          <p:cNvSpPr txBox="1"/>
          <p:nvPr/>
        </p:nvSpPr>
        <p:spPr>
          <a:xfrm>
            <a:off x="407670" y="781685"/>
            <a:ext cx="5221605" cy="353060"/>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ĐỐI TƯỢNG &amp; MỤC TIÊU ĐỀ TÀI</a:t>
            </a:r>
            <a:endParaRPr lang="en-GB" altLang="en-US" sz="2400">
              <a:sym typeface="+mn-ea"/>
            </a:endParaRPr>
          </a:p>
        </p:txBody>
      </p:sp>
      <p:sp>
        <p:nvSpPr>
          <p:cNvPr id="112" name="TextBox 111"/>
          <p:cNvSpPr txBox="1"/>
          <p:nvPr/>
        </p:nvSpPr>
        <p:spPr>
          <a:xfrm>
            <a:off x="548640" y="1412875"/>
            <a:ext cx="8114030" cy="3179445"/>
          </a:xfrm>
          <a:prstGeom prst="rect">
            <a:avLst/>
          </a:prstGeom>
          <a:noFill/>
        </p:spPr>
        <p:txBody>
          <a:bodyPr wrap="square">
            <a:spAutoFit/>
          </a:bodyPr>
          <a:lstStyle/>
          <a:p>
            <a:pPr>
              <a:lnSpc>
                <a:spcPct val="115000"/>
              </a:lnSpc>
              <a:spcAft>
                <a:spcPts val="1000"/>
              </a:spcAft>
            </a:pPr>
            <a:r>
              <a:rPr sz="2000" b="1">
                <a:solidFill>
                  <a:srgbClr val="990000"/>
                </a:solidFill>
                <a:sym typeface="+mn-ea"/>
              </a:rPr>
              <a:t>Đối tượng nghiên cứu</a:t>
            </a:r>
            <a:r>
              <a:rPr sz="2000">
                <a:solidFill>
                  <a:srgbClr val="1E293B"/>
                </a:solidFill>
                <a:sym typeface="+mn-ea"/>
              </a:rPr>
              <a:t>: 7 lớp bệnh da liễu phổ biến (HAM10000: AKIEC, BCC, BKL, DF, MEL, NV, VASC). Dữ liệu ảnh da RGB thường/DICOM và demographics bệnh nhân.</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Đối tượng thụ hưởng</a:t>
            </a:r>
            <a:r>
              <a:rPr sz="2000">
                <a:solidFill>
                  <a:srgbClr val="1E293B"/>
                </a:solidFill>
                <a:sym typeface="+mn-ea"/>
              </a:rPr>
              <a:t>: Bác sĩ đa khoa tại phòng khám, trạm y tế tuyến cơ sở.</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Mục tiêu đồ án</a:t>
            </a:r>
            <a:r>
              <a:rPr sz="2000">
                <a:solidFill>
                  <a:srgbClr val="1E293B"/>
                </a:solidFill>
                <a:sym typeface="+mn-ea"/>
              </a:rPr>
              <a:t>: Xây dựng hệ thống CDSS đa phương thức toàn diện giúp chẩn đoán chính xác, biện giải minh bạch (ABCD, Grad-CAM), hỗ trợ offline (VQA Ollama) và quản lý EHR bảo mật.</a:t>
            </a:r>
            <a:endParaRPr sz="2000">
              <a:solidFill>
                <a:srgbClr val="1E293B"/>
              </a:solidFill>
              <a:latin typeface="+mn-lt"/>
              <a:cs typeface="+mn-lt"/>
              <a:sym typeface="+mn-ea"/>
            </a:endParaRPr>
          </a:p>
        </p:txBody>
      </p:sp>
      <p:pic>
        <p:nvPicPr>
          <p:cNvPr id="120" name="Picture 119" descr="ham10000_classes_1783445179379.png"/>
          <p:cNvPicPr>
            <a:picLocks noChangeAspect="1"/>
          </p:cNvPicPr>
          <p:nvPr/>
        </p:nvPicPr>
        <p:blipFill>
          <a:blip r:embed="rId1"/>
          <a:stretch>
            <a:fillRect/>
          </a:stretch>
        </p:blipFill>
        <p:spPr>
          <a:xfrm>
            <a:off x="8578215" y="1243330"/>
            <a:ext cx="3613785" cy="36137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NỘI DUNG TRÌNH BÀY</a:t>
            </a:r>
            <a:endParaRPr>
              <a:latin typeface="+mj-lt"/>
              <a:cs typeface="+mj-lt"/>
            </a:endParaRPr>
          </a:p>
        </p:txBody>
      </p:sp>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04" name="TextBox 103"/>
          <p:cNvSpPr txBox="1"/>
          <p:nvPr>
            <p:custDataLst>
              <p:tags r:id="rId2"/>
            </p:custDataLst>
          </p:nvPr>
        </p:nvSpPr>
        <p:spPr>
          <a:xfrm>
            <a:off x="4306570" y="1174750"/>
            <a:ext cx="757110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1: Đặt Vấn Đề &amp; Mục Tiêu</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Tính cấp thiết của chẩn đoán sớm và các mục tiêu nghiên cứu cốt lõi của đề tài.</a:t>
            </a:r>
            <a:endParaRPr sz="1600">
              <a:solidFill>
                <a:srgbClr val="1E293B">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02</a:t>
            </a:r>
            <a:endParaRPr sz="2400"/>
          </a:p>
        </p:txBody>
      </p:sp>
      <p:sp>
        <p:nvSpPr>
          <p:cNvPr id="107" name="TextBox 106"/>
          <p:cNvSpPr txBox="1"/>
          <p:nvPr>
            <p:custDataLst>
              <p:tags r:id="rId4"/>
            </p:custDataLst>
          </p:nvPr>
        </p:nvSpPr>
        <p:spPr>
          <a:xfrm>
            <a:off x="4306570" y="2216785"/>
            <a:ext cx="7222490" cy="744855"/>
          </a:xfrm>
          <a:prstGeom prst="rect">
            <a:avLst/>
          </a:prstGeom>
          <a:noFill/>
        </p:spPr>
        <p:txBody>
          <a:bodyPr wrap="square">
            <a:spAutoFit/>
          </a:bodyPr>
          <a:lstStyle/>
          <a:p>
            <a:pPr>
              <a:defRPr sz="1300" b="1">
                <a:solidFill>
                  <a:srgbClr val="990000"/>
                </a:solidFill>
                <a:latin typeface="Arial" panose="020B0604020202020204"/>
              </a:defRPr>
            </a:pPr>
            <a:r>
              <a:rPr sz="2400"/>
              <a:t>Phần 2: Phân Tích &amp; Thiết Kế Hệ Thống</a:t>
            </a:r>
            <a:endParaRPr sz="2400"/>
          </a:p>
          <a:p>
            <a:pPr>
              <a:spcBef>
                <a:spcPts val="300"/>
              </a:spcBef>
              <a:defRPr sz="1000">
                <a:solidFill>
                  <a:srgbClr val="1E293B"/>
                </a:solidFill>
                <a:latin typeface="Arial" panose="020B0604020202020204"/>
              </a:defRPr>
            </a:pPr>
            <a:r>
              <a:rPr sz="1600"/>
              <a:t>Thiết kế luồng xử lý song song, bộ lọc Safety Gate và các biểu đồ Use Case.</a:t>
            </a:r>
            <a:endParaRPr sz="1600"/>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10" name="TextBox 109"/>
          <p:cNvSpPr txBox="1"/>
          <p:nvPr>
            <p:custDataLst>
              <p:tags r:id="rId6"/>
            </p:custDataLst>
          </p:nvPr>
        </p:nvSpPr>
        <p:spPr>
          <a:xfrm>
            <a:off x="4338955" y="3284855"/>
            <a:ext cx="791654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3: Thuật Toán &amp; Giải Thuật Nâng Cấp</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SAM + GrabCut tương tác, OTSU dự phòng, late fusion Bayes và trợ lý VQA RAG.</a:t>
            </a:r>
            <a:endParaRPr sz="1600">
              <a:solidFill>
                <a:srgbClr val="1E293B">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3" name="TextBox 112"/>
          <p:cNvSpPr txBox="1"/>
          <p:nvPr>
            <p:custDataLst>
              <p:tags r:id="rId8"/>
            </p:custDataLst>
          </p:nvPr>
        </p:nvSpPr>
        <p:spPr>
          <a:xfrm>
            <a:off x="4338955" y="4293235"/>
            <a:ext cx="815086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4: Thiết Kế CSDL &amp; Bảo Mật EHR</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Cấu trúc Firestore phân cấp, mã hóa XOR-Base64 tuân thủ HIPAA và tối ưu đa luồng.</a:t>
            </a:r>
            <a:endParaRPr sz="1600">
              <a:solidFill>
                <a:srgbClr val="1E293B">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7" name="TextBox 115"/>
          <p:cNvSpPr txBox="1"/>
          <p:nvPr>
            <p:custDataLst>
              <p:tags r:id="rId10"/>
            </p:custDataLst>
          </p:nvPr>
        </p:nvSpPr>
        <p:spPr>
          <a:xfrm>
            <a:off x="4306570" y="5373370"/>
            <a:ext cx="700722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5: Kết Kết Quả Thử Nghiệm &amp; Kết Luận</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Đánh giá độ chính xác, thời gian trễ và đóng góp thực tế.</a:t>
            </a:r>
            <a:endParaRPr sz="1600">
              <a:solidFill>
                <a:srgbClr val="1E293B">
                  <a:alpha val="20000"/>
                </a:srgb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2</a:t>
            </a:r>
            <a:r>
              <a:rPr>
                <a:latin typeface="+mj-lt"/>
                <a:cs typeface="+mj-lt"/>
                <a:sym typeface="+mn-ea"/>
              </a:rPr>
              <a:t>: </a:t>
            </a:r>
            <a:r>
              <a:rPr lang="en-US">
                <a:latin typeface="+mj-lt"/>
                <a:cs typeface="+mj-lt"/>
                <a:sym typeface="+mn-ea"/>
              </a:rPr>
              <a:t>PHÂN TÍCH</a:t>
            </a:r>
            <a:r>
              <a:rPr>
                <a:latin typeface="+mj-lt"/>
                <a:cs typeface="+mj-lt"/>
                <a:sym typeface="+mn-ea"/>
              </a:rPr>
              <a:t> &amp; </a:t>
            </a:r>
            <a:r>
              <a:rPr lang="en-US">
                <a:latin typeface="+mj-lt"/>
                <a:cs typeface="+mj-lt"/>
                <a:sym typeface="+mn-ea"/>
              </a:rPr>
              <a:t>THIẾT KẾ HỆ THỐNG</a:t>
            </a:r>
            <a:endParaRPr lang="en-US">
              <a:latin typeface="+mj-lt"/>
              <a:cs typeface="+mj-lt"/>
              <a:sym typeface="+mn-ea"/>
            </a:endParaRPr>
          </a:p>
        </p:txBody>
      </p:sp>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KIẾN TRÚC TỔNG QUAN HỆ THỐNG</a:t>
            </a:r>
            <a:endParaRPr lang="en-GB" altLang="en-US" sz="2400">
              <a:sym typeface="+mn-ea"/>
            </a:endParaRPr>
          </a:p>
        </p:txBody>
      </p:sp>
      <p:sp>
        <p:nvSpPr>
          <p:cNvPr id="112" name="TextBox 111"/>
          <p:cNvSpPr txBox="1"/>
          <p:nvPr/>
        </p:nvSpPr>
        <p:spPr>
          <a:xfrm>
            <a:off x="200660" y="1412875"/>
            <a:ext cx="8016240" cy="2825115"/>
          </a:xfrm>
          <a:prstGeom prst="rect">
            <a:avLst/>
          </a:prstGeom>
          <a:noFill/>
        </p:spPr>
        <p:txBody>
          <a:bodyPr wrap="square">
            <a:spAutoFit/>
          </a:bodyPr>
          <a:lstStyle/>
          <a:p>
            <a:pPr>
              <a:lnSpc>
                <a:spcPct val="115000"/>
              </a:lnSpc>
              <a:spcAft>
                <a:spcPts val="1000"/>
              </a:spcAft>
            </a:pPr>
            <a:r>
              <a:rPr sz="2000" b="1">
                <a:solidFill>
                  <a:srgbClr val="990000"/>
                </a:solidFill>
                <a:sym typeface="+mn-ea"/>
              </a:rPr>
              <a:t>Phân luồng song song độc lập</a:t>
            </a:r>
            <a:r>
              <a:rPr sz="2000">
                <a:solidFill>
                  <a:srgbClr val="1E293B"/>
                </a:solidFill>
                <a:sym typeface="+mn-ea"/>
              </a:rPr>
              <a:t>: Nhánh Phân đoạn ảnh (ABCD) và nhánh Phân loại chạy độc lập song song để tránh gây nhiễu chéo dữ liệu lâm sàng.</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Bộ lọc Safety Gate</a:t>
            </a:r>
            <a:r>
              <a:rPr sz="2000">
                <a:solidFill>
                  <a:srgbClr val="1E293B"/>
                </a:solidFill>
                <a:sym typeface="+mn-ea"/>
              </a:rPr>
              <a:t>: Tự động đánh giá chất lượng ảnh (độ mờ Laplacian, phơi sáng thích ứng chủng tộc Fitzpatrick) trước khi chạy</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Hợp nhất Bayes &amp; VQA</a:t>
            </a:r>
            <a:r>
              <a:rPr sz="2000">
                <a:solidFill>
                  <a:srgbClr val="1E293B"/>
                </a:solidFill>
                <a:sym typeface="+mn-ea"/>
              </a:rPr>
              <a:t>: Late Fusion Bayes kết hợp kết quả vision với demographics, đưa vào trợ lý đàm thoại VQA RAG.</a:t>
            </a:r>
            <a:endParaRPr sz="2000">
              <a:solidFill>
                <a:srgbClr val="1E293B"/>
              </a:solidFill>
              <a:latin typeface="+mn-lt"/>
              <a:cs typeface="+mn-lt"/>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2</a:t>
            </a:r>
            <a:r>
              <a:rPr>
                <a:latin typeface="+mj-lt"/>
                <a:cs typeface="+mj-lt"/>
                <a:sym typeface="+mn-ea"/>
              </a:rPr>
              <a:t>: </a:t>
            </a:r>
            <a:r>
              <a:rPr lang="en-US">
                <a:latin typeface="+mj-lt"/>
                <a:cs typeface="+mj-lt"/>
                <a:sym typeface="+mn-ea"/>
              </a:rPr>
              <a:t>PHÂN TÍCH</a:t>
            </a:r>
            <a:r>
              <a:rPr>
                <a:latin typeface="+mj-lt"/>
                <a:cs typeface="+mj-lt"/>
                <a:sym typeface="+mn-ea"/>
              </a:rPr>
              <a:t> &amp; </a:t>
            </a:r>
            <a:r>
              <a:rPr lang="en-US">
                <a:latin typeface="+mj-lt"/>
                <a:cs typeface="+mj-lt"/>
                <a:sym typeface="+mn-ea"/>
              </a:rPr>
              <a:t>THIẾT KẾ HỆ THỐNG</a:t>
            </a:r>
            <a:endParaRPr lang="en-US">
              <a:latin typeface="+mj-lt"/>
              <a:cs typeface="+mj-lt"/>
              <a:sym typeface="+mn-ea"/>
            </a:endParaRPr>
          </a:p>
        </p:txBody>
      </p:sp>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KIẾN TRÚC TỔNG QUAN HỆ THỐNG</a:t>
            </a:r>
            <a:endParaRPr lang="en-GB" altLang="en-US" sz="2400">
              <a:sym typeface="+mn-ea"/>
            </a:endParaRPr>
          </a:p>
        </p:txBody>
      </p:sp>
      <p:pic>
        <p:nvPicPr>
          <p:cNvPr id="7" name="Picture 6"/>
          <p:cNvPicPr/>
          <p:nvPr/>
        </p:nvPicPr>
        <p:blipFill>
          <a:blip r:embed="rId1"/>
          <a:stretch>
            <a:fillRect/>
          </a:stretch>
        </p:blipFill>
        <p:spPr>
          <a:xfrm>
            <a:off x="911225" y="980440"/>
            <a:ext cx="10078085" cy="54368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2</a:t>
            </a:r>
            <a:r>
              <a:rPr>
                <a:latin typeface="+mj-lt"/>
                <a:cs typeface="+mj-lt"/>
                <a:sym typeface="+mn-ea"/>
              </a:rPr>
              <a:t>: </a:t>
            </a:r>
            <a:r>
              <a:rPr lang="en-US">
                <a:latin typeface="+mj-lt"/>
                <a:cs typeface="+mj-lt"/>
                <a:sym typeface="+mn-ea"/>
              </a:rPr>
              <a:t>PHÂN TÍCH</a:t>
            </a:r>
            <a:r>
              <a:rPr>
                <a:latin typeface="+mj-lt"/>
                <a:cs typeface="+mj-lt"/>
                <a:sym typeface="+mn-ea"/>
              </a:rPr>
              <a:t> &amp; </a:t>
            </a:r>
            <a:r>
              <a:rPr lang="en-US">
                <a:latin typeface="+mj-lt"/>
                <a:cs typeface="+mj-lt"/>
                <a:sym typeface="+mn-ea"/>
              </a:rPr>
              <a:t>THIẾT KẾ HỆ THỐNG</a:t>
            </a:r>
            <a:endParaRPr lang="en-US">
              <a:latin typeface="+mj-lt"/>
              <a:cs typeface="+mj-lt"/>
              <a:sym typeface="+mn-ea"/>
            </a:endParaRPr>
          </a:p>
        </p:txBody>
      </p:sp>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PH</a:t>
            </a:r>
            <a:r>
              <a:rPr lang="" altLang="en-US" sz="2400">
                <a:sym typeface="+mn-ea"/>
              </a:rPr>
              <a:t>Â</a:t>
            </a:r>
            <a:r>
              <a:rPr lang="en-US" altLang="en-GB" sz="2400">
                <a:sym typeface="+mn-ea"/>
              </a:rPr>
              <a:t>N T</a:t>
            </a:r>
            <a:r>
              <a:rPr lang="" altLang="en-US" sz="2400">
                <a:sym typeface="+mn-ea"/>
              </a:rPr>
              <a:t>Í</a:t>
            </a:r>
            <a:r>
              <a:rPr lang="en-US" altLang="en-GB" sz="2400">
                <a:sym typeface="+mn-ea"/>
              </a:rPr>
              <a:t>CH CHỨC N</a:t>
            </a:r>
            <a:r>
              <a:rPr lang="" altLang="en-US" sz="2400">
                <a:sym typeface="+mn-ea"/>
              </a:rPr>
              <a:t>Ă</a:t>
            </a:r>
            <a:r>
              <a:rPr lang="en-US" altLang="en-GB" sz="2400">
                <a:sym typeface="+mn-ea"/>
              </a:rPr>
              <a:t>NG HỆ THỐNG</a:t>
            </a:r>
            <a:endParaRPr lang="en-US" altLang="en-GB" sz="2400">
              <a:sym typeface="+mn-ea"/>
            </a:endParaRPr>
          </a:p>
        </p:txBody>
      </p:sp>
      <p:sp>
        <p:nvSpPr>
          <p:cNvPr id="112" name="TextBox 111"/>
          <p:cNvSpPr txBox="1"/>
          <p:nvPr/>
        </p:nvSpPr>
        <p:spPr>
          <a:xfrm>
            <a:off x="200660" y="1412875"/>
            <a:ext cx="11698605" cy="2471420"/>
          </a:xfrm>
          <a:prstGeom prst="rect">
            <a:avLst/>
          </a:prstGeom>
          <a:noFill/>
        </p:spPr>
        <p:txBody>
          <a:bodyPr wrap="square">
            <a:spAutoFit/>
          </a:bodyPr>
          <a:lstStyle/>
          <a:p>
            <a:pPr>
              <a:lnSpc>
                <a:spcPct val="115000"/>
              </a:lnSpc>
              <a:spcAft>
                <a:spcPts val="1000"/>
              </a:spcAft>
            </a:pPr>
            <a:r>
              <a:rPr sz="2000" b="1">
                <a:solidFill>
                  <a:srgbClr val="990000"/>
                </a:solidFill>
                <a:sym typeface="+mn-ea"/>
              </a:rPr>
              <a:t>Giao diện đơn nhân (Single-user)</a:t>
            </a:r>
            <a:r>
              <a:rPr sz="2000">
                <a:solidFill>
                  <a:srgbClr val="1E293B"/>
                </a:solidFill>
                <a:sym typeface="+mn-ea"/>
              </a:rPr>
              <a:t>: Hệ thống tối giản hóa quy trình sử dụng cho bác sĩ lâm sàng cơ sở, không yêu cầu đăng nhập phức tạp.</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Nghiệp vụ Chẩn đoán</a:t>
            </a:r>
            <a:r>
              <a:rPr sz="2000">
                <a:solidFill>
                  <a:srgbClr val="1E293B"/>
                </a:solidFill>
                <a:sym typeface="+mn-ea"/>
              </a:rPr>
              <a:t>: Tải ảnh chụp/DICOM, cấu hình cổng Safety Gate, vẽ mồi phân đoạn tổn thương SAM, đo đạc ABCD và late fusion Bayes.</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Nghiệp vụ Tham vấn &amp; Quản lý</a:t>
            </a:r>
            <a:r>
              <a:rPr sz="2000">
                <a:solidFill>
                  <a:srgbClr val="1E293B"/>
                </a:solidFill>
                <a:sym typeface="+mn-ea"/>
              </a:rPr>
              <a:t>: Hỏi đáp VQA y văn offline, đồng bộ hóa bệnh án EHR và trích xuất báo cáo PDF bệnh lý.</a:t>
            </a:r>
            <a:endParaRPr sz="2000">
              <a:solidFill>
                <a:srgbClr val="1E293B"/>
              </a:solidFill>
              <a:latin typeface="+mn-lt"/>
              <a:cs typeface="+mn-lt"/>
              <a:sym typeface="+mn-ea"/>
            </a:endParaRPr>
          </a:p>
        </p:txBody>
      </p:sp>
      <p:pic>
        <p:nvPicPr>
          <p:cNvPr id="2" name="Picture 1"/>
          <p:cNvPicPr/>
          <p:nvPr/>
        </p:nvPicPr>
        <p:blipFill>
          <a:blip r:embed="rId1"/>
          <a:stretch>
            <a:fillRect/>
          </a:stretch>
        </p:blipFill>
        <p:spPr>
          <a:xfrm>
            <a:off x="119380" y="3884295"/>
            <a:ext cx="12021185" cy="21456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NỘI DUNG TRÌNH BÀY</a:t>
            </a:r>
            <a:endParaRPr>
              <a:latin typeface="+mj-lt"/>
              <a:cs typeface="+mj-lt"/>
            </a:endParaRPr>
          </a:p>
        </p:txBody>
      </p:sp>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04" name="TextBox 103"/>
          <p:cNvSpPr txBox="1"/>
          <p:nvPr>
            <p:custDataLst>
              <p:tags r:id="rId2"/>
            </p:custDataLst>
          </p:nvPr>
        </p:nvSpPr>
        <p:spPr>
          <a:xfrm>
            <a:off x="4306570" y="1174750"/>
            <a:ext cx="757110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1: Đặt Vấn Đề &amp; Mục Tiêu</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Tính cấp thiết của chẩn đoán sớm và các mục tiêu nghiên cứu cốt lõi của đề tài.</a:t>
            </a:r>
            <a:endParaRPr sz="1600">
              <a:solidFill>
                <a:srgbClr val="1E293B">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07" name="TextBox 106"/>
          <p:cNvSpPr txBox="1"/>
          <p:nvPr>
            <p:custDataLst>
              <p:tags r:id="rId4"/>
            </p:custDataLst>
          </p:nvPr>
        </p:nvSpPr>
        <p:spPr>
          <a:xfrm>
            <a:off x="4306570" y="2216785"/>
            <a:ext cx="722249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2: Phân Tích &amp; Thiết Kế Hệ Thống</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Thiết kế luồng xử lý song song, bộ lọc Safety Gate và các biểu đồ Use Case.</a:t>
            </a:r>
            <a:endParaRPr sz="1600">
              <a:solidFill>
                <a:srgbClr val="1E293B">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03</a:t>
            </a:r>
            <a:endParaRPr sz="2400"/>
          </a:p>
        </p:txBody>
      </p:sp>
      <p:sp>
        <p:nvSpPr>
          <p:cNvPr id="110" name="TextBox 109"/>
          <p:cNvSpPr txBox="1"/>
          <p:nvPr>
            <p:custDataLst>
              <p:tags r:id="rId6"/>
            </p:custDataLst>
          </p:nvPr>
        </p:nvSpPr>
        <p:spPr>
          <a:xfrm>
            <a:off x="4338955" y="3284855"/>
            <a:ext cx="7916545" cy="744855"/>
          </a:xfrm>
          <a:prstGeom prst="rect">
            <a:avLst/>
          </a:prstGeom>
          <a:noFill/>
        </p:spPr>
        <p:txBody>
          <a:bodyPr wrap="square">
            <a:spAutoFit/>
          </a:bodyPr>
          <a:lstStyle/>
          <a:p>
            <a:pPr>
              <a:defRPr sz="1300" b="1">
                <a:solidFill>
                  <a:srgbClr val="990000"/>
                </a:solidFill>
                <a:latin typeface="Arial" panose="020B0604020202020204"/>
              </a:defRPr>
            </a:pPr>
            <a:r>
              <a:rPr sz="2400"/>
              <a:t>Phần 3: Thuật Toán &amp; Giải Thuật Nâng Cấp</a:t>
            </a:r>
            <a:endParaRPr sz="2400"/>
          </a:p>
          <a:p>
            <a:pPr>
              <a:spcBef>
                <a:spcPts val="300"/>
              </a:spcBef>
              <a:defRPr sz="1000">
                <a:solidFill>
                  <a:srgbClr val="1E293B"/>
                </a:solidFill>
                <a:latin typeface="Arial" panose="020B0604020202020204"/>
              </a:defRPr>
            </a:pPr>
            <a:r>
              <a:rPr sz="1600"/>
              <a:t>SAM + GrabCut tương tác, OTSU dự phòng, late fusion Bayes và trợ lý VQA RAG.</a:t>
            </a:r>
            <a:endParaRPr sz="1600"/>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3" name="TextBox 112"/>
          <p:cNvSpPr txBox="1"/>
          <p:nvPr>
            <p:custDataLst>
              <p:tags r:id="rId8"/>
            </p:custDataLst>
          </p:nvPr>
        </p:nvSpPr>
        <p:spPr>
          <a:xfrm>
            <a:off x="4338955" y="4293235"/>
            <a:ext cx="815086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4: Thiết Kế CSDL &amp; Bảo Mật EHR</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Cấu trúc Firestore phân cấp, mã hóa XOR-Base64 tuân thủ HIPAA và tối ưu đa luồng.</a:t>
            </a:r>
            <a:endParaRPr sz="1600">
              <a:solidFill>
                <a:srgbClr val="1E293B">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7" name="TextBox 115"/>
          <p:cNvSpPr txBox="1"/>
          <p:nvPr>
            <p:custDataLst>
              <p:tags r:id="rId10"/>
            </p:custDataLst>
          </p:nvPr>
        </p:nvSpPr>
        <p:spPr>
          <a:xfrm>
            <a:off x="4306570" y="5373370"/>
            <a:ext cx="700722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5: Kết Kết Quả Thử Nghiệm &amp; Kết Luận</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Đánh giá độ chính xác, thời gian trễ và đóng góp thực tế.</a:t>
            </a:r>
            <a:endParaRPr sz="1600">
              <a:solidFill>
                <a:srgbClr val="1E293B">
                  <a:alpha val="20000"/>
                </a:srgb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GIẢI THUẬT PH</a:t>
            </a:r>
            <a:r>
              <a:rPr lang="" altLang="en-US" sz="2400">
                <a:sym typeface="+mn-ea"/>
              </a:rPr>
              <a:t>Â</a:t>
            </a:r>
            <a:r>
              <a:rPr lang="en-US" altLang="en-GB" sz="2400">
                <a:sym typeface="+mn-ea"/>
              </a:rPr>
              <a:t>N </a:t>
            </a:r>
            <a:r>
              <a:rPr lang="" altLang="en-US" sz="2400">
                <a:sym typeface="+mn-ea"/>
              </a:rPr>
              <a:t>Đ</a:t>
            </a:r>
            <a:r>
              <a:rPr lang="en-US" altLang="en-GB" sz="2400">
                <a:sym typeface="+mn-ea"/>
              </a:rPr>
              <a:t>OẠN TỔN TH</a:t>
            </a:r>
            <a:r>
              <a:rPr lang="" altLang="en-US" sz="2400">
                <a:sym typeface="+mn-ea"/>
              </a:rPr>
              <a:t>ƯƠ</a:t>
            </a:r>
            <a:r>
              <a:rPr lang="en-US" altLang="en-GB" sz="2400">
                <a:sym typeface="+mn-ea"/>
              </a:rPr>
              <a:t>NG</a:t>
            </a:r>
            <a:endParaRPr lang="en-US" altLang="en-GB" sz="2400">
              <a:sym typeface="+mn-ea"/>
            </a:endParaRPr>
          </a:p>
        </p:txBody>
      </p:sp>
      <p:sp>
        <p:nvSpPr>
          <p:cNvPr id="112" name="TextBox 111"/>
          <p:cNvSpPr txBox="1"/>
          <p:nvPr/>
        </p:nvSpPr>
        <p:spPr>
          <a:xfrm>
            <a:off x="200660" y="1484630"/>
            <a:ext cx="5208905" cy="4241165"/>
          </a:xfrm>
          <a:prstGeom prst="rect">
            <a:avLst/>
          </a:prstGeom>
          <a:noFill/>
        </p:spPr>
        <p:txBody>
          <a:bodyPr wrap="square">
            <a:spAutoFit/>
          </a:bodyPr>
          <a:lstStyle/>
          <a:p>
            <a:pPr>
              <a:lnSpc>
                <a:spcPct val="115000"/>
              </a:lnSpc>
              <a:spcAft>
                <a:spcPts val="1000"/>
              </a:spcAft>
            </a:pPr>
            <a:r>
              <a:rPr sz="2000" b="1">
                <a:solidFill>
                  <a:srgbClr val="990000"/>
                </a:solidFill>
                <a:sym typeface="+mn-ea"/>
              </a:rPr>
              <a:t>Phân đoạn tự động</a:t>
            </a:r>
            <a:r>
              <a:rPr sz="2000">
                <a:solidFill>
                  <a:srgbClr val="1E293B"/>
                </a:solidFill>
                <a:sym typeface="+mn-ea"/>
              </a:rPr>
              <a:t>: Sử dụng mạng DeepLabV3+ (ResNet50) và Multi-scale TTA ({1.0, 0.75, 0.5}) tối ưu phân đoạn trên ảnh chụp di động.</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GrabCut tương tác</a:t>
            </a:r>
            <a:r>
              <a:rPr sz="2000">
                <a:solidFill>
                  <a:srgbClr val="1E293B"/>
                </a:solidFill>
                <a:sym typeface="+mn-ea"/>
              </a:rPr>
              <a:t>: Tích hợp thuật toán GrabCut nâng cấp khởi tạo bằng mặt nạ mồi định vị chính xác vùng click chuột của bác sĩ.</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OTSU dự phòng y khoa</a:t>
            </a:r>
            <a:r>
              <a:rPr sz="2000">
                <a:solidFill>
                  <a:srgbClr val="1E293B"/>
                </a:solidFill>
                <a:sym typeface="+mn-ea"/>
              </a:rPr>
              <a:t>: Tự động fallback về bộ lọc OTSU nghịch đảo nếu mô hình deep learning phân đoạn lỗi (mặt nạ rỗng), đảm bảo đo đạc chỉ số ABCD luôn ổn định.</a:t>
            </a:r>
            <a:endParaRPr sz="2000">
              <a:solidFill>
                <a:srgbClr val="1E293B"/>
              </a:solidFill>
              <a:latin typeface="+mn-lt"/>
              <a:cs typeface="+mn-lt"/>
              <a:sym typeface="+mn-ea"/>
            </a:endParaRPr>
          </a:p>
        </p:txBody>
      </p:sp>
      <p:pic>
        <p:nvPicPr>
          <p:cNvPr id="142" name="Picture 141" descr="seg_comparison.png"/>
          <p:cNvPicPr>
            <a:picLocks noChangeAspect="1"/>
          </p:cNvPicPr>
          <p:nvPr/>
        </p:nvPicPr>
        <p:blipFill>
          <a:blip r:embed="rId1"/>
          <a:stretch>
            <a:fillRect/>
          </a:stretch>
        </p:blipFill>
        <p:spPr>
          <a:xfrm>
            <a:off x="5311775" y="1413510"/>
            <a:ext cx="6757670" cy="43446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GIẢI THUẬT PH</a:t>
            </a:r>
            <a:r>
              <a:rPr lang="en-US" altLang="en-US" sz="2400">
                <a:sym typeface="+mn-ea"/>
              </a:rPr>
              <a:t>Â</a:t>
            </a:r>
            <a:r>
              <a:rPr lang="en-US" altLang="en-GB" sz="2400">
                <a:sym typeface="+mn-ea"/>
              </a:rPr>
              <a:t>N </a:t>
            </a:r>
            <a:r>
              <a:rPr lang="en-US" altLang="en-US" sz="2400">
                <a:sym typeface="+mn-ea"/>
              </a:rPr>
              <a:t>Đ</a:t>
            </a:r>
            <a:r>
              <a:rPr lang="en-US" altLang="en-GB" sz="2400">
                <a:sym typeface="+mn-ea"/>
              </a:rPr>
              <a:t>OẠN TỔN TH</a:t>
            </a:r>
            <a:r>
              <a:rPr lang="en-US" altLang="en-US" sz="2400">
                <a:sym typeface="+mn-ea"/>
              </a:rPr>
              <a:t>ƯƠ</a:t>
            </a:r>
            <a:r>
              <a:rPr lang="en-US" altLang="en-GB" sz="2400">
                <a:sym typeface="+mn-ea"/>
              </a:rPr>
              <a:t>NG</a:t>
            </a:r>
            <a:endParaRPr lang="en-US" altLang="en-GB" sz="2400">
              <a:sym typeface="+mn-ea"/>
            </a:endParaRPr>
          </a:p>
        </p:txBody>
      </p:sp>
      <p:pic>
        <p:nvPicPr>
          <p:cNvPr id="2" name="Picture 1"/>
          <p:cNvPicPr/>
          <p:nvPr/>
        </p:nvPicPr>
        <p:blipFill>
          <a:blip r:embed="rId1"/>
          <a:stretch>
            <a:fillRect/>
          </a:stretch>
        </p:blipFill>
        <p:spPr>
          <a:xfrm>
            <a:off x="2423795" y="1118870"/>
            <a:ext cx="7662545" cy="5251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 altLang="en-US" sz="2400">
                <a:sym typeface="+mn-ea"/>
              </a:rPr>
              <a:t>Đ</a:t>
            </a:r>
            <a:r>
              <a:rPr lang="en-US" altLang="en-GB" sz="2400">
                <a:sym typeface="+mn-ea"/>
              </a:rPr>
              <a:t>O </a:t>
            </a:r>
            <a:r>
              <a:rPr lang="" altLang="en-US" sz="2400">
                <a:sym typeface="+mn-ea"/>
              </a:rPr>
              <a:t>Đ</a:t>
            </a:r>
            <a:r>
              <a:rPr lang="en-US" altLang="en-GB" sz="2400">
                <a:sym typeface="+mn-ea"/>
              </a:rPr>
              <a:t>ẠC CHỈ SỐ H</a:t>
            </a:r>
            <a:r>
              <a:rPr lang="" altLang="en-US" sz="2400">
                <a:sym typeface="+mn-ea"/>
              </a:rPr>
              <a:t>Ì</a:t>
            </a:r>
            <a:r>
              <a:rPr lang="en-US" altLang="en-GB" sz="2400">
                <a:sym typeface="+mn-ea"/>
              </a:rPr>
              <a:t>NH HỌC L</a:t>
            </a:r>
            <a:r>
              <a:rPr lang="" altLang="en-US" sz="2400">
                <a:sym typeface="+mn-ea"/>
              </a:rPr>
              <a:t>Â</a:t>
            </a:r>
            <a:r>
              <a:rPr lang="en-US" altLang="en-GB" sz="2400">
                <a:sym typeface="+mn-ea"/>
              </a:rPr>
              <a:t>M S</a:t>
            </a:r>
            <a:r>
              <a:rPr lang="" altLang="en-US" sz="2400">
                <a:sym typeface="+mn-ea"/>
              </a:rPr>
              <a:t>À</a:t>
            </a:r>
            <a:r>
              <a:rPr lang="en-US" altLang="en-GB" sz="2400">
                <a:sym typeface="+mn-ea"/>
              </a:rPr>
              <a:t>NG ABCD</a:t>
            </a:r>
            <a:endParaRPr lang="en-US" altLang="en-GB" sz="2400">
              <a:sym typeface="+mn-ea"/>
            </a:endParaRPr>
          </a:p>
        </p:txBody>
      </p:sp>
      <p:sp>
        <p:nvSpPr>
          <p:cNvPr id="112" name="TextBox 111"/>
          <p:cNvSpPr txBox="1"/>
          <p:nvPr/>
        </p:nvSpPr>
        <p:spPr>
          <a:xfrm>
            <a:off x="200660" y="1412875"/>
            <a:ext cx="5285105" cy="4723130"/>
          </a:xfrm>
          <a:prstGeom prst="rect">
            <a:avLst/>
          </a:prstGeom>
          <a:noFill/>
        </p:spPr>
        <p:txBody>
          <a:bodyPr wrap="square">
            <a:spAutoFit/>
          </a:bodyPr>
          <a:lstStyle/>
          <a:p>
            <a:pPr>
              <a:lnSpc>
                <a:spcPct val="115000"/>
              </a:lnSpc>
              <a:spcAft>
                <a:spcPts val="1000"/>
              </a:spcAft>
            </a:pPr>
            <a:r>
              <a:rPr sz="2000" b="1">
                <a:solidFill>
                  <a:srgbClr val="990000"/>
                </a:solidFill>
                <a:sym typeface="+mn-ea"/>
              </a:rPr>
              <a:t>Asymmetry (Bất đối xứng)</a:t>
            </a:r>
            <a:r>
              <a:rPr sz="2000">
                <a:solidFill>
                  <a:srgbClr val="1E293B"/>
                </a:solidFill>
                <a:sym typeface="+mn-ea"/>
              </a:rPr>
              <a:t>: Tính tỷ lệ bất đối xứng của mặt nạ tổn thương qua hai trục đối xứng trực quan X và Y.</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Border (Biên bờ)</a:t>
            </a:r>
            <a:r>
              <a:rPr sz="2000">
                <a:solidFill>
                  <a:srgbClr val="1E293B"/>
                </a:solidFill>
                <a:sym typeface="+mn-ea"/>
              </a:rPr>
              <a:t>: Tính độ phức tạp bờ tổn thương dựa trên chu vi và diện tích mặt nạ, giúp bác sĩ phát hiện bờ không đều.</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Color (Màu sắc)</a:t>
            </a:r>
            <a:r>
              <a:rPr sz="2000">
                <a:solidFill>
                  <a:srgbClr val="1E293B"/>
                </a:solidFill>
                <a:sym typeface="+mn-ea"/>
              </a:rPr>
              <a:t>: Đo độ lệch chuẩn màu sắc RGB trong vùng tổn thương.</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Diameter (Đường kính)</a:t>
            </a:r>
            <a:r>
              <a:rPr sz="2000">
                <a:solidFill>
                  <a:srgbClr val="1E293B"/>
                </a:solidFill>
                <a:sym typeface="+mn-ea"/>
              </a:rPr>
              <a:t>: Siêu dữ liệu từ tệp DICOM được trích xuất để quy đổi pixel sang kích thước thực tế, đảm bảo tính chính xác lâm sàng.</a:t>
            </a:r>
            <a:endParaRPr sz="2000">
              <a:solidFill>
                <a:srgbClr val="1E293B"/>
              </a:solidFill>
              <a:latin typeface="+mn-lt"/>
              <a:cs typeface="+mn-lt"/>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PH</a:t>
            </a:r>
            <a:r>
              <a:rPr lang="" altLang="en-US" sz="2400">
                <a:sym typeface="+mn-ea"/>
              </a:rPr>
              <a:t>Â</a:t>
            </a:r>
            <a:r>
              <a:rPr lang="en-US" altLang="en-GB" sz="2400">
                <a:sym typeface="+mn-ea"/>
              </a:rPr>
              <a:t>N LOẠI &amp; HỢP NHẤT BAYES</a:t>
            </a:r>
            <a:endParaRPr lang="en-US" altLang="en-GB" sz="2400">
              <a:sym typeface="+mn-ea"/>
            </a:endParaRPr>
          </a:p>
        </p:txBody>
      </p:sp>
      <p:sp>
        <p:nvSpPr>
          <p:cNvPr id="112" name="TextBox 111"/>
          <p:cNvSpPr txBox="1"/>
          <p:nvPr/>
        </p:nvSpPr>
        <p:spPr>
          <a:xfrm>
            <a:off x="119380" y="1429385"/>
            <a:ext cx="12061190" cy="1635125"/>
          </a:xfrm>
          <a:prstGeom prst="rect">
            <a:avLst/>
          </a:prstGeom>
          <a:noFill/>
        </p:spPr>
        <p:txBody>
          <a:bodyPr wrap="square">
            <a:spAutoFit/>
          </a:bodyPr>
          <a:lstStyle/>
          <a:p>
            <a:pPr>
              <a:lnSpc>
                <a:spcPct val="115000"/>
              </a:lnSpc>
              <a:spcAft>
                <a:spcPts val="1000"/>
              </a:spcAft>
            </a:pPr>
            <a:r>
              <a:rPr sz="2000" b="1">
                <a:solidFill>
                  <a:srgbClr val="990000"/>
                </a:solidFill>
                <a:sym typeface="+mn-ea"/>
              </a:rPr>
              <a:t>Phân loại ảnh (Classifier)</a:t>
            </a:r>
            <a:r>
              <a:rPr sz="2000">
                <a:solidFill>
                  <a:srgbClr val="1E293B"/>
                </a:solidFill>
                <a:sym typeface="+mn-ea"/>
              </a:rPr>
              <a:t>: Kiến trúc EfficientNet-B1 nhúng khối chú ý CBAM giúp hội tụ chính xác vào tổn thương da sắc tố.</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Late Fusion Bayes</a:t>
            </a:r>
            <a:r>
              <a:rPr sz="2000">
                <a:solidFill>
                  <a:srgbClr val="1E293B"/>
                </a:solidFill>
                <a:sym typeface="+mn-ea"/>
              </a:rPr>
              <a:t>: Hợp nhất xác suất hình ảnh với demographics dịch tễ (tuổi, giới tính, vị trí giải phẫu) theo công thức Bayes.</a:t>
            </a:r>
            <a:endParaRPr sz="2000">
              <a:solidFill>
                <a:srgbClr val="1E293B"/>
              </a:solidFill>
              <a:latin typeface="+mn-lt"/>
              <a:cs typeface="+mn-lt"/>
              <a:sym typeface="+mn-ea"/>
            </a:endParaRPr>
          </a:p>
        </p:txBody>
      </p:sp>
      <p:pic>
        <p:nvPicPr>
          <p:cNvPr id="157" name="Picture 156" descr="training_history.png"/>
          <p:cNvPicPr>
            <a:picLocks noChangeAspect="1"/>
          </p:cNvPicPr>
          <p:nvPr/>
        </p:nvPicPr>
        <p:blipFill>
          <a:blip r:embed="rId1"/>
          <a:stretch>
            <a:fillRect/>
          </a:stretch>
        </p:blipFill>
        <p:spPr>
          <a:xfrm>
            <a:off x="4056380" y="2708910"/>
            <a:ext cx="8092440" cy="3315970"/>
          </a:xfrm>
          <a:prstGeom prst="rect">
            <a:avLst/>
          </a:prstGeom>
        </p:spPr>
      </p:pic>
      <p:sp>
        <p:nvSpPr>
          <p:cNvPr id="2" name="TextBox 111"/>
          <p:cNvSpPr txBox="1"/>
          <p:nvPr/>
        </p:nvSpPr>
        <p:spPr>
          <a:xfrm>
            <a:off x="191770" y="3140710"/>
            <a:ext cx="3982720" cy="2568575"/>
          </a:xfrm>
          <a:prstGeom prst="rect">
            <a:avLst/>
          </a:prstGeom>
          <a:noFill/>
        </p:spPr>
        <p:txBody>
          <a:bodyPr wrap="square">
            <a:spAutoFit/>
          </a:bodyPr>
          <a:lstStyle/>
          <a:p>
            <a:pPr>
              <a:lnSpc>
                <a:spcPct val="115000"/>
              </a:lnSpc>
              <a:spcAft>
                <a:spcPts val="1000"/>
              </a:spcAft>
            </a:pPr>
            <a:r>
              <a:rPr sz="2000" b="1">
                <a:solidFill>
                  <a:srgbClr val="990000"/>
                </a:solidFill>
                <a:sym typeface="+mn-ea"/>
              </a:rPr>
              <a:t>Trọng số điều phối ($\lambda$)</a:t>
            </a:r>
            <a:r>
              <a:rPr sz="2000">
                <a:solidFill>
                  <a:srgbClr val="1E293B"/>
                </a:solidFill>
                <a:sym typeface="+mn-ea"/>
              </a:rPr>
              <a:t>: Tích hợp slider trọng số $\lambda$ trên giao diện giúp bác sĩ chủ động kiểm soát và giảm bớt ảnh hưởng của thiên lệch địa lý HAM10000 (da trắng) khi chẩn đoán cho người Việt.</a:t>
            </a:r>
            <a:endParaRPr sz="2000">
              <a:solidFill>
                <a:srgbClr val="1E293B"/>
              </a:solidFill>
              <a:latin typeface="+mn-lt"/>
              <a:cs typeface="+mn-lt"/>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PH</a:t>
            </a:r>
            <a:r>
              <a:rPr lang="en-US" altLang="en-US" sz="2400">
                <a:sym typeface="+mn-ea"/>
              </a:rPr>
              <a:t>Â</a:t>
            </a:r>
            <a:r>
              <a:rPr lang="en-US" altLang="en-GB" sz="2400">
                <a:sym typeface="+mn-ea"/>
              </a:rPr>
              <a:t>N LOẠI &amp; HỢP NHẤT BAYES</a:t>
            </a:r>
            <a:endParaRPr lang="en-US" altLang="en-GB" sz="2400">
              <a:sym typeface="+mn-ea"/>
            </a:endParaRPr>
          </a:p>
        </p:txBody>
      </p:sp>
      <p:pic>
        <p:nvPicPr>
          <p:cNvPr id="3" name="Picture 2"/>
          <p:cNvPicPr/>
          <p:nvPr/>
        </p:nvPicPr>
        <p:blipFill>
          <a:blip r:embed="rId1"/>
          <a:stretch>
            <a:fillRect/>
          </a:stretch>
        </p:blipFill>
        <p:spPr>
          <a:xfrm>
            <a:off x="734695" y="1484630"/>
            <a:ext cx="10706100" cy="44386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TRỢ L</a:t>
            </a:r>
            <a:r>
              <a:rPr lang="" altLang="en-US" sz="2400">
                <a:sym typeface="+mn-ea"/>
              </a:rPr>
              <a:t>Ý</a:t>
            </a:r>
            <a:r>
              <a:rPr lang="en-US" altLang="en-GB" sz="2400">
                <a:sym typeface="+mn-ea"/>
              </a:rPr>
              <a:t> </a:t>
            </a:r>
            <a:r>
              <a:rPr lang="" altLang="en-US" sz="2400">
                <a:sym typeface="+mn-ea"/>
              </a:rPr>
              <a:t>ĐÀ</a:t>
            </a:r>
            <a:r>
              <a:rPr lang="en-US" altLang="en-GB" sz="2400">
                <a:sym typeface="+mn-ea"/>
              </a:rPr>
              <a:t>M THOẠI VQA &amp; RAG</a:t>
            </a:r>
            <a:endParaRPr lang="en-US" altLang="en-GB" sz="2400">
              <a:sym typeface="+mn-ea"/>
            </a:endParaRPr>
          </a:p>
        </p:txBody>
      </p:sp>
      <p:sp>
        <p:nvSpPr>
          <p:cNvPr id="112" name="TextBox 111"/>
          <p:cNvSpPr txBox="1"/>
          <p:nvPr/>
        </p:nvSpPr>
        <p:spPr>
          <a:xfrm>
            <a:off x="119380" y="1429385"/>
            <a:ext cx="12061190" cy="2471420"/>
          </a:xfrm>
          <a:prstGeom prst="rect">
            <a:avLst/>
          </a:prstGeom>
          <a:noFill/>
        </p:spPr>
        <p:txBody>
          <a:bodyPr wrap="square">
            <a:spAutoFit/>
          </a:bodyPr>
          <a:lstStyle/>
          <a:p>
            <a:pPr>
              <a:lnSpc>
                <a:spcPct val="115000"/>
              </a:lnSpc>
              <a:spcAft>
                <a:spcPts val="1000"/>
              </a:spcAft>
            </a:pPr>
            <a:r>
              <a:rPr sz="2000" b="1">
                <a:solidFill>
                  <a:srgbClr val="990000"/>
                </a:solidFill>
                <a:sym typeface="+mn-ea"/>
              </a:rPr>
              <a:t>VQA ngoại tuyến (Offline)</a:t>
            </a:r>
            <a:r>
              <a:rPr sz="2000">
                <a:solidFill>
                  <a:srgbClr val="1E293B"/>
                </a:solidFill>
                <a:sym typeface="+mn-ea"/>
              </a:rPr>
              <a:t>: Tinh chỉnh DistilGPT-2 LoRA (rank 8, chỉ huấn luyện 2.13% tham số) chạy trên CPU, hoặc kết nối Ollama API cục bộ để chạy các LLM 3B/7B lớn hơn.</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RAG y văn ngoại tuyến</a:t>
            </a:r>
            <a:r>
              <a:rPr sz="2000">
                <a:solidFill>
                  <a:srgbClr val="1E293B"/>
                </a:solidFill>
                <a:sym typeface="+mn-ea"/>
              </a:rPr>
              <a:t>: So khớp tài liệu y văn từ ChromaDB bằng khoảng cách Cosine, nhồi hướng dẫn điều trị của Bộ Y tế vào prompt để LLM giải đáp chính xác, tránh ảo giác.</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Rào cản an toàn thuốc</a:t>
            </a:r>
            <a:r>
              <a:rPr sz="2000">
                <a:solidFill>
                  <a:srgbClr val="1E293B"/>
                </a:solidFill>
                <a:sym typeface="+mn-ea"/>
              </a:rPr>
              <a:t>: Medication Guardrails tự động lọc ngăn chặn các câu trả lời tự kê đơn thuốc của AI trực tuyến.</a:t>
            </a:r>
            <a:endParaRPr sz="2000">
              <a:solidFill>
                <a:srgbClr val="1E293B"/>
              </a:solidFill>
              <a:latin typeface="+mn-lt"/>
              <a:cs typeface="+mn-lt"/>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3</a:t>
            </a:r>
            <a:r>
              <a:rPr>
                <a:latin typeface="+mj-lt"/>
                <a:cs typeface="+mj-lt"/>
                <a:sym typeface="+mn-ea"/>
              </a:rPr>
              <a:t>: </a:t>
            </a:r>
            <a:r>
              <a:rPr lang="en-US">
                <a:latin typeface="+mj-lt"/>
                <a:cs typeface="+mj-lt"/>
                <a:sym typeface="+mn-ea"/>
              </a:rPr>
              <a:t>THUẬT TOÁN</a:t>
            </a:r>
            <a:r>
              <a:rPr>
                <a:latin typeface="+mj-lt"/>
                <a:cs typeface="+mj-lt"/>
                <a:sym typeface="+mn-ea"/>
              </a:rPr>
              <a:t> &amp; </a:t>
            </a:r>
            <a:r>
              <a:rPr lang="en-US">
                <a:latin typeface="+mj-lt"/>
                <a:cs typeface="+mj-lt"/>
                <a:sym typeface="+mn-ea"/>
              </a:rPr>
              <a:t>GIẢI THUẬT NÂNG CẤP</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TRỢ L</a:t>
            </a:r>
            <a:r>
              <a:rPr lang="en-US" altLang="en-US" sz="2400">
                <a:sym typeface="+mn-ea"/>
              </a:rPr>
              <a:t>Ý</a:t>
            </a:r>
            <a:r>
              <a:rPr lang="en-US" altLang="en-GB" sz="2400">
                <a:sym typeface="+mn-ea"/>
              </a:rPr>
              <a:t> </a:t>
            </a:r>
            <a:r>
              <a:rPr lang="en-US" altLang="en-US" sz="2400">
                <a:sym typeface="+mn-ea"/>
              </a:rPr>
              <a:t>ĐÀ</a:t>
            </a:r>
            <a:r>
              <a:rPr lang="en-US" altLang="en-GB" sz="2400">
                <a:sym typeface="+mn-ea"/>
              </a:rPr>
              <a:t>M THOẠI VQA &amp; RAG</a:t>
            </a:r>
            <a:endParaRPr lang="en-US" altLang="en-GB" sz="2400">
              <a:sym typeface="+mn-ea"/>
            </a:endParaRPr>
          </a:p>
        </p:txBody>
      </p:sp>
      <p:pic>
        <p:nvPicPr>
          <p:cNvPr id="2" name="Picture 1"/>
          <p:cNvPicPr/>
          <p:nvPr/>
        </p:nvPicPr>
        <p:blipFill>
          <a:blip r:embed="rId1"/>
          <a:stretch>
            <a:fillRect/>
          </a:stretch>
        </p:blipFill>
        <p:spPr>
          <a:xfrm>
            <a:off x="1127760" y="1196340"/>
            <a:ext cx="10158730" cy="5130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NỘI DUNG TRÌNH BÀY</a:t>
            </a:r>
            <a:endParaRPr>
              <a:latin typeface="+mj-lt"/>
              <a:cs typeface="+mj-lt"/>
            </a:endParaRPr>
          </a:p>
        </p:txBody>
      </p:sp>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04" name="TextBox 103"/>
          <p:cNvSpPr txBox="1"/>
          <p:nvPr>
            <p:custDataLst>
              <p:tags r:id="rId2"/>
            </p:custDataLst>
          </p:nvPr>
        </p:nvSpPr>
        <p:spPr>
          <a:xfrm>
            <a:off x="4306570" y="1174750"/>
            <a:ext cx="757110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1: Đặt Vấn Đề &amp; Mục Tiêu</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Tính cấp thiết của chẩn đoán sớm và các mục tiêu nghiên cứu cốt lõi của đề tài.</a:t>
            </a:r>
            <a:endParaRPr sz="1600">
              <a:solidFill>
                <a:srgbClr val="1E293B">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07" name="TextBox 106"/>
          <p:cNvSpPr txBox="1"/>
          <p:nvPr>
            <p:custDataLst>
              <p:tags r:id="rId4"/>
            </p:custDataLst>
          </p:nvPr>
        </p:nvSpPr>
        <p:spPr>
          <a:xfrm>
            <a:off x="4306570" y="2216785"/>
            <a:ext cx="722249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2: Phân Tích &amp; Thiết Kế Hệ Thống</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Thiết kế luồng xử lý song song, bộ lọc Safety Gate và các biểu đồ Use Case.</a:t>
            </a:r>
            <a:endParaRPr sz="1600">
              <a:solidFill>
                <a:srgbClr val="1E293B">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10" name="TextBox 109"/>
          <p:cNvSpPr txBox="1"/>
          <p:nvPr>
            <p:custDataLst>
              <p:tags r:id="rId6"/>
            </p:custDataLst>
          </p:nvPr>
        </p:nvSpPr>
        <p:spPr>
          <a:xfrm>
            <a:off x="4338955" y="3284855"/>
            <a:ext cx="791654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3: Thuật Toán &amp; Giải Thuật Nâng Cấp</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SAM + GrabCut tương tác, OTSU dự phòng, late fusion Bayes và trợ lý VQA RAG.</a:t>
            </a:r>
            <a:endParaRPr sz="1600">
              <a:solidFill>
                <a:srgbClr val="1E293B">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04</a:t>
            </a:r>
            <a:endParaRPr sz="2400"/>
          </a:p>
        </p:txBody>
      </p:sp>
      <p:sp>
        <p:nvSpPr>
          <p:cNvPr id="113" name="TextBox 112"/>
          <p:cNvSpPr txBox="1"/>
          <p:nvPr>
            <p:custDataLst>
              <p:tags r:id="rId8"/>
            </p:custDataLst>
          </p:nvPr>
        </p:nvSpPr>
        <p:spPr>
          <a:xfrm>
            <a:off x="4338955" y="4293235"/>
            <a:ext cx="8150860" cy="744855"/>
          </a:xfrm>
          <a:prstGeom prst="rect">
            <a:avLst/>
          </a:prstGeom>
          <a:noFill/>
        </p:spPr>
        <p:txBody>
          <a:bodyPr wrap="square">
            <a:spAutoFit/>
          </a:bodyPr>
          <a:lstStyle/>
          <a:p>
            <a:pPr>
              <a:defRPr sz="1300" b="1">
                <a:solidFill>
                  <a:srgbClr val="990000"/>
                </a:solidFill>
                <a:latin typeface="Arial" panose="020B0604020202020204"/>
              </a:defRPr>
            </a:pPr>
            <a:r>
              <a:rPr sz="2400"/>
              <a:t>Phần 4: Thiết Kế CSDL &amp; Bảo Mật EHR</a:t>
            </a:r>
            <a:endParaRPr sz="2400"/>
          </a:p>
          <a:p>
            <a:pPr>
              <a:spcBef>
                <a:spcPts val="300"/>
              </a:spcBef>
              <a:defRPr sz="1000">
                <a:solidFill>
                  <a:srgbClr val="1E293B"/>
                </a:solidFill>
                <a:latin typeface="Arial" panose="020B0604020202020204"/>
              </a:defRPr>
            </a:pPr>
            <a:r>
              <a:rPr sz="1600"/>
              <a:t>Cấu trúc Firestore phân cấp, mã hóa XOR-Base64 tuân thủ HIPAA và tối ưu đa luồng.</a:t>
            </a:r>
            <a:endParaRPr sz="1600"/>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7" name="TextBox 115"/>
          <p:cNvSpPr txBox="1"/>
          <p:nvPr>
            <p:custDataLst>
              <p:tags r:id="rId10"/>
            </p:custDataLst>
          </p:nvPr>
        </p:nvSpPr>
        <p:spPr>
          <a:xfrm>
            <a:off x="4306570" y="5373370"/>
            <a:ext cx="700722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5: Kết Kết Quả Thử Nghiệm &amp; Kết Luận</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Đánh giá độ chính xác, thời gian trễ và đóng góp thực tế.</a:t>
            </a:r>
            <a:endParaRPr sz="1600">
              <a:solidFill>
                <a:srgbClr val="1E293B">
                  <a:alpha val="20000"/>
                </a:srgb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4</a:t>
            </a:r>
            <a:r>
              <a:rPr>
                <a:latin typeface="+mj-lt"/>
                <a:cs typeface="+mj-lt"/>
                <a:sym typeface="+mn-ea"/>
              </a:rPr>
              <a:t>: </a:t>
            </a:r>
            <a:r>
              <a:rPr lang="en-US">
                <a:latin typeface="+mj-lt"/>
                <a:cs typeface="+mj-lt"/>
                <a:sym typeface="+mn-ea"/>
              </a:rPr>
              <a:t>THIẾT KẾ CSDL</a:t>
            </a:r>
            <a:r>
              <a:rPr>
                <a:latin typeface="+mj-lt"/>
                <a:cs typeface="+mj-lt"/>
                <a:sym typeface="+mn-ea"/>
              </a:rPr>
              <a:t> &amp; </a:t>
            </a:r>
            <a:r>
              <a:rPr lang="en-US">
                <a:latin typeface="+mj-lt"/>
                <a:cs typeface="+mj-lt"/>
                <a:sym typeface="+mn-ea"/>
              </a:rPr>
              <a:t>BẢO MẬT EHR</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THIẾT KẾ C</a:t>
            </a:r>
            <a:r>
              <a:rPr lang="" altLang="en-US" sz="2400">
                <a:sym typeface="+mn-ea"/>
              </a:rPr>
              <a:t>Ơ</a:t>
            </a:r>
            <a:r>
              <a:rPr lang="en-US" altLang="en-GB" sz="2400">
                <a:sym typeface="+mn-ea"/>
              </a:rPr>
              <a:t> SỞ DỮ LIỆU EHR BỆNH </a:t>
            </a:r>
            <a:r>
              <a:rPr lang="" altLang="en-US" sz="2400">
                <a:sym typeface="+mn-ea"/>
              </a:rPr>
              <a:t>Á</a:t>
            </a:r>
            <a:r>
              <a:rPr lang="en-US" altLang="en-GB" sz="2400">
                <a:sym typeface="+mn-ea"/>
              </a:rPr>
              <a:t>N</a:t>
            </a:r>
            <a:endParaRPr lang="en-US" altLang="en-GB" sz="2400">
              <a:sym typeface="+mn-ea"/>
            </a:endParaRPr>
          </a:p>
        </p:txBody>
      </p:sp>
      <p:sp>
        <p:nvSpPr>
          <p:cNvPr id="112" name="TextBox 111"/>
          <p:cNvSpPr txBox="1"/>
          <p:nvPr/>
        </p:nvSpPr>
        <p:spPr>
          <a:xfrm>
            <a:off x="119380" y="1429385"/>
            <a:ext cx="12061190" cy="2117090"/>
          </a:xfrm>
          <a:prstGeom prst="rect">
            <a:avLst/>
          </a:prstGeom>
          <a:noFill/>
        </p:spPr>
        <p:txBody>
          <a:bodyPr wrap="square">
            <a:spAutoFit/>
          </a:bodyPr>
          <a:lstStyle/>
          <a:p>
            <a:pPr>
              <a:lnSpc>
                <a:spcPct val="115000"/>
              </a:lnSpc>
              <a:spcAft>
                <a:spcPts val="1000"/>
              </a:spcAft>
            </a:pPr>
            <a:r>
              <a:rPr sz="2000" b="1">
                <a:solidFill>
                  <a:srgbClr val="990000"/>
                </a:solidFill>
                <a:sym typeface="+mn-ea"/>
              </a:rPr>
              <a:t>CSDL Firestore phân cấp</a:t>
            </a:r>
            <a:r>
              <a:rPr sz="2000">
                <a:solidFill>
                  <a:srgbClr val="1E293B"/>
                </a:solidFill>
                <a:sym typeface="+mn-ea"/>
              </a:rPr>
              <a:t>: Phân tách dữ liệu thành 3 collection chính: `users`, `patients` và `records` giúp quản lý dễ dàng.</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Hồ sơ EHR chi tiết</a:t>
            </a:r>
            <a:r>
              <a:rPr sz="2000">
                <a:solidFill>
                  <a:srgbClr val="1E293B"/>
                </a:solidFill>
                <a:sym typeface="+mn-ea"/>
              </a:rPr>
              <a:t>: Lưu trữ toàn bộ ảnh gốc, mặt nạ, Grad-CAM, kết quả ABCD và nhật ký hỏi đáp VQA.</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Dòng thời gian lâm sàng</a:t>
            </a:r>
            <a:r>
              <a:rPr sz="2000">
                <a:solidFill>
                  <a:srgbClr val="1E293B"/>
                </a:solidFill>
                <a:sym typeface="+mn-ea"/>
              </a:rPr>
              <a:t>: Theo dõi trực quan tiến triển kích thước tổn thương qua nhiều mốc thời gian khám bệnh, giúp bác sĩ đánh giá hiệu quả điều trị.</a:t>
            </a:r>
            <a:endParaRPr sz="2000">
              <a:solidFill>
                <a:srgbClr val="1E293B"/>
              </a:solidFill>
              <a:latin typeface="+mn-lt"/>
              <a:cs typeface="+mn-lt"/>
              <a:sym typeface="+mn-ea"/>
            </a:endParaRPr>
          </a:p>
        </p:txBody>
      </p:sp>
      <p:pic>
        <p:nvPicPr>
          <p:cNvPr id="3" name="Picture 2"/>
          <p:cNvPicPr/>
          <p:nvPr/>
        </p:nvPicPr>
        <p:blipFill>
          <a:blip r:embed="rId1"/>
          <a:stretch>
            <a:fillRect/>
          </a:stretch>
        </p:blipFill>
        <p:spPr>
          <a:xfrm>
            <a:off x="1869440" y="3429000"/>
            <a:ext cx="9270365" cy="29578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4</a:t>
            </a:r>
            <a:r>
              <a:rPr>
                <a:latin typeface="+mj-lt"/>
                <a:cs typeface="+mj-lt"/>
                <a:sym typeface="+mn-ea"/>
              </a:rPr>
              <a:t>: </a:t>
            </a:r>
            <a:r>
              <a:rPr lang="en-US">
                <a:latin typeface="+mj-lt"/>
                <a:cs typeface="+mj-lt"/>
                <a:sym typeface="+mn-ea"/>
              </a:rPr>
              <a:t>THIẾT KẾ CSDL</a:t>
            </a:r>
            <a:r>
              <a:rPr>
                <a:latin typeface="+mj-lt"/>
                <a:cs typeface="+mj-lt"/>
                <a:sym typeface="+mn-ea"/>
              </a:rPr>
              <a:t> &amp; </a:t>
            </a:r>
            <a:r>
              <a:rPr lang="en-US">
                <a:latin typeface="+mj-lt"/>
                <a:cs typeface="+mj-lt"/>
                <a:sym typeface="+mn-ea"/>
              </a:rPr>
              <a:t>BẢO MẬT EHR</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BẢO MẬT EHR &amp; TỐI </a:t>
            </a:r>
            <a:r>
              <a:rPr lang="" altLang="en-US" sz="2400">
                <a:sym typeface="+mn-ea"/>
              </a:rPr>
              <a:t>Ư</a:t>
            </a:r>
            <a:r>
              <a:rPr lang="en-US" altLang="en-GB" sz="2400">
                <a:sym typeface="+mn-ea"/>
              </a:rPr>
              <a:t>U H</a:t>
            </a:r>
            <a:r>
              <a:rPr lang="" altLang="en-US" sz="2400">
                <a:sym typeface="+mn-ea"/>
              </a:rPr>
              <a:t>Ó</a:t>
            </a:r>
            <a:r>
              <a:rPr lang="en-US" altLang="en-GB" sz="2400">
                <a:sym typeface="+mn-ea"/>
              </a:rPr>
              <a:t>A L</a:t>
            </a:r>
            <a:r>
              <a:rPr lang="" altLang="en-US" sz="2400">
                <a:sym typeface="+mn-ea"/>
              </a:rPr>
              <a:t>Ư</a:t>
            </a:r>
            <a:r>
              <a:rPr lang="en-US" altLang="en-GB" sz="2400">
                <a:sym typeface="+mn-ea"/>
              </a:rPr>
              <a:t>U TRỮ</a:t>
            </a:r>
            <a:endParaRPr lang="en-US" altLang="en-GB" sz="2400">
              <a:sym typeface="+mn-ea"/>
            </a:endParaRPr>
          </a:p>
        </p:txBody>
      </p:sp>
      <p:sp>
        <p:nvSpPr>
          <p:cNvPr id="112" name="TextBox 111"/>
          <p:cNvSpPr txBox="1"/>
          <p:nvPr/>
        </p:nvSpPr>
        <p:spPr>
          <a:xfrm>
            <a:off x="226695" y="1429385"/>
            <a:ext cx="11595735" cy="2471420"/>
          </a:xfrm>
          <a:prstGeom prst="rect">
            <a:avLst/>
          </a:prstGeom>
          <a:noFill/>
        </p:spPr>
        <p:txBody>
          <a:bodyPr wrap="square">
            <a:spAutoFit/>
          </a:bodyPr>
          <a:lstStyle/>
          <a:p>
            <a:pPr>
              <a:lnSpc>
                <a:spcPct val="115000"/>
              </a:lnSpc>
              <a:spcAft>
                <a:spcPts val="1000"/>
              </a:spcAft>
            </a:pPr>
            <a:r>
              <a:rPr sz="2000" b="1">
                <a:solidFill>
                  <a:srgbClr val="990000"/>
                </a:solidFill>
                <a:sym typeface="+mn-ea"/>
              </a:rPr>
              <a:t>Ẩn danh &amp; Mã hóa bệnh án</a:t>
            </a:r>
            <a:r>
              <a:rPr sz="2000">
                <a:solidFill>
                  <a:srgbClr val="1E293B"/>
                </a:solidFill>
                <a:sym typeface="+mn-ea"/>
              </a:rPr>
              <a:t>: Băm SHA-256 CCCD/Tên làm Document ID, và mã hóa đối xứng XOR + Base64 toàn bộ thông tin nhạy cảm của bệnh nhân trước khi lưu Firestore để tuân thủ HIPAA.</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ThreadPool song song hóa</a:t>
            </a:r>
            <a:r>
              <a:rPr sz="2000">
                <a:solidFill>
                  <a:srgbClr val="1E293B"/>
                </a:solidFill>
                <a:sym typeface="+mn-ea"/>
              </a:rPr>
              <a:t>: Tải đồng thời 3 ảnh lên cloud (gốc, mặt nạ, Grad-CAM) bằng `ThreadPoolExecutor` thay vì tuần tự.</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Giảm thiểu độ trễ UI</a:t>
            </a:r>
            <a:r>
              <a:rPr sz="2000">
                <a:solidFill>
                  <a:srgbClr val="1E293B"/>
                </a:solidFill>
                <a:sym typeface="+mn-ea"/>
              </a:rPr>
              <a:t>: Rút ngắn thời gian khóa giao diện chính (freeze latency) của Streamlit từ 5 giây xuống chỉ còn </a:t>
            </a:r>
            <a:r>
              <a:rPr sz="2000" b="1">
                <a:solidFill>
                  <a:srgbClr val="990000"/>
                </a:solidFill>
                <a:sym typeface="+mn-ea"/>
              </a:rPr>
              <a:t>1.5 giây</a:t>
            </a:r>
            <a:r>
              <a:rPr sz="2000">
                <a:solidFill>
                  <a:srgbClr val="1E293B"/>
                </a:solidFill>
                <a:sym typeface="+mn-ea"/>
              </a:rPr>
              <a:t>.</a:t>
            </a:r>
            <a:endParaRPr sz="2000">
              <a:solidFill>
                <a:srgbClr val="1E293B"/>
              </a:solidFill>
              <a:latin typeface="+mn-lt"/>
              <a:cs typeface="+mn-lt"/>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4</a:t>
            </a:r>
            <a:r>
              <a:rPr>
                <a:latin typeface="+mj-lt"/>
                <a:cs typeface="+mj-lt"/>
                <a:sym typeface="+mn-ea"/>
              </a:rPr>
              <a:t>: </a:t>
            </a:r>
            <a:r>
              <a:rPr lang="en-US">
                <a:latin typeface="+mj-lt"/>
                <a:cs typeface="+mj-lt"/>
                <a:sym typeface="+mn-ea"/>
              </a:rPr>
              <a:t>THIẾT KẾ CSDL</a:t>
            </a:r>
            <a:r>
              <a:rPr>
                <a:latin typeface="+mj-lt"/>
                <a:cs typeface="+mj-lt"/>
                <a:sym typeface="+mn-ea"/>
              </a:rPr>
              <a:t> &amp; </a:t>
            </a:r>
            <a:r>
              <a:rPr lang="en-US">
                <a:latin typeface="+mj-lt"/>
                <a:cs typeface="+mj-lt"/>
                <a:sym typeface="+mn-ea"/>
              </a:rPr>
              <a:t>BẢO MẬT EHR</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BẢO MẬT EHR &amp; TỐI </a:t>
            </a:r>
            <a:r>
              <a:rPr lang="en-US" altLang="en-US" sz="2400">
                <a:sym typeface="+mn-ea"/>
              </a:rPr>
              <a:t>Ư</a:t>
            </a:r>
            <a:r>
              <a:rPr lang="en-US" altLang="en-GB" sz="2400">
                <a:sym typeface="+mn-ea"/>
              </a:rPr>
              <a:t>U H</a:t>
            </a:r>
            <a:r>
              <a:rPr lang="en-US" altLang="en-US" sz="2400">
                <a:sym typeface="+mn-ea"/>
              </a:rPr>
              <a:t>Ó</a:t>
            </a:r>
            <a:r>
              <a:rPr lang="en-US" altLang="en-GB" sz="2400">
                <a:sym typeface="+mn-ea"/>
              </a:rPr>
              <a:t>A L</a:t>
            </a:r>
            <a:r>
              <a:rPr lang="en-US" altLang="en-US" sz="2400">
                <a:sym typeface="+mn-ea"/>
              </a:rPr>
              <a:t>Ư</a:t>
            </a:r>
            <a:r>
              <a:rPr lang="en-US" altLang="en-GB" sz="2400">
                <a:sym typeface="+mn-ea"/>
              </a:rPr>
              <a:t>U TRỮ</a:t>
            </a:r>
            <a:endParaRPr lang="en-US" altLang="en-GB" sz="2400">
              <a:sym typeface="+mn-ea"/>
            </a:endParaRPr>
          </a:p>
        </p:txBody>
      </p:sp>
      <p:pic>
        <p:nvPicPr>
          <p:cNvPr id="3" name="Picture 2"/>
          <p:cNvPicPr/>
          <p:nvPr/>
        </p:nvPicPr>
        <p:blipFill>
          <a:blip r:embed="rId1"/>
          <a:stretch>
            <a:fillRect/>
          </a:stretch>
        </p:blipFill>
        <p:spPr>
          <a:xfrm>
            <a:off x="479425" y="1381760"/>
            <a:ext cx="10867390" cy="47847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NỘI DUNG TRÌNH BÀY</a:t>
            </a:r>
            <a:endParaRPr>
              <a:latin typeface="+mj-lt"/>
              <a:cs typeface="+mj-lt"/>
            </a:endParaRPr>
          </a:p>
        </p:txBody>
      </p:sp>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04" name="TextBox 103"/>
          <p:cNvSpPr txBox="1"/>
          <p:nvPr>
            <p:custDataLst>
              <p:tags r:id="rId2"/>
            </p:custDataLst>
          </p:nvPr>
        </p:nvSpPr>
        <p:spPr>
          <a:xfrm>
            <a:off x="4306570" y="1174750"/>
            <a:ext cx="757110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1: Đặt Vấn Đề &amp; Mục Tiêu</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Tính cấp thiết của chẩn đoán sớm và các mục tiêu nghiên cứu cốt lõi của đề tài.</a:t>
            </a:r>
            <a:endParaRPr sz="1600">
              <a:solidFill>
                <a:srgbClr val="1E293B">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07" name="TextBox 106"/>
          <p:cNvSpPr txBox="1"/>
          <p:nvPr>
            <p:custDataLst>
              <p:tags r:id="rId4"/>
            </p:custDataLst>
          </p:nvPr>
        </p:nvSpPr>
        <p:spPr>
          <a:xfrm>
            <a:off x="4306570" y="2216785"/>
            <a:ext cx="722249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2: Phân Tích &amp; Thiết Kế Hệ Thống</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Thiết kế luồng xử lý song song, bộ lọc Safety Gate và các biểu đồ Use Case.</a:t>
            </a:r>
            <a:endParaRPr sz="1600">
              <a:solidFill>
                <a:srgbClr val="1E293B">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10" name="TextBox 109"/>
          <p:cNvSpPr txBox="1"/>
          <p:nvPr>
            <p:custDataLst>
              <p:tags r:id="rId6"/>
            </p:custDataLst>
          </p:nvPr>
        </p:nvSpPr>
        <p:spPr>
          <a:xfrm>
            <a:off x="4338955" y="3284855"/>
            <a:ext cx="7916545"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3: Thuật Toán &amp; Giải Thuật Nâng Cấp</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SAM + GrabCut tương tác, OTSU dự phòng, late fusion Bayes và trợ lý VQA RAG.</a:t>
            </a:r>
            <a:endParaRPr sz="1600">
              <a:solidFill>
                <a:srgbClr val="1E293B">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3" name="TextBox 112"/>
          <p:cNvSpPr txBox="1"/>
          <p:nvPr>
            <p:custDataLst>
              <p:tags r:id="rId8"/>
            </p:custDataLst>
          </p:nvPr>
        </p:nvSpPr>
        <p:spPr>
          <a:xfrm>
            <a:off x="4338955" y="4293235"/>
            <a:ext cx="8150860" cy="744855"/>
          </a:xfrm>
          <a:prstGeom prst="rect">
            <a:avLst/>
          </a:prstGeom>
          <a:noFill/>
        </p:spPr>
        <p:txBody>
          <a:bodyPr wrap="square">
            <a:spAutoFit/>
          </a:bodyPr>
          <a:lstStyle/>
          <a:p>
            <a:pPr>
              <a:defRPr sz="1300" b="1">
                <a:solidFill>
                  <a:srgbClr val="990000"/>
                </a:solidFill>
                <a:latin typeface="Arial" panose="020B0604020202020204"/>
              </a:defRPr>
            </a:pPr>
            <a:r>
              <a:rPr sz="2400">
                <a:solidFill>
                  <a:srgbClr val="990000">
                    <a:alpha val="20000"/>
                  </a:srgbClr>
                </a:solidFill>
              </a:rPr>
              <a:t>Phần 4: Thiết Kế CSDL &amp; Bảo Mật EHR</a:t>
            </a:r>
            <a:endParaRPr sz="2400">
              <a:solidFill>
                <a:srgbClr val="990000">
                  <a:alpha val="20000"/>
                </a:srgbClr>
              </a:solidFill>
            </a:endParaRPr>
          </a:p>
          <a:p>
            <a:pPr>
              <a:spcBef>
                <a:spcPts val="300"/>
              </a:spcBef>
              <a:defRPr sz="1000">
                <a:solidFill>
                  <a:srgbClr val="1E293B"/>
                </a:solidFill>
                <a:latin typeface="Arial" panose="020B0604020202020204"/>
              </a:defRPr>
            </a:pPr>
            <a:r>
              <a:rPr sz="1600">
                <a:solidFill>
                  <a:srgbClr val="1E293B">
                    <a:alpha val="20000"/>
                  </a:srgbClr>
                </a:solidFill>
              </a:rPr>
              <a:t>Cấu trúc Firestore phân cấp, mã hóa XOR-Base64 tuân thủ HIPAA và tối ưu đa luồng.</a:t>
            </a:r>
            <a:endParaRPr sz="1600">
              <a:solidFill>
                <a:srgbClr val="1E293B">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05</a:t>
            </a:r>
            <a:endParaRPr sz="2400"/>
          </a:p>
        </p:txBody>
      </p:sp>
      <p:sp>
        <p:nvSpPr>
          <p:cNvPr id="17" name="TextBox 115"/>
          <p:cNvSpPr txBox="1"/>
          <p:nvPr>
            <p:custDataLst>
              <p:tags r:id="rId10"/>
            </p:custDataLst>
          </p:nvPr>
        </p:nvSpPr>
        <p:spPr>
          <a:xfrm>
            <a:off x="4306570" y="5373370"/>
            <a:ext cx="7007225" cy="744855"/>
          </a:xfrm>
          <a:prstGeom prst="rect">
            <a:avLst/>
          </a:prstGeom>
          <a:noFill/>
        </p:spPr>
        <p:txBody>
          <a:bodyPr wrap="square">
            <a:spAutoFit/>
          </a:bodyPr>
          <a:lstStyle/>
          <a:p>
            <a:pPr>
              <a:defRPr sz="1300" b="1">
                <a:solidFill>
                  <a:srgbClr val="990000"/>
                </a:solidFill>
                <a:latin typeface="Arial" panose="020B0604020202020204"/>
              </a:defRPr>
            </a:pPr>
            <a:r>
              <a:rPr sz="2400"/>
              <a:t>Phần 5:</a:t>
            </a:r>
            <a:r>
              <a:rPr lang="en-US" sz="2400"/>
              <a:t> </a:t>
            </a:r>
            <a:r>
              <a:rPr sz="2400"/>
              <a:t>Kết Quả Thử Nghiệm &amp; Kết Luận</a:t>
            </a:r>
            <a:endParaRPr sz="2400"/>
          </a:p>
          <a:p>
            <a:pPr>
              <a:spcBef>
                <a:spcPts val="300"/>
              </a:spcBef>
              <a:defRPr sz="1000">
                <a:solidFill>
                  <a:srgbClr val="1E293B"/>
                </a:solidFill>
                <a:latin typeface="Arial" panose="020B0604020202020204"/>
              </a:defRPr>
            </a:pPr>
            <a:r>
              <a:rPr sz="1600"/>
              <a:t>Đánh giá độ chính xác, thời gian trễ và đóng góp thực tế.</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5</a:t>
            </a:r>
            <a:r>
              <a:rPr>
                <a:latin typeface="+mj-lt"/>
                <a:cs typeface="+mj-lt"/>
                <a:sym typeface="+mn-ea"/>
              </a:rPr>
              <a:t>: </a:t>
            </a:r>
            <a:r>
              <a:rPr lang="en-US">
                <a:latin typeface="+mj-lt"/>
                <a:cs typeface="+mj-lt"/>
                <a:sym typeface="+mn-ea"/>
              </a:rPr>
              <a:t>KẾT QUẢ THỬ NGHIỆM</a:t>
            </a:r>
            <a:r>
              <a:rPr>
                <a:latin typeface="+mj-lt"/>
                <a:cs typeface="+mj-lt"/>
                <a:sym typeface="+mn-ea"/>
              </a:rPr>
              <a:t> &amp; </a:t>
            </a:r>
            <a:r>
              <a:rPr lang="en-US">
                <a:latin typeface="+mj-lt"/>
                <a:cs typeface="+mj-lt"/>
                <a:sym typeface="+mn-ea"/>
              </a:rPr>
              <a:t>KẾT LUẬN</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KIẾN TR</a:t>
            </a:r>
            <a:r>
              <a:rPr lang="" altLang="en-US" sz="2400">
                <a:sym typeface="+mn-ea"/>
              </a:rPr>
              <a:t>Ú</a:t>
            </a:r>
            <a:r>
              <a:rPr lang="en-US" altLang="en-GB" sz="2400">
                <a:sym typeface="+mn-ea"/>
              </a:rPr>
              <a:t>C PHẦN MỀM &amp; BIỂU </a:t>
            </a:r>
            <a:r>
              <a:rPr lang="" altLang="en-US" sz="2400">
                <a:sym typeface="+mn-ea"/>
              </a:rPr>
              <a:t>Đ</a:t>
            </a:r>
            <a:r>
              <a:rPr lang="en-US" altLang="en-GB" sz="2400">
                <a:sym typeface="+mn-ea"/>
              </a:rPr>
              <a:t>Ồ LỚP</a:t>
            </a:r>
            <a:endParaRPr lang="en-US" altLang="en-GB" sz="2400">
              <a:sym typeface="+mn-ea"/>
            </a:endParaRPr>
          </a:p>
        </p:txBody>
      </p:sp>
      <p:sp>
        <p:nvSpPr>
          <p:cNvPr id="112" name="TextBox 111"/>
          <p:cNvSpPr txBox="1"/>
          <p:nvPr/>
        </p:nvSpPr>
        <p:spPr>
          <a:xfrm>
            <a:off x="226695" y="1429385"/>
            <a:ext cx="6341110" cy="3887470"/>
          </a:xfrm>
          <a:prstGeom prst="rect">
            <a:avLst/>
          </a:prstGeom>
          <a:noFill/>
        </p:spPr>
        <p:txBody>
          <a:bodyPr wrap="square">
            <a:spAutoFit/>
          </a:bodyPr>
          <a:lstStyle/>
          <a:p>
            <a:pPr>
              <a:lnSpc>
                <a:spcPct val="115000"/>
              </a:lnSpc>
              <a:spcAft>
                <a:spcPts val="1000"/>
              </a:spcAft>
            </a:pPr>
            <a:r>
              <a:rPr sz="2000" b="1">
                <a:solidFill>
                  <a:srgbClr val="990000"/>
                </a:solidFill>
                <a:sym typeface="+mn-ea"/>
              </a:rPr>
              <a:t>Thiết kế hướng đối tượng (OOP)</a:t>
            </a:r>
            <a:r>
              <a:rPr sz="2000">
                <a:solidFill>
                  <a:srgbClr val="1E293B"/>
                </a:solidFill>
                <a:sym typeface="+mn-ea"/>
              </a:rPr>
              <a:t>: Phân rã hệ thống thành các module nghiệp vụ tách biệt, độc lập và dễ bảo trì.</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Lớp điều phối trung tâm</a:t>
            </a:r>
            <a:r>
              <a:rPr sz="2000">
                <a:solidFill>
                  <a:srgbClr val="1E293B"/>
                </a:solidFill>
                <a:sym typeface="+mn-ea"/>
              </a:rPr>
              <a:t>: `UnifiedDermatologyPipeline` đóng vai trò Controller quản lý luồng dữ liệu chẩn đoán.</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Các lớp dịch vụ</a:t>
            </a:r>
            <a:r>
              <a:rPr sz="2000">
                <a:solidFill>
                  <a:srgbClr val="1E293B"/>
                </a:solidFill>
                <a:sym typeface="+mn-ea"/>
              </a:rPr>
              <a:t>: `SafetyGate` (kiểm tra chất lượng), `InteractiveSAM` (phân đoạn), `MultimodalBayesianFusion` (late fusion), và `EHRManager` (mã hóa &amp; lưu trữ).</a:t>
            </a:r>
            <a:endParaRPr sz="2000">
              <a:solidFill>
                <a:srgbClr val="1E293B"/>
              </a:solidFill>
              <a:latin typeface="+mn-lt"/>
              <a:cs typeface="+mn-lt"/>
              <a:sym typeface="+mn-ea"/>
            </a:endParaRPr>
          </a:p>
        </p:txBody>
      </p:sp>
      <p:pic>
        <p:nvPicPr>
          <p:cNvPr id="4" name="Picture 3" descr="software_class_diagram_1783445215248.png"/>
          <p:cNvPicPr>
            <a:picLocks noChangeAspect="1"/>
          </p:cNvPicPr>
          <p:nvPr/>
        </p:nvPicPr>
        <p:blipFill>
          <a:blip r:embed="rId1"/>
          <a:srcRect l="2779" t="5889" r="1898" b="4212"/>
          <a:stretch>
            <a:fillRect/>
          </a:stretch>
        </p:blipFill>
        <p:spPr>
          <a:xfrm>
            <a:off x="6567805" y="1196340"/>
            <a:ext cx="5480685" cy="51689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5</a:t>
            </a:r>
            <a:r>
              <a:rPr>
                <a:latin typeface="+mj-lt"/>
                <a:cs typeface="+mj-lt"/>
                <a:sym typeface="+mn-ea"/>
              </a:rPr>
              <a:t>: </a:t>
            </a:r>
            <a:r>
              <a:rPr lang="en-US">
                <a:latin typeface="+mj-lt"/>
                <a:cs typeface="+mj-lt"/>
                <a:sym typeface="+mn-ea"/>
              </a:rPr>
              <a:t>KẾT QUẢ THỬ NGHIỆM</a:t>
            </a:r>
            <a:r>
              <a:rPr>
                <a:latin typeface="+mj-lt"/>
                <a:cs typeface="+mj-lt"/>
                <a:sym typeface="+mn-ea"/>
              </a:rPr>
              <a:t> &amp; </a:t>
            </a:r>
            <a:r>
              <a:rPr lang="en-US">
                <a:latin typeface="+mj-lt"/>
                <a:cs typeface="+mj-lt"/>
                <a:sym typeface="+mn-ea"/>
              </a:rPr>
              <a:t>KẾT LUẬN</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KỊCH BẢN THỬ NGHIỆM &amp; KẾT QUẢ</a:t>
            </a:r>
            <a:endParaRPr lang="en-US" altLang="en-GB" sz="2400">
              <a:sym typeface="+mn-ea"/>
            </a:endParaRPr>
          </a:p>
        </p:txBody>
      </p:sp>
      <p:sp>
        <p:nvSpPr>
          <p:cNvPr id="112" name="TextBox 111"/>
          <p:cNvSpPr txBox="1"/>
          <p:nvPr/>
        </p:nvSpPr>
        <p:spPr>
          <a:xfrm>
            <a:off x="226695" y="1429385"/>
            <a:ext cx="6049010" cy="3533140"/>
          </a:xfrm>
          <a:prstGeom prst="rect">
            <a:avLst/>
          </a:prstGeom>
          <a:noFill/>
        </p:spPr>
        <p:txBody>
          <a:bodyPr wrap="square">
            <a:spAutoFit/>
          </a:bodyPr>
          <a:lstStyle/>
          <a:p>
            <a:pPr>
              <a:lnSpc>
                <a:spcPct val="115000"/>
              </a:lnSpc>
              <a:spcAft>
                <a:spcPts val="1000"/>
              </a:spcAft>
            </a:pPr>
            <a:r>
              <a:rPr sz="2000" b="1">
                <a:solidFill>
                  <a:srgbClr val="990000"/>
                </a:solidFill>
                <a:sym typeface="+mn-ea"/>
              </a:rPr>
              <a:t>Triển khai &amp; Kiểm thử</a:t>
            </a:r>
            <a:r>
              <a:rPr sz="2000">
                <a:solidFill>
                  <a:srgbClr val="1E293B"/>
                </a:solidFill>
                <a:sym typeface="+mn-ea"/>
              </a:rPr>
              <a:t>: Đánh giá độ chính xác chẩn đoán toàn luồng đạt </a:t>
            </a:r>
            <a:r>
              <a:rPr sz="2000" b="1">
                <a:solidFill>
                  <a:srgbClr val="990000"/>
                </a:solidFill>
                <a:sym typeface="+mn-ea"/>
              </a:rPr>
              <a:t>95.01%</a:t>
            </a:r>
            <a:r>
              <a:rPr sz="2000">
                <a:solidFill>
                  <a:srgbClr val="1E293B"/>
                </a:solidFill>
                <a:sym typeface="+mn-ea"/>
              </a:rPr>
              <a:t>, độ trễ suy luận trung bình </a:t>
            </a:r>
            <a:r>
              <a:rPr sz="2000" b="1">
                <a:solidFill>
                  <a:srgbClr val="990000"/>
                </a:solidFill>
                <a:sym typeface="+mn-ea"/>
              </a:rPr>
              <a:t>232.27 ms</a:t>
            </a:r>
            <a:r>
              <a:rPr sz="2000">
                <a:solidFill>
                  <a:srgbClr val="1E293B"/>
                </a:solidFill>
                <a:sym typeface="+mn-ea"/>
              </a:rPr>
              <a:t> đầu cuối.</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Kịch bản y khoa đặc thù</a:t>
            </a:r>
            <a:r>
              <a:rPr sz="2000">
                <a:solidFill>
                  <a:srgbClr val="1E293B"/>
                </a:solidFill>
                <a:sym typeface="+mn-ea"/>
              </a:rPr>
              <a:t>: Kiểm thử thành công kịch bản ảnh phơi sáng kém, ảnh chứa nhiễu</a:t>
            </a:r>
            <a:r>
              <a:rPr lang="en-US" sz="2000">
                <a:solidFill>
                  <a:srgbClr val="1E293B"/>
                </a:solidFill>
                <a:sym typeface="+mn-ea"/>
              </a:rPr>
              <a:t> </a:t>
            </a:r>
            <a:r>
              <a:rPr sz="2000">
                <a:solidFill>
                  <a:srgbClr val="1E293B"/>
                </a:solidFill>
                <a:sym typeface="+mn-ea"/>
              </a:rPr>
              <a:t>và bác sĩ vẽ tay mồi bị lỗi.</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Ablation Study</a:t>
            </a:r>
            <a:r>
              <a:rPr sz="2000">
                <a:solidFill>
                  <a:srgbClr val="1E293B"/>
                </a:solidFill>
                <a:sym typeface="+mn-ea"/>
              </a:rPr>
              <a:t>: Việc trích xuất vùng tổn thương cắt ROI bằng mặt nạ giúp tăng độ chính xác phân loại thêm </a:t>
            </a:r>
            <a:r>
              <a:rPr sz="2000" b="1">
                <a:solidFill>
                  <a:srgbClr val="990000"/>
                </a:solidFill>
                <a:sym typeface="+mn-ea"/>
              </a:rPr>
              <a:t>7%</a:t>
            </a:r>
            <a:r>
              <a:rPr sz="2000">
                <a:solidFill>
                  <a:srgbClr val="1E293B"/>
                </a:solidFill>
                <a:sym typeface="+mn-ea"/>
              </a:rPr>
              <a:t> so với ảnh thô.</a:t>
            </a:r>
            <a:endParaRPr sz="2000">
              <a:solidFill>
                <a:srgbClr val="1E293B"/>
              </a:solidFill>
              <a:latin typeface="+mn-lt"/>
              <a:cs typeface="+mn-lt"/>
              <a:sym typeface="+mn-ea"/>
            </a:endParaRPr>
          </a:p>
        </p:txBody>
      </p:sp>
      <p:pic>
        <p:nvPicPr>
          <p:cNvPr id="2" name="Picture 1" descr="inference_breakdown.png"/>
          <p:cNvPicPr>
            <a:picLocks noChangeAspect="1"/>
          </p:cNvPicPr>
          <p:nvPr/>
        </p:nvPicPr>
        <p:blipFill>
          <a:blip r:embed="rId1"/>
          <a:stretch>
            <a:fillRect/>
          </a:stretch>
        </p:blipFill>
        <p:spPr>
          <a:xfrm>
            <a:off x="6312535" y="1381760"/>
            <a:ext cx="5805805" cy="37738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6"/>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KẾT LUẬN &amp; Đ</a:t>
            </a:r>
            <a:r>
              <a:rPr lang="en-US">
                <a:latin typeface="+mj-lt"/>
                <a:cs typeface="+mj-lt"/>
                <a:sym typeface="+mn-ea"/>
              </a:rPr>
              <a:t>Ó</a:t>
            </a:r>
            <a:r>
              <a:rPr>
                <a:latin typeface="+mj-lt"/>
                <a:cs typeface="+mj-lt"/>
                <a:sym typeface="+mn-ea"/>
              </a:rPr>
              <a:t>NG GÓP XÃ HỘI</a:t>
            </a:r>
            <a:endParaRPr>
              <a:latin typeface="+mj-lt"/>
              <a:cs typeface="+mj-lt"/>
            </a:endParaRPr>
          </a:p>
        </p:txBody>
      </p:sp>
      <p:sp>
        <p:nvSpPr>
          <p:cNvPr id="117" name="Google Shape;117;p6"/>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 name="TextBox 2"/>
          <p:cNvSpPr txBox="1"/>
          <p:nvPr/>
        </p:nvSpPr>
        <p:spPr>
          <a:xfrm>
            <a:off x="47625" y="1052830"/>
            <a:ext cx="12220575" cy="2471420"/>
          </a:xfrm>
          <a:prstGeom prst="rect">
            <a:avLst/>
          </a:prstGeom>
          <a:noFill/>
        </p:spPr>
        <p:txBody>
          <a:bodyPr wrap="square">
            <a:spAutoFit/>
          </a:bodyPr>
          <a:lstStyle/>
          <a:p>
            <a:pPr algn="just">
              <a:lnSpc>
                <a:spcPct val="115000"/>
              </a:lnSpc>
              <a:spcAft>
                <a:spcPts val="1000"/>
              </a:spcAft>
            </a:pPr>
            <a:r>
              <a:rPr sz="2000" b="1">
                <a:solidFill>
                  <a:srgbClr val="990000"/>
                </a:solidFill>
                <a:latin typeface="Arial" panose="020B0604020202020204"/>
              </a:rPr>
              <a:t>Bình đẳng hóa y tế cơ sở</a:t>
            </a:r>
            <a:r>
              <a:rPr sz="2000">
                <a:solidFill>
                  <a:srgbClr val="1E293B"/>
                </a:solidFill>
                <a:latin typeface="Arial" panose="020B0604020202020204"/>
              </a:rPr>
              <a:t>: Cho phép các trạm y tế tuyến trạm/huyện tầm soát sớm ung thư da với chi phí tối thiểu, mang công nghệ chất lượng cao đến vùng sâu vùng xa.</a:t>
            </a:r>
            <a:endParaRPr sz="2000">
              <a:solidFill>
                <a:srgbClr val="1E293B"/>
              </a:solidFill>
              <a:latin typeface="Arial" panose="020B0604020202020204"/>
            </a:endParaRPr>
          </a:p>
          <a:p>
            <a:pPr algn="just">
              <a:lnSpc>
                <a:spcPct val="115000"/>
              </a:lnSpc>
              <a:spcAft>
                <a:spcPts val="1000"/>
              </a:spcAft>
            </a:pPr>
            <a:r>
              <a:rPr sz="2000" b="1">
                <a:solidFill>
                  <a:srgbClr val="990000"/>
                </a:solidFill>
                <a:latin typeface="Arial" panose="020B0604020202020204"/>
              </a:rPr>
              <a:t>Hỗ trợ tự đào tạo bác sĩ</a:t>
            </a:r>
            <a:r>
              <a:rPr sz="2000">
                <a:solidFill>
                  <a:srgbClr val="1E293B"/>
                </a:solidFill>
                <a:latin typeface="Arial" panose="020B0604020202020204"/>
              </a:rPr>
              <a:t>: Trợ lý VQA RAG y văn Bộ Y tế hoạt động như cố vấn y khoa 24/7 trực quan cho bác sĩ đa khoa.</a:t>
            </a:r>
            <a:endParaRPr sz="2000">
              <a:solidFill>
                <a:srgbClr val="1E293B"/>
              </a:solidFill>
              <a:latin typeface="Arial" panose="020B0604020202020204"/>
            </a:endParaRPr>
          </a:p>
          <a:p>
            <a:pPr algn="just">
              <a:lnSpc>
                <a:spcPct val="115000"/>
              </a:lnSpc>
              <a:spcAft>
                <a:spcPts val="1000"/>
              </a:spcAft>
            </a:pPr>
            <a:r>
              <a:rPr sz="2000" b="1">
                <a:solidFill>
                  <a:srgbClr val="990000"/>
                </a:solidFill>
                <a:latin typeface="Arial" panose="020B0604020202020204"/>
              </a:rPr>
              <a:t>Kết luận</a:t>
            </a:r>
            <a:r>
              <a:rPr sz="2000">
                <a:solidFill>
                  <a:srgbClr val="1E293B"/>
                </a:solidFill>
                <a:latin typeface="Arial" panose="020B0604020202020204"/>
              </a:rPr>
              <a:t>: Xây dựng thành công hệ thống hỗ trợ chẩn đoán CDSS da liễu đa phương thức hoàn chỉnh, hoạt động offline ổn định, bảo mật cao và tối ưu tốc độ phản hồi lâm sàng.</a:t>
            </a:r>
            <a:endParaRPr sz="2000">
              <a:solidFill>
                <a:srgbClr val="1E293B"/>
              </a:solidFill>
              <a:latin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3"/>
          <p:cNvSpPr txBox="1"/>
          <p:nvPr/>
        </p:nvSpPr>
        <p:spPr>
          <a:xfrm>
            <a:off x="5605763" y="2869457"/>
            <a:ext cx="5422456" cy="9713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6000"/>
              <a:buFont typeface="Lato" panose="020F0502020204030203"/>
              <a:buNone/>
            </a:pPr>
            <a:r>
              <a:rPr lang="en-US" sz="6000" b="1" i="0" u="none" strike="noStrike" cap="none">
                <a:solidFill>
                  <a:srgbClr val="C00000"/>
                </a:solidFill>
                <a:latin typeface="Lato" panose="020F0502020204030203"/>
                <a:ea typeface="Lato" panose="020F0502020204030203"/>
                <a:cs typeface="Lato" panose="020F0502020204030203"/>
                <a:sym typeface="Lato" panose="020F0502020204030203"/>
              </a:rPr>
              <a:t>THANK YOU !</a:t>
            </a:r>
            <a:endParaRPr lang="en-US" sz="6000" b="1" i="0" u="none" strike="noStrike" cap="none">
              <a:solidFill>
                <a:srgbClr val="C00000"/>
              </a:solidFill>
              <a:latin typeface="Lato" panose="020F0502020204030203"/>
              <a:ea typeface="Lato" panose="020F0502020204030203"/>
              <a:cs typeface="Lato" panose="020F0502020204030203"/>
              <a:sym typeface="Lato" panose="020F0502020204030203"/>
            </a:endParaRPr>
          </a:p>
        </p:txBody>
      </p:sp>
      <p:sp>
        <p:nvSpPr>
          <p:cNvPr id="168" name="Google Shape;168;p1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ags/tag1.xml><?xml version="1.0" encoding="utf-8"?>
<p:tagLst xmlns:p="http://schemas.openxmlformats.org/presentationml/2006/main">
  <p:tag name="KSO_WM_DIAGRAM_VIRTUALLY_FRAME" val="{&quot;height&quot;:402.15,&quot;left&quot;:281.5,&quot;top&quot;:80.2,&quot;width&quot;:701.95}"/>
</p:tagLst>
</file>

<file path=ppt/tags/tag2.xml><?xml version="1.0" encoding="utf-8"?>
<p:tagLst xmlns:p="http://schemas.openxmlformats.org/presentationml/2006/main">
  <p:tag name="KSO_WM_DIAGRAM_VIRTUALLY_FRAME" val="{&quot;height&quot;:402.15,&quot;left&quot;:281.5,&quot;top&quot;:80.2,&quot;width&quot;:701.95}"/>
</p:tagLst>
</file>

<file path=ppt/tags/tag3.xml><?xml version="1.0" encoding="utf-8"?>
<p:tagLst xmlns:p="http://schemas.openxmlformats.org/presentationml/2006/main">
  <p:tag name="KSO_WM_DIAGRAM_VIRTUALLY_FRAME" val="{&quot;height&quot;:402.15,&quot;left&quot;:281.5,&quot;top&quot;:80.2,&quot;width&quot;:701.95}"/>
</p:tagLst>
</file>

<file path=ppt/tags/tag4.xml><?xml version="1.0" encoding="utf-8"?>
<p:tagLst xmlns:p="http://schemas.openxmlformats.org/presentationml/2006/main">
  <p:tag name="KSO_WM_DIAGRAM_VIRTUALLY_FRAME" val="{&quot;height&quot;:402.15,&quot;left&quot;:281.5,&quot;top&quot;:80.2,&quot;width&quot;:701.95}"/>
</p:tagLst>
</file>

<file path=ppt/tags/tag5.xml><?xml version="1.0" encoding="utf-8"?>
<p:tagLst xmlns:p="http://schemas.openxmlformats.org/presentationml/2006/main">
  <p:tag name="KSO_WM_DIAGRAM_VIRTUALLY_FRAME" val="{&quot;height&quot;:402.15,&quot;left&quot;:281.5,&quot;top&quot;:80.2,&quot;width&quot;:701.95}"/>
</p:tagLst>
</file>

<file path=ppt/tags/tag6.xml><?xml version="1.0" encoding="utf-8"?>
<p:tagLst xmlns:p="http://schemas.openxmlformats.org/presentationml/2006/main">
  <p:tag name="KSO_WM_DIAGRAM_VIRTUALLY_FRAME" val="{&quot;height&quot;:402.15,&quot;left&quot;:281.5,&quot;top&quot;:80.2,&quot;width&quot;:701.95}"/>
</p:tagLst>
</file>

<file path=ppt/tags/tag7.xml><?xml version="1.0" encoding="utf-8"?>
<p:tagLst xmlns:p="http://schemas.openxmlformats.org/presentationml/2006/main">
  <p:tag name="KSO_WM_DIAGRAM_VIRTUALLY_FRAME" val="{&quot;height&quot;:402.15,&quot;left&quot;:281.5,&quot;top&quot;:80.2,&quot;width&quot;:701.95}"/>
</p:tagLst>
</file>

<file path=ppt/tags/tag8.xml><?xml version="1.0" encoding="utf-8"?>
<p:tagLst xmlns:p="http://schemas.openxmlformats.org/presentationml/2006/main">
  <p:tag name="KSO_WM_DIAGRAM_VIRTUALLY_FRAME" val="{&quot;height&quot;:402.15,&quot;left&quot;:281.5,&quot;top&quot;:80.2,&quot;width&quot;:701.95}"/>
</p:tagLst>
</file>

<file path=ppt/tags/tag9.xml><?xml version="1.0" encoding="utf-8"?>
<p:tagLst xmlns:p="http://schemas.openxmlformats.org/presentationml/2006/main">
  <p:tag name="KSO_WM_DIAGRAM_VIRTUALLY_FRAME" val="{&quot;height&quot;:402.15,&quot;left&quot;:281.5,&quot;top&quot;:80.2,&quot;width&quot;:701.95}"/>
</p:tagLst>
</file>

<file path=ppt/tags/tag10.xml><?xml version="1.0" encoding="utf-8"?>
<p:tagLst xmlns:p="http://schemas.openxmlformats.org/presentationml/2006/main">
  <p:tag name="KSO_WM_DIAGRAM_VIRTUALLY_FRAME" val="{&quot;height&quot;:402.15,&quot;left&quot;:281.5,&quot;top&quot;:80.2,&quot;width&quot;:701.95}"/>
</p:tagLst>
</file>

<file path=ppt/tags/tag11.xml><?xml version="1.0" encoding="utf-8"?>
<p:tagLst xmlns:p="http://schemas.openxmlformats.org/presentationml/2006/main">
  <p:tag name="KSO_WM_DIAGRAM_VIRTUALLY_FRAME" val="{&quot;height&quot;:402.15,&quot;left&quot;:281.5,&quot;top&quot;:80.2,&quot;width&quot;:701.95}"/>
</p:tagLst>
</file>

<file path=ppt/tags/tag12.xml><?xml version="1.0" encoding="utf-8"?>
<p:tagLst xmlns:p="http://schemas.openxmlformats.org/presentationml/2006/main">
  <p:tag name="KSO_WM_DIAGRAM_VIRTUALLY_FRAME" val="{&quot;height&quot;:402.15,&quot;left&quot;:281.5,&quot;top&quot;:80.2,&quot;width&quot;:701.95}"/>
</p:tagLst>
</file>

<file path=ppt/tags/tag13.xml><?xml version="1.0" encoding="utf-8"?>
<p:tagLst xmlns:p="http://schemas.openxmlformats.org/presentationml/2006/main">
  <p:tag name="KSO_WM_DIAGRAM_VIRTUALLY_FRAME" val="{&quot;height&quot;:402.15,&quot;left&quot;:281.5,&quot;top&quot;:80.2,&quot;width&quot;:701.95}"/>
</p:tagLst>
</file>

<file path=ppt/tags/tag14.xml><?xml version="1.0" encoding="utf-8"?>
<p:tagLst xmlns:p="http://schemas.openxmlformats.org/presentationml/2006/main">
  <p:tag name="KSO_WM_DIAGRAM_VIRTUALLY_FRAME" val="{&quot;height&quot;:402.15,&quot;left&quot;:281.5,&quot;top&quot;:80.2,&quot;width&quot;:701.95}"/>
</p:tagLst>
</file>

<file path=ppt/tags/tag15.xml><?xml version="1.0" encoding="utf-8"?>
<p:tagLst xmlns:p="http://schemas.openxmlformats.org/presentationml/2006/main">
  <p:tag name="KSO_WM_DIAGRAM_VIRTUALLY_FRAME" val="{&quot;height&quot;:402.15,&quot;left&quot;:281.5,&quot;top&quot;:80.2,&quot;width&quot;:701.95}"/>
</p:tagLst>
</file>

<file path=ppt/tags/tag16.xml><?xml version="1.0" encoding="utf-8"?>
<p:tagLst xmlns:p="http://schemas.openxmlformats.org/presentationml/2006/main">
  <p:tag name="KSO_WM_DIAGRAM_VIRTUALLY_FRAME" val="{&quot;height&quot;:402.15,&quot;left&quot;:281.5,&quot;top&quot;:80.2,&quot;width&quot;:701.95}"/>
</p:tagLst>
</file>

<file path=ppt/tags/tag17.xml><?xml version="1.0" encoding="utf-8"?>
<p:tagLst xmlns:p="http://schemas.openxmlformats.org/presentationml/2006/main">
  <p:tag name="KSO_WM_DIAGRAM_VIRTUALLY_FRAME" val="{&quot;height&quot;:402.15,&quot;left&quot;:281.5,&quot;top&quot;:80.2,&quot;width&quot;:701.95}"/>
</p:tagLst>
</file>

<file path=ppt/tags/tag18.xml><?xml version="1.0" encoding="utf-8"?>
<p:tagLst xmlns:p="http://schemas.openxmlformats.org/presentationml/2006/main">
  <p:tag name="KSO_WM_DIAGRAM_VIRTUALLY_FRAME" val="{&quot;height&quot;:402.15,&quot;left&quot;:281.5,&quot;top&quot;:80.2,&quot;width&quot;:701.95}"/>
</p:tagLst>
</file>

<file path=ppt/tags/tag19.xml><?xml version="1.0" encoding="utf-8"?>
<p:tagLst xmlns:p="http://schemas.openxmlformats.org/presentationml/2006/main">
  <p:tag name="KSO_WM_DIAGRAM_VIRTUALLY_FRAME" val="{&quot;height&quot;:402.15,&quot;left&quot;:281.5,&quot;top&quot;:80.2,&quot;width&quot;:701.95}"/>
</p:tagLst>
</file>

<file path=ppt/tags/tag20.xml><?xml version="1.0" encoding="utf-8"?>
<p:tagLst xmlns:p="http://schemas.openxmlformats.org/presentationml/2006/main">
  <p:tag name="KSO_WM_DIAGRAM_VIRTUALLY_FRAME" val="{&quot;height&quot;:402.15,&quot;left&quot;:281.5,&quot;top&quot;:80.2,&quot;width&quot;:701.95}"/>
</p:tagLst>
</file>

<file path=ppt/tags/tag21.xml><?xml version="1.0" encoding="utf-8"?>
<p:tagLst xmlns:p="http://schemas.openxmlformats.org/presentationml/2006/main">
  <p:tag name="KSO_WM_DIAGRAM_VIRTUALLY_FRAME" val="{&quot;height&quot;:402.15,&quot;left&quot;:281.5,&quot;top&quot;:80.2,&quot;width&quot;:701.95}"/>
</p:tagLst>
</file>

<file path=ppt/tags/tag22.xml><?xml version="1.0" encoding="utf-8"?>
<p:tagLst xmlns:p="http://schemas.openxmlformats.org/presentationml/2006/main">
  <p:tag name="KSO_WM_DIAGRAM_VIRTUALLY_FRAME" val="{&quot;height&quot;:402.15,&quot;left&quot;:281.5,&quot;top&quot;:80.2,&quot;width&quot;:701.95}"/>
</p:tagLst>
</file>

<file path=ppt/tags/tag23.xml><?xml version="1.0" encoding="utf-8"?>
<p:tagLst xmlns:p="http://schemas.openxmlformats.org/presentationml/2006/main">
  <p:tag name="KSO_WM_DIAGRAM_VIRTUALLY_FRAME" val="{&quot;height&quot;:402.15,&quot;left&quot;:281.5,&quot;top&quot;:80.2,&quot;width&quot;:701.95}"/>
</p:tagLst>
</file>

<file path=ppt/tags/tag24.xml><?xml version="1.0" encoding="utf-8"?>
<p:tagLst xmlns:p="http://schemas.openxmlformats.org/presentationml/2006/main">
  <p:tag name="KSO_WM_DIAGRAM_VIRTUALLY_FRAME" val="{&quot;height&quot;:402.15,&quot;left&quot;:281.5,&quot;top&quot;:80.2,&quot;width&quot;:701.95}"/>
</p:tagLst>
</file>

<file path=ppt/tags/tag25.xml><?xml version="1.0" encoding="utf-8"?>
<p:tagLst xmlns:p="http://schemas.openxmlformats.org/presentationml/2006/main">
  <p:tag name="KSO_WM_DIAGRAM_VIRTUALLY_FRAME" val="{&quot;height&quot;:402.15,&quot;left&quot;:281.5,&quot;top&quot;:80.2,&quot;width&quot;:701.95}"/>
</p:tagLst>
</file>

<file path=ppt/tags/tag26.xml><?xml version="1.0" encoding="utf-8"?>
<p:tagLst xmlns:p="http://schemas.openxmlformats.org/presentationml/2006/main">
  <p:tag name="KSO_WM_DIAGRAM_VIRTUALLY_FRAME" val="{&quot;height&quot;:402.15,&quot;left&quot;:281.5,&quot;top&quot;:80.2,&quot;width&quot;:701.95}"/>
</p:tagLst>
</file>

<file path=ppt/tags/tag27.xml><?xml version="1.0" encoding="utf-8"?>
<p:tagLst xmlns:p="http://schemas.openxmlformats.org/presentationml/2006/main">
  <p:tag name="KSO_WM_DIAGRAM_VIRTUALLY_FRAME" val="{&quot;height&quot;:402.15,&quot;left&quot;:281.5,&quot;top&quot;:80.2,&quot;width&quot;:701.95}"/>
</p:tagLst>
</file>

<file path=ppt/tags/tag28.xml><?xml version="1.0" encoding="utf-8"?>
<p:tagLst xmlns:p="http://schemas.openxmlformats.org/presentationml/2006/main">
  <p:tag name="KSO_WM_DIAGRAM_VIRTUALLY_FRAME" val="{&quot;height&quot;:402.15,&quot;left&quot;:281.5,&quot;top&quot;:80.2,&quot;width&quot;:701.95}"/>
</p:tagLst>
</file>

<file path=ppt/tags/tag29.xml><?xml version="1.0" encoding="utf-8"?>
<p:tagLst xmlns:p="http://schemas.openxmlformats.org/presentationml/2006/main">
  <p:tag name="KSO_WM_DIAGRAM_VIRTUALLY_FRAME" val="{&quot;height&quot;:402.15,&quot;left&quot;:281.5,&quot;top&quot;:80.2,&quot;width&quot;:701.95}"/>
</p:tagLst>
</file>

<file path=ppt/tags/tag30.xml><?xml version="1.0" encoding="utf-8"?>
<p:tagLst xmlns:p="http://schemas.openxmlformats.org/presentationml/2006/main">
  <p:tag name="KSO_WM_DIAGRAM_VIRTUALLY_FRAME" val="{&quot;height&quot;:402.15,&quot;left&quot;:281.5,&quot;top&quot;:80.2,&quot;width&quot;:701.95}"/>
</p:tagLst>
</file>

<file path=ppt/tags/tag31.xml><?xml version="1.0" encoding="utf-8"?>
<p:tagLst xmlns:p="http://schemas.openxmlformats.org/presentationml/2006/main">
  <p:tag name="KSO_WM_DIAGRAM_VIRTUALLY_FRAME" val="{&quot;height&quot;:402.15,&quot;left&quot;:281.5,&quot;top&quot;:80.2,&quot;width&quot;:701.95}"/>
</p:tagLst>
</file>

<file path=ppt/tags/tag32.xml><?xml version="1.0" encoding="utf-8"?>
<p:tagLst xmlns:p="http://schemas.openxmlformats.org/presentationml/2006/main">
  <p:tag name="KSO_WM_DIAGRAM_VIRTUALLY_FRAME" val="{&quot;height&quot;:402.15,&quot;left&quot;:281.5,&quot;top&quot;:80.2,&quot;width&quot;:701.95}"/>
</p:tagLst>
</file>

<file path=ppt/tags/tag33.xml><?xml version="1.0" encoding="utf-8"?>
<p:tagLst xmlns:p="http://schemas.openxmlformats.org/presentationml/2006/main">
  <p:tag name="KSO_WM_DIAGRAM_VIRTUALLY_FRAME" val="{&quot;height&quot;:402.15,&quot;left&quot;:281.5,&quot;top&quot;:80.2,&quot;width&quot;:701.95}"/>
</p:tagLst>
</file>

<file path=ppt/tags/tag34.xml><?xml version="1.0" encoding="utf-8"?>
<p:tagLst xmlns:p="http://schemas.openxmlformats.org/presentationml/2006/main">
  <p:tag name="KSO_WM_DIAGRAM_VIRTUALLY_FRAME" val="{&quot;height&quot;:402.15,&quot;left&quot;:281.5,&quot;top&quot;:80.2,&quot;width&quot;:701.95}"/>
</p:tagLst>
</file>

<file path=ppt/tags/tag35.xml><?xml version="1.0" encoding="utf-8"?>
<p:tagLst xmlns:p="http://schemas.openxmlformats.org/presentationml/2006/main">
  <p:tag name="KSO_WM_DIAGRAM_VIRTUALLY_FRAME" val="{&quot;height&quot;:402.15,&quot;left&quot;:281.5,&quot;top&quot;:80.2,&quot;width&quot;:701.95}"/>
</p:tagLst>
</file>

<file path=ppt/tags/tag36.xml><?xml version="1.0" encoding="utf-8"?>
<p:tagLst xmlns:p="http://schemas.openxmlformats.org/presentationml/2006/main">
  <p:tag name="KSO_WM_DIAGRAM_VIRTUALLY_FRAME" val="{&quot;height&quot;:402.15,&quot;left&quot;:281.5,&quot;top&quot;:80.2,&quot;width&quot;:701.95}"/>
</p:tagLst>
</file>

<file path=ppt/tags/tag37.xml><?xml version="1.0" encoding="utf-8"?>
<p:tagLst xmlns:p="http://schemas.openxmlformats.org/presentationml/2006/main">
  <p:tag name="KSO_WM_DIAGRAM_VIRTUALLY_FRAME" val="{&quot;height&quot;:402.15,&quot;left&quot;:281.5,&quot;top&quot;:80.2,&quot;width&quot;:701.95}"/>
</p:tagLst>
</file>

<file path=ppt/tags/tag38.xml><?xml version="1.0" encoding="utf-8"?>
<p:tagLst xmlns:p="http://schemas.openxmlformats.org/presentationml/2006/main">
  <p:tag name="KSO_WM_DIAGRAM_VIRTUALLY_FRAME" val="{&quot;height&quot;:402.15,&quot;left&quot;:281.5,&quot;top&quot;:80.2,&quot;width&quot;:701.95}"/>
</p:tagLst>
</file>

<file path=ppt/tags/tag39.xml><?xml version="1.0" encoding="utf-8"?>
<p:tagLst xmlns:p="http://schemas.openxmlformats.org/presentationml/2006/main">
  <p:tag name="KSO_WM_DIAGRAM_VIRTUALLY_FRAME" val="{&quot;height&quot;:402.15,&quot;left&quot;:281.5,&quot;top&quot;:80.2,&quot;width&quot;:701.95}"/>
</p:tagLst>
</file>

<file path=ppt/tags/tag40.xml><?xml version="1.0" encoding="utf-8"?>
<p:tagLst xmlns:p="http://schemas.openxmlformats.org/presentationml/2006/main">
  <p:tag name="KSO_WM_DIAGRAM_VIRTUALLY_FRAME" val="{&quot;height&quot;:402.15,&quot;left&quot;:281.5,&quot;top&quot;:80.2,&quot;width&quot;:701.95}"/>
</p:tagLst>
</file>

<file path=ppt/tags/tag41.xml><?xml version="1.0" encoding="utf-8"?>
<p:tagLst xmlns:p="http://schemas.openxmlformats.org/presentationml/2006/main">
  <p:tag name="KSO_WM_DIAGRAM_VIRTUALLY_FRAME" val="{&quot;height&quot;:402.15,&quot;left&quot;:281.5,&quot;top&quot;:80.2,&quot;width&quot;:701.95}"/>
</p:tagLst>
</file>

<file path=ppt/tags/tag42.xml><?xml version="1.0" encoding="utf-8"?>
<p:tagLst xmlns:p="http://schemas.openxmlformats.org/presentationml/2006/main">
  <p:tag name="KSO_WM_DIAGRAM_VIRTUALLY_FRAME" val="{&quot;height&quot;:402.15,&quot;left&quot;:281.5,&quot;top&quot;:80.2,&quot;width&quot;:701.95}"/>
</p:tagLst>
</file>

<file path=ppt/tags/tag43.xml><?xml version="1.0" encoding="utf-8"?>
<p:tagLst xmlns:p="http://schemas.openxmlformats.org/presentationml/2006/main">
  <p:tag name="KSO_WM_DIAGRAM_VIRTUALLY_FRAME" val="{&quot;height&quot;:402.15,&quot;left&quot;:281.5,&quot;top&quot;:80.2,&quot;width&quot;:701.95}"/>
</p:tagLst>
</file>

<file path=ppt/tags/tag44.xml><?xml version="1.0" encoding="utf-8"?>
<p:tagLst xmlns:p="http://schemas.openxmlformats.org/presentationml/2006/main">
  <p:tag name="KSO_WM_DIAGRAM_VIRTUALLY_FRAME" val="{&quot;height&quot;:402.15,&quot;left&quot;:281.5,&quot;top&quot;:80.2,&quot;width&quot;:701.95}"/>
</p:tagLst>
</file>

<file path=ppt/tags/tag45.xml><?xml version="1.0" encoding="utf-8"?>
<p:tagLst xmlns:p="http://schemas.openxmlformats.org/presentationml/2006/main">
  <p:tag name="KSO_WM_DIAGRAM_VIRTUALLY_FRAME" val="{&quot;height&quot;:402.15,&quot;left&quot;:281.5,&quot;top&quot;:80.2,&quot;width&quot;:701.95}"/>
</p:tagLst>
</file>

<file path=ppt/tags/tag46.xml><?xml version="1.0" encoding="utf-8"?>
<p:tagLst xmlns:p="http://schemas.openxmlformats.org/presentationml/2006/main">
  <p:tag name="KSO_WM_DIAGRAM_VIRTUALLY_FRAME" val="{&quot;height&quot;:402.15,&quot;left&quot;:281.5,&quot;top&quot;:80.2,&quot;width&quot;:701.95}"/>
</p:tagLst>
</file>

<file path=ppt/tags/tag47.xml><?xml version="1.0" encoding="utf-8"?>
<p:tagLst xmlns:p="http://schemas.openxmlformats.org/presentationml/2006/main">
  <p:tag name="KSO_WM_DIAGRAM_VIRTUALLY_FRAME" val="{&quot;height&quot;:402.15,&quot;left&quot;:281.5,&quot;top&quot;:80.2,&quot;width&quot;:701.95}"/>
</p:tagLst>
</file>

<file path=ppt/tags/tag48.xml><?xml version="1.0" encoding="utf-8"?>
<p:tagLst xmlns:p="http://schemas.openxmlformats.org/presentationml/2006/main">
  <p:tag name="KSO_WM_DIAGRAM_VIRTUALLY_FRAME" val="{&quot;height&quot;:402.15,&quot;left&quot;:281.5,&quot;top&quot;:80.2,&quot;width&quot;:701.95}"/>
</p:tagLst>
</file>

<file path=ppt/tags/tag49.xml><?xml version="1.0" encoding="utf-8"?>
<p:tagLst xmlns:p="http://schemas.openxmlformats.org/presentationml/2006/main">
  <p:tag name="KSO_WM_DIAGRAM_VIRTUALLY_FRAME" val="{&quot;height&quot;:402.15,&quot;left&quot;:281.5,&quot;top&quot;:80.2,&quot;width&quot;:701.95}"/>
</p:tagLst>
</file>

<file path=ppt/tags/tag50.xml><?xml version="1.0" encoding="utf-8"?>
<p:tagLst xmlns:p="http://schemas.openxmlformats.org/presentationml/2006/main">
  <p:tag name="KSO_WM_DIAGRAM_VIRTUALLY_FRAME" val="{&quot;height&quot;:402.15,&quot;left&quot;:281.5,&quot;top&quot;:80.2,&quot;width&quot;:701.95}"/>
</p:tagLst>
</file>

<file path=ppt/tags/tag51.xml><?xml version="1.0" encoding="utf-8"?>
<p:tagLst xmlns:p="http://schemas.openxmlformats.org/presentationml/2006/main">
  <p:tag name="KSO_WM_DIAGRAM_VIRTUALLY_FRAME" val="{&quot;height&quot;:402.15,&quot;left&quot;:281.5,&quot;top&quot;:80.2,&quot;width&quot;:701.95}"/>
</p:tagLst>
</file>

<file path=ppt/tags/tag52.xml><?xml version="1.0" encoding="utf-8"?>
<p:tagLst xmlns:p="http://schemas.openxmlformats.org/presentationml/2006/main">
  <p:tag name="KSO_WM_DIAGRAM_VIRTUALLY_FRAME" val="{&quot;height&quot;:402.15,&quot;left&quot;:281.5,&quot;top&quot;:80.2,&quot;width&quot;:701.95}"/>
</p:tagLst>
</file>

<file path=ppt/tags/tag53.xml><?xml version="1.0" encoding="utf-8"?>
<p:tagLst xmlns:p="http://schemas.openxmlformats.org/presentationml/2006/main">
  <p:tag name="KSO_WM_DIAGRAM_VIRTUALLY_FRAME" val="{&quot;height&quot;:402.15,&quot;left&quot;:281.5,&quot;top&quot;:80.2,&quot;width&quot;:701.95}"/>
</p:tagLst>
</file>

<file path=ppt/tags/tag54.xml><?xml version="1.0" encoding="utf-8"?>
<p:tagLst xmlns:p="http://schemas.openxmlformats.org/presentationml/2006/main">
  <p:tag name="KSO_WM_DIAGRAM_VIRTUALLY_FRAME" val="{&quot;height&quot;:402.15,&quot;left&quot;:281.5,&quot;top&quot;:80.2,&quot;width&quot;:701.95}"/>
</p:tagLst>
</file>

<file path=ppt/tags/tag55.xml><?xml version="1.0" encoding="utf-8"?>
<p:tagLst xmlns:p="http://schemas.openxmlformats.org/presentationml/2006/main">
  <p:tag name="KSO_WM_DIAGRAM_VIRTUALLY_FRAME" val="{&quot;height&quot;:402.15,&quot;left&quot;:281.5,&quot;top&quot;:80.2,&quot;width&quot;:701.95}"/>
</p:tagLst>
</file>

<file path=ppt/tags/tag56.xml><?xml version="1.0" encoding="utf-8"?>
<p:tagLst xmlns:p="http://schemas.openxmlformats.org/presentationml/2006/main">
  <p:tag name="KSO_WM_DIAGRAM_VIRTUALLY_FRAME" val="{&quot;height&quot;:402.15,&quot;left&quot;:281.5,&quot;top&quot;:80.2,&quot;width&quot;:701.95}"/>
</p:tagLst>
</file>

<file path=ppt/tags/tag57.xml><?xml version="1.0" encoding="utf-8"?>
<p:tagLst xmlns:p="http://schemas.openxmlformats.org/presentationml/2006/main">
  <p:tag name="KSO_WM_DIAGRAM_VIRTUALLY_FRAME" val="{&quot;height&quot;:402.15,&quot;left&quot;:281.5,&quot;top&quot;:80.2,&quot;width&quot;:701.95}"/>
</p:tagLst>
</file>

<file path=ppt/tags/tag58.xml><?xml version="1.0" encoding="utf-8"?>
<p:tagLst xmlns:p="http://schemas.openxmlformats.org/presentationml/2006/main">
  <p:tag name="KSO_WM_DIAGRAM_VIRTUALLY_FRAME" val="{&quot;height&quot;:402.15,&quot;left&quot;:281.5,&quot;top&quot;:80.2,&quot;width&quot;:701.95}"/>
</p:tagLst>
</file>

<file path=ppt/tags/tag59.xml><?xml version="1.0" encoding="utf-8"?>
<p:tagLst xmlns:p="http://schemas.openxmlformats.org/presentationml/2006/main">
  <p:tag name="KSO_WM_DIAGRAM_VIRTUALLY_FRAME" val="{&quot;height&quot;:402.15,&quot;left&quot;:281.5,&quot;top&quot;:80.2,&quot;width&quot;:701.95}"/>
</p:tagLst>
</file>

<file path=ppt/tags/tag60.xml><?xml version="1.0" encoding="utf-8"?>
<p:tagLst xmlns:p="http://schemas.openxmlformats.org/presentationml/2006/main">
  <p:tag name="KSO_WM_DIAGRAM_VIRTUALLY_FRAME" val="{&quot;height&quot;:402.15,&quot;left&quot;:281.5,&quot;top&quot;:80.2,&quot;width&quot;:701.9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10317</Words>
  <Application>WPS Presentation</Application>
  <PresentationFormat/>
  <Paragraphs>361</Paragraphs>
  <Slides>26</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26</vt:i4>
      </vt:variant>
    </vt:vector>
  </HeadingPairs>
  <TitlesOfParts>
    <vt:vector size="48" baseType="lpstr">
      <vt:lpstr>Arial</vt:lpstr>
      <vt:lpstr>SimSun</vt:lpstr>
      <vt:lpstr>Wingdings</vt:lpstr>
      <vt:lpstr>Arial</vt:lpstr>
      <vt:lpstr>Lato</vt:lpstr>
      <vt:lpstr>Calibri</vt:lpstr>
      <vt:lpstr>Microsoft YaHei</vt:lpstr>
      <vt:lpstr>Arial Unicode MS</vt:lpstr>
      <vt:lpstr>Bahnschrift Light</vt:lpstr>
      <vt:lpstr>Bahnschrift SemiBold</vt:lpstr>
      <vt:lpstr>Cambria</vt:lpstr>
      <vt:lpstr>Bahnschrift SemiCondensed</vt:lpstr>
      <vt:lpstr>Calibri Light</vt:lpstr>
      <vt:lpstr>Calibri</vt:lpstr>
      <vt:lpstr>Book Antiqua</vt:lpstr>
      <vt:lpstr>Corbel</vt:lpstr>
      <vt:lpstr>Dubai</vt:lpstr>
      <vt:lpstr>Dubai Light</vt:lpstr>
      <vt:lpstr>Georgia</vt:lpstr>
      <vt:lpstr>Leelawadee UI</vt:lpstr>
      <vt:lpstr>Malgun Gothic Semilight</vt:lpstr>
      <vt:lpstr>Office Theme</vt:lpstr>
      <vt:lpstr>PowerPoint 演示文稿</vt:lpstr>
      <vt:lpstr>PowerPoint 演示文稿</vt:lpstr>
      <vt:lpstr>NỘI DUNG TRÌNH BÀY</vt:lpstr>
      <vt:lpstr>PHẦN 1: ĐẶT VẤN ĐỀ &amp; MỤC TIÊU ĐỀ TÀI</vt:lpstr>
      <vt:lpstr>PowerPoint 演示文稿</vt:lpstr>
      <vt:lpstr>NỘI DUNG TRÌNH BÀY</vt:lpstr>
      <vt:lpstr>PowerPoint 演示文稿</vt:lpstr>
      <vt:lpstr>PowerPoint 演示文稿</vt:lpstr>
      <vt:lpstr>PowerPoint 演示文稿</vt:lpstr>
      <vt:lpstr>NỘI DUNG TRÌNH BÀY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NỘI DUNG TRÌNH BÀY</vt:lpstr>
      <vt:lpstr>PowerPoint 演示文稿</vt:lpstr>
      <vt:lpstr>PowerPoint 演示文稿</vt:lpstr>
      <vt:lpstr>PowerPoint 演示文稿</vt:lpstr>
      <vt:lpstr>NỘI DUNG TRÌNH BÀY</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Phong TT &amp; QTTH</dc:creator>
  <cp:lastModifiedBy>Hương Giang Nguyễn</cp:lastModifiedBy>
  <cp:revision>3</cp:revision>
  <dcterms:created xsi:type="dcterms:W3CDTF">2026-07-08T18:04:57Z</dcterms:created>
  <dcterms:modified xsi:type="dcterms:W3CDTF">2026-07-12T11:22:04Z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B1EE828611F648FB89CC6ED6192E9721_12</vt:lpwstr>
  </property>
  <property fmtid="{D5CDD505-2E9C-101B-9397-08002B2CF9AE}" pid="3" name="KSOProductBuildVer">
    <vt:lpwstr>2057-12.2.0.23206</vt:lpwstr>
  </property>
</Properties>
</file>