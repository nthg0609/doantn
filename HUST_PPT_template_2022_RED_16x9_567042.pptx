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8" r:id="rId3"/>
    <p:sldId id="259" r:id="rId5"/>
    <p:sldId id="270" r:id="rId6"/>
    <p:sldId id="260" r:id="rId7"/>
    <p:sldId id="271" r:id="rId8"/>
    <p:sldId id="292" r:id="rId9"/>
    <p:sldId id="295" r:id="rId10"/>
    <p:sldId id="294" r:id="rId11"/>
    <p:sldId id="273" r:id="rId12"/>
    <p:sldId id="272" r:id="rId13"/>
    <p:sldId id="287" r:id="rId14"/>
    <p:sldId id="274" r:id="rId15"/>
    <p:sldId id="276" r:id="rId16"/>
    <p:sldId id="277" r:id="rId17"/>
    <p:sldId id="288" r:id="rId18"/>
    <p:sldId id="278" r:id="rId19"/>
    <p:sldId id="279" r:id="rId20"/>
    <p:sldId id="289" r:id="rId21"/>
    <p:sldId id="280" r:id="rId22"/>
    <p:sldId id="290" r:id="rId23"/>
    <p:sldId id="296" r:id="rId24"/>
    <p:sldId id="281" r:id="rId25"/>
    <p:sldId id="282" r:id="rId26"/>
    <p:sldId id="283" r:id="rId27"/>
    <p:sldId id="291" r:id="rId28"/>
    <p:sldId id="284" r:id="rId29"/>
    <p:sldId id="285" r:id="rId30"/>
    <p:sldId id="286" r:id="rId31"/>
    <p:sldId id="298" r:id="rId32"/>
    <p:sldId id="293" r:id="rId33"/>
    <p:sldId id="261" r:id="rId34"/>
    <p:sldId id="268" r:id="rId35"/>
  </p:sldIdLst>
  <p:sldSz cx="12192000" cy="6858000"/>
  <p:notesSz cx="6858000" cy="9144000"/>
  <p:embeddedFontLst>
    <p:embeddedFont>
      <p:font typeface="Lato" panose="020F0502020204030203"/>
      <p:regular r:id="rId39"/>
    </p:embeddedFont>
    <p:embeddedFont>
      <p:font typeface="Calibri" panose="020F0502020204030204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858585"/>
    <a:srgbClr val="ECECEC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3" Type="http://schemas.openxmlformats.org/officeDocument/2006/relationships/font" Target="fonts/font5.fntdata"/><Relationship Id="rId42" Type="http://schemas.openxmlformats.org/officeDocument/2006/relationships/font" Target="fonts/font4.fntdata"/><Relationship Id="rId41" Type="http://schemas.openxmlformats.org/officeDocument/2006/relationships/font" Target="fonts/font3.fntdata"/><Relationship Id="rId40" Type="http://schemas.openxmlformats.org/officeDocument/2006/relationships/font" Target="fonts/font2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1.fntdata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ym typeface="+mn-ea"/>
              </a:rPr>
              <a:t>Kính chào quý Thầy Cô trong Hội đồng. Em tên là Nguyễn Thị Hương Giang, sinh viên khoa Toán - Tin. Hôm nay, em xin phép trình bày đồ án tốt nghiệp của mình với đề tài: 'Nghiên cứu và xây dựng hệ thống phân tích đa phương thức hỗ trợ chẩn đoán bệnh da liễu tích hợp hỏi đáp trực quan y tế'.</a:t>
            </a:r>
            <a:endParaRPr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ym typeface="+mn-ea"/>
              </a:rPr>
              <a:t>Đồ án được thực hiện dưới sự hướng dẫn của TS. Ngô Quốc Hoàn</a:t>
            </a:r>
            <a:endParaRPr>
              <a:sym typeface="+mn-ea"/>
            </a:endParaRPr>
          </a:p>
        </p:txBody>
      </p:sp>
      <p:sp>
        <p:nvSpPr>
          <p:cNvPr id="90" name="Google Shape;90;p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Nội dung trình bày của em có 5 phần: Phần 1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ặt vấn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ề và mục ti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u; Phần 2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ch, thiết kế hệ thống với luồng xử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song song và bộ lọc Safety Gate; Phần 3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thuật to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n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ng cấp — SAM, GrabCut, OTSU dự ph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ng, Bayes fusion và VQA RAG; Phần 4 thiết kế CSDL và bảo mật EHR; Phần 5 kết quả thử nghiệm và kết luận</a:t>
            </a:r>
            <a:endParaRPr lang="en-US" altLang="en-GB">
              <a:sym typeface="+mn-ea"/>
            </a:endParaRPr>
          </a:p>
        </p:txBody>
      </p:sp>
      <p:sp>
        <p:nvSpPr>
          <p:cNvPr id="98" name="Google Shape;98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ym typeface="+mn-ea"/>
              </a:rPr>
              <a:t>Sau đây, em xin phép bắt đầu trình bày Phần đầu tiên: Đặt vấn đề và Mục tiêu nghiên cứu của đề tài.</a:t>
            </a:r>
            <a:endParaRPr>
              <a:sym typeface="+mn-ea"/>
            </a:endParaRPr>
          </a:p>
        </p:txBody>
      </p:sp>
      <p:sp>
        <p:nvSpPr>
          <p:cNvPr id="98" name="Google Shape;98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Ba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ặt vấn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ề: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thứ nhất,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bệnh 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melanoma, BCC t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ng nhanh,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ng chẩn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và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iều trị sớm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thể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a tỷ lệ sống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95%.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Thứ hai, tuyến huyện, x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ang thiếu nghi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m trọng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chuy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khoa s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và thiết bị soi da.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Thứ ba,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mô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AI c</a:t>
            </a:r>
            <a:r>
              <a:rPr lang="" altLang="en-US">
                <a:sym typeface="+mn-ea"/>
              </a:rPr>
              <a:t>ũ</a:t>
            </a:r>
            <a:r>
              <a:rPr lang="en-US" altLang="en-GB">
                <a:sym typeface="+mn-ea"/>
              </a:rPr>
              <a:t> phần lớn là hộp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en, không giải th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ợc, chỉ d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1 loại dữ liệu ảnh, và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nguy c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 r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 rỉ dữ liệu qua Cloud API công cộng.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ym typeface="+mn-ea"/>
              </a:rPr>
              <a:t>-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ối t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ợng nghi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cứu là 7 lớp bệnh da liễu phổ biến trong HAM10000 — AKIEC, BCC, BKL, DF, MEL, NV, VASC — dữ liệu gồm ảnh RGB hoặc DICOM c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thông tin dịch tễ bệnh nh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ym typeface="+mn-ea"/>
              </a:rPr>
              <a:t>-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ối t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ợng thụ 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ởng là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a khoa tuyến c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 sở.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Mục ti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u là một hệ thống CDSS toàn diện: chẩn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c, biện giải minh bạch qua ABCD và Grad-CAM, hỗ trợ offline, và quản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EHR bảo mật.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So với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giải ph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p hiện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SkinVision và Google DermAssist,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2 hạn chế r</a:t>
            </a:r>
            <a:r>
              <a:rPr lang="" altLang="en-US">
                <a:sym typeface="+mn-ea"/>
              </a:rPr>
              <a:t>õ</a:t>
            </a:r>
            <a:r>
              <a:rPr lang="en-US" altLang="en-GB">
                <a:sym typeface="+mn-ea"/>
              </a:rPr>
              <a:t> nhất."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"SkinVision chỉ chụp ảnh, hỏi th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m vài triệu chứng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thay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ổi màu/h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dạng, chảy m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u, ngứa — rồi trả về một mức rủi ro duy nhất, ở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'Low Risk', không hề giải th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 v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hay c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n cứ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a ra kết luận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."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 "Google DermAssist th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chụp ảnh cận cảnh, </a:t>
            </a:r>
            <a:r>
              <a:rPr lang="en-US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a ra danh s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ch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bệnh gợi </a:t>
            </a:r>
            <a:r>
              <a:rPr lang="en-US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k</a:t>
            </a:r>
            <a:r>
              <a:rPr lang="en-US" altLang="en-US">
                <a:sym typeface="+mn-ea"/>
              </a:rPr>
              <a:t>è</a:t>
            </a:r>
            <a:r>
              <a:rPr lang="en-US" altLang="en-GB">
                <a:sym typeface="+mn-ea"/>
              </a:rPr>
              <a:t>m ảnh s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ch gi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o khoa </a:t>
            </a:r>
            <a:r>
              <a:rPr lang="en-US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so s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nh, v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 dụ ở </a:t>
            </a:r>
            <a:r>
              <a:rPr lang="en-US" altLang="en-US">
                <a:sym typeface="+mn-ea"/>
              </a:rPr>
              <a:t>đâ</a:t>
            </a:r>
            <a:r>
              <a:rPr lang="en-US" altLang="en-GB">
                <a:sym typeface="+mn-ea"/>
              </a:rPr>
              <a:t>y là 'Melanocytic nevus', với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tr</a:t>
            </a:r>
            <a:r>
              <a:rPr lang="en-US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ờng triệu chứng, mức </a:t>
            </a:r>
            <a:r>
              <a:rPr lang="en-US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l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y, </a:t>
            </a:r>
            <a:r>
              <a:rPr lang="en-US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nghi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m trọng — nh</a:t>
            </a:r>
            <a:r>
              <a:rPr lang="en-US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ng </a:t>
            </a:r>
            <a:r>
              <a:rPr lang="en-US" altLang="en-US">
                <a:sym typeface="+mn-ea"/>
              </a:rPr>
              <a:t>đâ</a:t>
            </a:r>
            <a:r>
              <a:rPr lang="en-US" altLang="en-GB">
                <a:sym typeface="+mn-ea"/>
              </a:rPr>
              <a:t>y vẫn là tra cứu dạng danh mục, không phải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ảnh của bệnh nh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n, và cả hai </a:t>
            </a:r>
            <a:r>
              <a:rPr lang="en-US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ều bắt buộc phải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mạng.</a:t>
            </a:r>
            <a:endParaRPr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ồ 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của em khắc phục bằng 3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iểm: chỉ số ABCD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ịnh l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ợng và Grad-CAM trực quan 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a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 v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ng, hợp nhất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suất ảnh với dịch tễ tuổi/giới/vị tr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, và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VQA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thể chạy offline hoàn toàn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CPU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ym typeface="+mn-ea"/>
            </a:endParaRPr>
          </a:p>
        </p:txBody>
      </p:sp>
      <p:sp>
        <p:nvSpPr>
          <p:cNvPr id="98" name="Google Shape;98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Hai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—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 và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loại — chạy song song,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ộc lập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tr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nhiễu ch</a:t>
            </a:r>
            <a:r>
              <a:rPr lang="en-US" altLang="en-US">
                <a:sym typeface="+mn-ea"/>
              </a:rPr>
              <a:t>é</a:t>
            </a:r>
            <a:r>
              <a:rPr lang="en-US" altLang="en-GB">
                <a:sym typeface="+mn-ea"/>
              </a:rPr>
              <a:t>o dữ liệu."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+ "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màn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thật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ang chạy: b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tr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i là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tham số cấu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— ng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ỡng Safety Gate,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nhạy ph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t hiện 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nh, trọng số ảnh-dịch tễ; ở giữa là khu vực tải ảnh và 3 chế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 — tự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ộng DeepLabV3+, t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t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SAM theo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 click, hoặc vẽ tay chỉnh sửa; b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d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ới là kết quả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ối chiếu 3 ảnh song song — ảnh gốc, mặt nạ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oạn, và bản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ồ nhiệt Grad-CAM."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"Bộ lọc Safety Gate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gi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 diện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ch,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phức tạp bi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của mặt nạ c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tin cậy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loại, với ng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ỡng th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 ứng ri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ng cho ảnh dermoscopy và ảnh chụp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iện thoại.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Ảnh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ầu vào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t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ch thành 2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song song.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1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bằng SAM, DeepLabV3+ hoặc OTSU dự ph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ng, rồi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 chỉ số ABCD.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2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loại ảnh bằng EfficientNet-B1 kết hợp CBAM, rồi hợp nhất Bayes với dịch tễ."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 "Ch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: Safety Gate chỉ chạy một lần duy nhất, ngay sau khi cả 2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kết quả — d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ầu ra của cả 2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quyết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ịnh. Nếu không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ạt, hệ thống 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u cầu chụp lại. Nếu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ạt và ph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t hiện bệnh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nh, cảnh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o chuyển tuyến cấp thiết; nếu lành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nh, chuyển sang trợ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VQA rồi l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u vào EHR.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Giao diện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nh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n, không cần </a:t>
            </a:r>
            <a:r>
              <a:rPr lang="" altLang="en-US">
                <a:sym typeface="+mn-ea"/>
              </a:rPr>
              <a:t>đă</a:t>
            </a:r>
            <a:r>
              <a:rPr lang="en-US" altLang="en-GB">
                <a:sym typeface="+mn-ea"/>
              </a:rPr>
              <a:t>ng nhập phức tạp, ph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 hợp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tuyến c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 sở."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"B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l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m sàng thực hiện 7 nh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m nghiệp vụ: cấu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cổng an toàn, tải ảnh hoặc DICOM,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 t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t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SAM/GrabCut, xem kết quả ABCD và biện giải, t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y chỉnh trọng số Bayes, hỏi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p y v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n ngoại tuyến, và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ồng bộ quản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EHR — trong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bao gồm xem biểu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ồ tiến triển timeline và xuất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o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o PDF.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ym typeface="+mn-ea"/>
            </a:endParaRPr>
          </a:p>
        </p:txBody>
      </p:sp>
      <p:sp>
        <p:nvSpPr>
          <p:cNvPr id="98" name="Google Shape;98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Em thử nghiệm 4 cấu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oạn."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+ "U-Net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ạt Dice 89.43%, DeepLabV3+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lẻ 91.28%, bản Hybrid DeepLabV3+ 90.93%, và  Hybrid-Max Fusion — cao nhất với Dice 91.32%.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Multi-scale TTA gi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p cải thiện IoU khoảng 0.6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tập ISIC 390 ảnh, thắng 217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390 ảnh kiểm thử."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"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demo SAM t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t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thật: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click vào t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m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ng, hệ thống tự cập nhật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ờng bi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dựa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 chọn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, cho ra 3 ảnh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ối chiếu gốc/mặt nạ/Grad-CAM.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OTSU dự phòng y khoa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Nếu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 nhấp, hệ thống chạy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 t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t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n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ng cao: bộ SAM sinh mặt nạ mồi ban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ầu, rồi thuật to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GrabCut khởi tạo từ mặt nạ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tối 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u bi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bờ tinh tế h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n. Nếu không nhấp, hệ thống tự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ộng chạy DeepLabV3+ với Multi-scale TTA."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"Cả 2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ều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 qua một b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ớc kiểm tra quan trọng: nếu tổng số pixel của mặt nạ d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ới 100 — tức mặt nạ qu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 nhỏ hoặc lỗi — hệ thống tự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ộng fallback sang giải ph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p dự ph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ng y khoa là thuật to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ng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ỡng OTSU nghịch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ảo. Kết quả cuối là mặt nạ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 tối 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u, d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chỉ số ABCD và tr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 xuất PixelSpacing từ DICOM nếu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4 chỉ số ABCD: Asymmetry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 bất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ối xứng qua 2 trục ngang dọc; Border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phức tạp bi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dựa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chu vi và diện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ch; Color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lệch chuẩn màu RGB trong v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ng; Diameter quy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ổi pixel sang k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 th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ớc thực nếu ảnh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DICOM." [chỉ ảnh,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ọc v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 dụ số thật] "V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 dụ với ca này: Asymmetry 0.52, Border complexity 3.84, Color variation 0.32, Diameter khoảng 147 pixel —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con số này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tự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ộng ngay sau khi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mặt nạ.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Classifier d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EfficientNet-B1 nh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 khối CBAM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hội tụ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 vào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— ảnh Grad-CAM b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cạnh cho thấy v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n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ng tập trung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vào v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da bệnh, không lan ra da lành xung quanh."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"V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HAM10000 chủ yếu là da ng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ời da trắng, em hợp nhất th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m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suất từ tuổi, giới, vị tr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 theo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 công thức Bayes cho phần dịch tễ, rồi trộn với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suất ảnh bằng trọng số λ — λ này giờ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tự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ộng theo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bất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ịnh của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phối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suất ảnh,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vẫn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thể chuyển sang chế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ặt tay nếu muốn.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Hai nguồn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ầu vào: dữ liệu dịch tễ bệnh nh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và ảnh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ng.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dịch tễ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bảng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phối tiền nghiệm P(bệnh|dịch tễ).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thị gi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m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y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qua EfficientNet-B1+CBAM cho ra P(bệnh|ảnh). Bộ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iều phối late fusion Bayes nhận trọng số λ,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suất hậu nghiệm, cho ra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suất hợp nhất cuối c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k</a:t>
            </a:r>
            <a:r>
              <a:rPr lang="" altLang="en-US">
                <a:sym typeface="+mn-ea"/>
              </a:rPr>
              <a:t>è</a:t>
            </a:r>
            <a:r>
              <a:rPr lang="en-US" altLang="en-GB">
                <a:sym typeface="+mn-ea"/>
              </a:rPr>
              <a:t>m Grad-CAM giải th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Em x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2 chế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VQA: DistilGPT-2 tinh chỉnh LoRA — rank 8, chỉ huấn luyện 2.13% tham số — chạy CPU cho offline; hoặc kết nối Ollama, GPT-4o-mini cho online. RAG y v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n ngoại tuyến so khớp tài liệu từ ChromaDB bằng khoảng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ch Cosine, nhồi 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ớng dẫn Bộ Y tế vào prompt."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+ "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ờng cong huấn luyện VQA qua 30 epoch, train và validation loss giảm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ều và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m s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t nhau, từ khoảng 10.7 xuống c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 6.3, không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dấu hiệu overfit."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"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gi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bộ c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hỏi kiểm thử: offline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ạt BLEU-1 0.73 v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học thuộc mẫu tốt, online chỉ 0.12 d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 trả lời tự nhi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và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 y khoa h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— cho thấy BLEU không phản 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ầy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ủ chất l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ợng l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m sàng.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- Rào cản an toàn thuốc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C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hỏi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m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a bằng All-MiniLM-L6-v2, truy vấn ChromaDB — kho tài liệu Bộ Y tế — tr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ch xuất ngữ cảnh li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quan nhất theo Cosine Similarity. Ngữ cảnh này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nhồi vào prompt c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c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hỏi,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a vào mô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ngôn ngữ cục bộ hoặc Ollama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sinh c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trả lời."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+ "Tr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ớc khi hiển thị, c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trả lời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 qua một lớp lọc an toàn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ộc lập — kiểm tra từ kh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a k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thuốc nhạy cảm. Nếu ph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t hiện tự k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n, hệ thống chặn và trả về thông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o từ chối k</a:t>
            </a:r>
            <a:r>
              <a:rPr lang="" altLang="en-US">
                <a:sym typeface="+mn-ea"/>
              </a:rPr>
              <a:t>è</a:t>
            </a:r>
            <a:r>
              <a:rPr lang="en-US" altLang="en-GB">
                <a:sym typeface="+mn-ea"/>
              </a:rPr>
              <a:t>m khuyến nghị chuyển chuy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khoa; nếu không, mới hiển thị c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trả lời t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vấn chuẩn y v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n cho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v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 dụ hội thoại thật: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hỏi về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ịnh 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ớng sinh thiết, hệ thống trả lời chi tiết k</a:t>
            </a:r>
            <a:r>
              <a:rPr lang="" altLang="en-US">
                <a:sym typeface="+mn-ea"/>
              </a:rPr>
              <a:t>è</a:t>
            </a:r>
            <a:r>
              <a:rPr lang="en-US" altLang="en-GB">
                <a:sym typeface="+mn-ea"/>
              </a:rPr>
              <a:t>m gợi 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c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hỏi tiếp theo.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+  khi em thử hỏi thẳng 'h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y k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thuốc cho bệnh này', hệ thống từ chối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thiết kế và khuy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chuyển bệnh nh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ến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chuy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khoa.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ym typeface="+mn-ea"/>
            </a:endParaRPr>
          </a:p>
        </p:txBody>
      </p:sp>
      <p:sp>
        <p:nvSpPr>
          <p:cNvPr id="98" name="Google Shape;98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Hồ s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 l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u trong 1 collection Firestore duy nhất, mỗi document là 1 bệnh nh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n, chứa ảnh gốc, mặt nạ, Grad-CAM, ABCD và lịch sử VQA." [chỉ ảnh timeline] "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màn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d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ng thời gian l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m sàng thật: lần kh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m thứ 2, hệ thống dự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VASC với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tin cậy 98.7%, k</a:t>
            </a:r>
            <a:r>
              <a:rPr lang="" altLang="en-US">
                <a:sym typeface="+mn-ea"/>
              </a:rPr>
              <a:t>è</a:t>
            </a:r>
            <a:r>
              <a:rPr lang="en-US" altLang="en-GB">
                <a:sym typeface="+mn-ea"/>
              </a:rPr>
              <a:t>m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ầy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ủ chỉ số 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học.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thể chọn 2 mốc kh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m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ối chiếu — v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 dụ bảng b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phải so s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Border complexity giữa 2 lần kh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m ch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nh lệch -0.0097, gi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p theo d</a:t>
            </a:r>
            <a:r>
              <a:rPr lang="" altLang="en-US">
                <a:sym typeface="+mn-ea"/>
              </a:rPr>
              <a:t>õ</a:t>
            </a:r>
            <a:r>
              <a:rPr lang="en-US" altLang="en-GB">
                <a:sym typeface="+mn-ea"/>
              </a:rPr>
              <a:t>i tổn th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tiến triển hay ổn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ịnh.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Ba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 về bảo mật: b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m SHA-256 lấy 16 k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tự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ầu của CCCD/t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tạo Document ID ẩn danh; thông tin nhạy cảm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che bằng XOR kết hợp Base64 ở mức nguy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mẫu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+ và d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ThreadPoolExecutor tải song song 3 ảnh l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cloud, giảm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trễ kh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a giao diện từ 5 gi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xuống c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 1.5 gi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Thông tin bệnh 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nhạy cảm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luồng bảo mật thành 2 nh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nh: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ịnh danh th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b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m SHA-256 tạo Document ID; dữ liệu y khoa th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m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a XOR+Base64. Song song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, 3 luồng ảnh — gốc, mặt nạ, Grad-CAM —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tải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ồng thời qua 3 thread l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Firebase Storage, trả về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ờng dẫn URL. Tất cả hợp nhất và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ồng bộ l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Cloud Firestore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hoàn thành l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u trữ.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ym typeface="+mn-ea"/>
            </a:endParaRPr>
          </a:p>
        </p:txBody>
      </p:sp>
      <p:sp>
        <p:nvSpPr>
          <p:cNvPr id="98" name="Google Shape;98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Hệ thống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thiết kế 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ớng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ối t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ợng,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r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thành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module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ộc lập." </a:t>
            </a:r>
            <a:endParaRPr lang="en-US" altLang="en-GB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+  "Lớp UI Streamlit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iều phối toàn bộ, gọi UnifiedDermatologyPipeline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chẩn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 và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hàm EHR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l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u hồ s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. Pipeline lại d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SafetyGate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hậu kiểm, InteractiveSegmenter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oạn, và MultimodalBayesianFusion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ể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loại kết hợp fusion — mỗi lớp một tr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ch nhiệm r</a:t>
            </a:r>
            <a:r>
              <a:rPr lang="" altLang="en-US">
                <a:sym typeface="+mn-ea"/>
              </a:rPr>
              <a:t>õ</a:t>
            </a:r>
            <a:r>
              <a:rPr lang="en-US" altLang="en-GB">
                <a:sym typeface="+mn-ea"/>
              </a:rPr>
              <a:t> ràng, dễ bảo tr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ộc lập.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"Model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loại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ạt 88.65%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tập kiểm thử HAM10000-ROI 3005 mẫu, best validation 89.39%,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trễ toàn luồng trung b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nh 232.27ms." [chỉ pie chart] "Ph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r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thời gian: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oạn chiếm phần lớn nhất — 168.73ms, t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</a:t>
            </a:r>
            <a:r>
              <a:rPr lang="" altLang="en-US">
                <a:sym typeface="+mn-ea"/>
              </a:rPr>
              <a:t>đư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72.64% — v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b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ớc nặng nhất; ph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n loại 60.80ms; c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 tiền xử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và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ABCD chỉ chiếm ch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a tới 1.2%." [chỉ confusion matrix] "Confusion matrix cho thấy lớp NV — chiếm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a số dữ liệu —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nhận diện rất tốt với 1764 ca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ng; tuy nhi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vẫn c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nhầm lẫn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ng ch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: 54 ca NV bị nhận nhầm thành BKL, và 52 ca MEL — 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— bị nhận nhầm thành NV lành t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nh,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là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iểm em sẽ n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i th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m ở phần hạn chế.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Em c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 thử nghiệm th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m kịch bản kh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: ảnh ph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i s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ng k</a:t>
            </a:r>
            <a:r>
              <a:rPr lang="en-US" altLang="en-US">
                <a:sym typeface="+mn-ea"/>
              </a:rPr>
              <a:t>é</a:t>
            </a:r>
            <a:r>
              <a:rPr lang="en-US" altLang="en-GB">
                <a:sym typeface="+mn-ea"/>
              </a:rPr>
              <a:t>m, nhiễu, và mồi vẽ tay bị lỗi." [chỉ confusion matrix nhỏ] "Trong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iều kiện này,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giảm c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 57.1% — thấp h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nhiều so với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iều kiện chuẩn,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ng hệ thống vẫn chạy ổn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ịnh, Safety Gate vẫn phản ứng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ng." [chỉ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ờng cong accuracy vs coverage] "Biểu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ồ này cho thấy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nh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ổi r</a:t>
            </a:r>
            <a:r>
              <a:rPr lang="" altLang="en-US">
                <a:sym typeface="+mn-ea"/>
              </a:rPr>
              <a:t>õ</a:t>
            </a:r>
            <a:r>
              <a:rPr lang="en-US" altLang="en-GB">
                <a:sym typeface="+mn-ea"/>
              </a:rPr>
              <a:t> ràng của Safety Gate: khi coverage t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ng từ 0.55 l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0.95 — tức chấp nhận nhiều ảnh h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—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ca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chấp nhận giảm dần từ 0.565 xuống 0.49,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ng nguy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selective prediction: gate càng chặt th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 càng 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t ảnh </a:t>
            </a:r>
            <a:r>
              <a:rPr lang="" altLang="en-US">
                <a:sym typeface="+mn-ea"/>
              </a:rPr>
              <a:t>đư</a:t>
            </a:r>
            <a:r>
              <a:rPr lang="en-US" altLang="en-GB">
                <a:sym typeface="+mn-ea"/>
              </a:rPr>
              <a:t>ợc xử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ng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tin cậy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số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 càng cao.</a:t>
            </a:r>
            <a:endParaRPr lang="en-US" altLang="en-GB">
              <a:sym typeface="+mn-ea"/>
            </a:endParaR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Em nh</a:t>
            </a:r>
            <a:r>
              <a:rPr lang="en-US" altLang="en-US">
                <a:sym typeface="+mn-ea"/>
              </a:rPr>
              <a:t>ì</a:t>
            </a:r>
            <a:r>
              <a:rPr lang="en-US" altLang="en-GB">
                <a:sym typeface="+mn-ea"/>
              </a:rPr>
              <a:t>n nhận 3 hạn chế: c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 chế m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h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a EHR c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 ở mức nguy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mẫu, ch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a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ạt chuẩn production; dữ liệu huấn luyện VQA c</a:t>
            </a:r>
            <a:r>
              <a:rPr lang="en-US" altLang="en-US">
                <a:sym typeface="+mn-ea"/>
              </a:rPr>
              <a:t>ò</a:t>
            </a:r>
            <a:r>
              <a:rPr lang="en-US" altLang="en-GB">
                <a:sym typeface="+mn-ea"/>
              </a:rPr>
              <a:t>n nhỏ, dễ ghi nhớ mẫu h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 suy luận tổng qu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t; và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vừa thấy ở slide tr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ớc,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 x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giảm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ng kể tr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ảnh chất l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ợng k</a:t>
            </a:r>
            <a:r>
              <a:rPr lang="en-US" altLang="en-US">
                <a:sym typeface="+mn-ea"/>
              </a:rPr>
              <a:t>é</a:t>
            </a:r>
            <a:r>
              <a:rPr lang="en-US" altLang="en-GB">
                <a:sym typeface="+mn-ea"/>
              </a:rPr>
              <a:t>m, cho thấy giới hạn thực tế khi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iều kiện chụp không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t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ởng.</a:t>
            </a:r>
            <a:endParaRPr lang="en-US" altLang="en-GB">
              <a:sym typeface="+mn-ea"/>
            </a:endParaRPr>
          </a:p>
        </p:txBody>
      </p:sp>
      <p:sp>
        <p:nvSpPr>
          <p:cNvPr id="113" name="Google Shape;113;p6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Về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ng g</a:t>
            </a:r>
            <a:r>
              <a:rPr lang="en-US" altLang="en-US">
                <a:sym typeface="+mn-ea"/>
              </a:rPr>
              <a:t>ó</a:t>
            </a:r>
            <a:r>
              <a:rPr lang="en-US" altLang="en-GB">
                <a:sym typeface="+mn-ea"/>
              </a:rPr>
              <a:t>p x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hội: hệ thống gi</a:t>
            </a:r>
            <a:r>
              <a:rPr lang="en-US" altLang="en-US">
                <a:sym typeface="+mn-ea"/>
              </a:rPr>
              <a:t>ú</a:t>
            </a:r>
            <a:r>
              <a:rPr lang="en-US" altLang="en-GB">
                <a:sym typeface="+mn-ea"/>
              </a:rPr>
              <a:t>p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trạm y tế tuyến c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 sở tầm so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t sớm ung th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da với chi ph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 tối thiểu, mang công nghệ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ến v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s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u v</a:t>
            </a:r>
            <a:r>
              <a:rPr lang="en-US" altLang="en-US">
                <a:sym typeface="+mn-ea"/>
              </a:rPr>
              <a:t>ù</a:t>
            </a:r>
            <a:r>
              <a:rPr lang="en-US" altLang="en-GB">
                <a:sym typeface="+mn-ea"/>
              </a:rPr>
              <a:t>ng xa; trợ l</a:t>
            </a:r>
            <a:r>
              <a:rPr lang="" altLang="en-US">
                <a:sym typeface="+mn-ea"/>
              </a:rPr>
              <a:t>ý</a:t>
            </a:r>
            <a:r>
              <a:rPr lang="en-US" altLang="en-GB">
                <a:sym typeface="+mn-ea"/>
              </a:rPr>
              <a:t> VQA RAG hoạt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ộng nh</a:t>
            </a:r>
            <a:r>
              <a:rPr lang="" altLang="en-US">
                <a:sym typeface="+mn-ea"/>
              </a:rPr>
              <a:t>ư</a:t>
            </a:r>
            <a:r>
              <a:rPr lang="en-US" altLang="en-GB">
                <a:sym typeface="+mn-ea"/>
              </a:rPr>
              <a:t> công cụ tra cứu y v</a:t>
            </a:r>
            <a:r>
              <a:rPr lang="" altLang="en-US">
                <a:sym typeface="+mn-ea"/>
              </a:rPr>
              <a:t>ă</a:t>
            </a:r>
            <a:r>
              <a:rPr lang="en-US" altLang="en-GB">
                <a:sym typeface="+mn-ea"/>
              </a:rPr>
              <a:t>n li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tục cho b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s</a:t>
            </a:r>
            <a:r>
              <a:rPr lang="" altLang="en-US">
                <a:sym typeface="+mn-ea"/>
              </a:rPr>
              <a:t>ĩ</a:t>
            </a:r>
            <a:r>
              <a:rPr lang="en-US" altLang="en-GB">
                <a:sym typeface="+mn-ea"/>
              </a:rPr>
              <a:t>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a khoa. Kết luận, em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ã</a:t>
            </a:r>
            <a:r>
              <a:rPr lang="en-US" altLang="en-GB">
                <a:sym typeface="+mn-ea"/>
              </a:rPr>
              <a:t> x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y dựng thành công một hệ thống nguy</a:t>
            </a:r>
            <a:r>
              <a:rPr lang="en-US" altLang="en-US">
                <a:sym typeface="+mn-ea"/>
              </a:rPr>
              <a:t>ê</a:t>
            </a:r>
            <a:r>
              <a:rPr lang="en-US" altLang="en-GB">
                <a:sym typeface="+mn-ea"/>
              </a:rPr>
              <a:t>n mẫu CDSS da liễu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a ph</a:t>
            </a:r>
            <a:r>
              <a:rPr lang="" altLang="en-US">
                <a:sym typeface="+mn-ea"/>
              </a:rPr>
              <a:t>ư</a:t>
            </a:r>
            <a:r>
              <a:rPr lang="en-US" altLang="en-US">
                <a:sym typeface="+mn-ea"/>
              </a:rPr>
              <a:t>ơ</a:t>
            </a:r>
            <a:r>
              <a:rPr lang="en-US" altLang="en-GB">
                <a:sym typeface="+mn-ea"/>
              </a:rPr>
              <a:t>ng thức, hoàn thiện c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c module ch</a:t>
            </a:r>
            <a:r>
              <a:rPr lang="en-US" altLang="en-US">
                <a:sym typeface="+mn-ea"/>
              </a:rPr>
              <a:t>í</a:t>
            </a:r>
            <a:r>
              <a:rPr lang="en-US" altLang="en-GB">
                <a:sym typeface="+mn-ea"/>
              </a:rPr>
              <a:t>nh, hoạt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ộng offline, và cải thiện </a:t>
            </a:r>
            <a:r>
              <a:rPr lang="" altLang="en-US">
                <a:sym typeface="+mn-ea"/>
              </a:rPr>
              <a:t>đ</a:t>
            </a:r>
            <a:r>
              <a:rPr lang="en-US" altLang="en-US">
                <a:sym typeface="+mn-ea"/>
              </a:rPr>
              <a:t>á</a:t>
            </a:r>
            <a:r>
              <a:rPr lang="en-US" altLang="en-GB">
                <a:sym typeface="+mn-ea"/>
              </a:rPr>
              <a:t>ng kể tốc </a:t>
            </a:r>
            <a:r>
              <a:rPr lang="" altLang="en-US">
                <a:sym typeface="+mn-ea"/>
              </a:rPr>
              <a:t>đ</a:t>
            </a:r>
            <a:r>
              <a:rPr lang="en-US" altLang="en-GB">
                <a:sym typeface="+mn-ea"/>
              </a:rPr>
              <a:t>ộ phản hồi l</a:t>
            </a:r>
            <a:r>
              <a:rPr lang="en-US" altLang="en-US">
                <a:sym typeface="+mn-ea"/>
              </a:rPr>
              <a:t>â</a:t>
            </a:r>
            <a:r>
              <a:rPr lang="en-US" altLang="en-GB">
                <a:sym typeface="+mn-ea"/>
              </a:rPr>
              <a:t>m sàng.</a:t>
            </a:r>
            <a:endParaRPr lang="en-US" altLang="en-GB">
              <a:sym typeface="+mn-ea"/>
            </a:endParaRPr>
          </a:p>
        </p:txBody>
      </p:sp>
      <p:sp>
        <p:nvSpPr>
          <p:cNvPr id="113" name="Google Shape;113;p6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title"/>
          </p:nvPr>
        </p:nvSpPr>
        <p:spPr>
          <a:xfrm>
            <a:off x="3788898" y="2461846"/>
            <a:ext cx="4614203" cy="1934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 panose="020F0502020204030203"/>
              <a:buNone/>
              <a:defRPr sz="4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7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5" name="Google Shape;15;p17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6" name="Google Shape;16;p17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9" name="Google Shape;19;p18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20" name="Google Shape;20;p18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1" name="Google Shape;21;p18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2" name="Google Shape;22;p18"/>
          <p:cNvSpPr txBox="1"/>
          <p:nvPr>
            <p:ph type="body" idx="1"/>
          </p:nvPr>
        </p:nvSpPr>
        <p:spPr>
          <a:xfrm>
            <a:off x="338736" y="1058844"/>
            <a:ext cx="11514528" cy="490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25" name="Google Shape;25;p19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26" name="Google Shape;26;p19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7" name="Google Shape;27;p19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8" name="Google Shape;28;p19"/>
          <p:cNvSpPr/>
          <p:nvPr>
            <p:ph type="chart" idx="2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29" name="Google Shape;29;p19"/>
          <p:cNvSpPr/>
          <p:nvPr>
            <p:ph type="pic" idx="3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0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2" name="Google Shape;32;p20"/>
          <p:cNvSpPr txBox="1"/>
          <p:nvPr>
            <p:ph type="body" idx="1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3" name="Google Shape;33;p20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4" name="Google Shape;34;p20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5" name="Google Shape;35;p20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8" name="Google Shape;38;p21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9" name="Google Shape;39;p21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40" name="Google Shape;40;p21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1" name="Google Shape;41;p21"/>
          <p:cNvSpPr/>
          <p:nvPr>
            <p:ph type="chart" idx="2"/>
          </p:nvPr>
        </p:nvSpPr>
        <p:spPr>
          <a:xfrm>
            <a:off x="338736" y="1406525"/>
            <a:ext cx="5757264" cy="4670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2" name="Google Shape;42;p21"/>
          <p:cNvSpPr/>
          <p:nvPr>
            <p:ph type="tbl" idx="3"/>
          </p:nvPr>
        </p:nvSpPr>
        <p:spPr>
          <a:xfrm>
            <a:off x="6210300" y="1392239"/>
            <a:ext cx="5592763" cy="468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2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5" name="Google Shape;45;p22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6" name="Google Shape;46;p22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47" name="Google Shape;47;p22"/>
          <p:cNvSpPr txBox="1"/>
          <p:nvPr>
            <p:ph type="body" idx="1"/>
          </p:nvPr>
        </p:nvSpPr>
        <p:spPr>
          <a:xfrm>
            <a:off x="4558372" y="1248325"/>
            <a:ext cx="7391400" cy="5205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8" name="Google Shape;48;p22"/>
          <p:cNvSpPr txBox="1"/>
          <p:nvPr>
            <p:ph type="title"/>
          </p:nvPr>
        </p:nvSpPr>
        <p:spPr>
          <a:xfrm>
            <a:off x="4558372" y="404265"/>
            <a:ext cx="7391400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omparison">
  <p:cSld name="2_Comparison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1" name="Google Shape;51;p23"/>
          <p:cNvSpPr txBox="1"/>
          <p:nvPr>
            <p:ph type="body" idx="1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2" name="Google Shape;52;p23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3" name="Google Shape;53;p23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4" name="Google Shape;54;p23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wo Content">
  <p:cSld name="1_Two Conte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4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7" name="Google Shape;57;p24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8" name="Google Shape;58;p24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59" name="Google Shape;59;p24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0" name="Google Shape;60;p24"/>
          <p:cNvSpPr/>
          <p:nvPr>
            <p:ph type="chart" idx="2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61" name="Google Shape;61;p24"/>
          <p:cNvSpPr/>
          <p:nvPr>
            <p:ph type="pic" idx="3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mparison">
  <p:cSld name="1_Comparison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5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4" name="Google Shape;64;p25"/>
          <p:cNvSpPr txBox="1"/>
          <p:nvPr>
            <p:ph type="body" idx="1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65" name="Google Shape;65;p25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66" name="Google Shape;66;p25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67" name="Google Shape;67;p2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wo Content">
  <p:cSld name="2_Two Conte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/>
          <p:nvPr>
            <p:ph type="dt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0" name="Google Shape;70;p26"/>
          <p:cNvSpPr txBox="1"/>
          <p:nvPr>
            <p:ph type="ft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1" name="Google Shape;71;p26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2" name="Google Shape;72;p26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3" name="Google Shape;73;p26"/>
          <p:cNvSpPr/>
          <p:nvPr>
            <p:ph type="chart" idx="2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4" name="Google Shape;74;p26"/>
          <p:cNvSpPr/>
          <p:nvPr>
            <p:ph type="pic" idx="3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7"/>
          <p:cNvSpPr txBox="1"/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7" name="Google Shape;77;p27"/>
          <p:cNvSpPr txBox="1"/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8" name="Google Shape;78;p27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rgbClr val="C00000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image" Target="../media/image12.pn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4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9.xml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2" Type="http://schemas.openxmlformats.org/officeDocument/2006/relationships/notesSlide" Target="../notesSlides/notesSlide3.xml"/><Relationship Id="rId11" Type="http://schemas.openxmlformats.org/officeDocument/2006/relationships/slideLayout" Target="../slideLayouts/slideLayout4.xml"/><Relationship Id="rId10" Type="http://schemas.openxmlformats.org/officeDocument/2006/relationships/tags" Target="../tags/tag20.xml"/><Relationship Id="rId1" Type="http://schemas.openxmlformats.org/officeDocument/2006/relationships/tags" Target="../tags/tag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2" Type="http://schemas.openxmlformats.org/officeDocument/2006/relationships/notesSlide" Target="../notesSlides/notesSlide9.xml"/><Relationship Id="rId11" Type="http://schemas.openxmlformats.org/officeDocument/2006/relationships/slideLayout" Target="../slideLayouts/slideLayout4.xml"/><Relationship Id="rId10" Type="http://schemas.openxmlformats.org/officeDocument/2006/relationships/tags" Target="../tags/tag30.xml"/><Relationship Id="rId1" Type="http://schemas.openxmlformats.org/officeDocument/2006/relationships/tags" Target="../tags/tag2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2" Type="http://schemas.openxmlformats.org/officeDocument/2006/relationships/notesSlide" Target="../notesSlides/notesSlide13.xml"/><Relationship Id="rId11" Type="http://schemas.openxmlformats.org/officeDocument/2006/relationships/slideLayout" Target="../slideLayouts/slideLayout4.xml"/><Relationship Id="rId10" Type="http://schemas.openxmlformats.org/officeDocument/2006/relationships/tags" Target="../tags/tag40.xml"/><Relationship Id="rId1" Type="http://schemas.openxmlformats.org/officeDocument/2006/relationships/tags" Target="../tags/tag31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49.xml"/><Relationship Id="rId8" Type="http://schemas.openxmlformats.org/officeDocument/2006/relationships/tags" Target="../tags/tag48.xml"/><Relationship Id="rId7" Type="http://schemas.openxmlformats.org/officeDocument/2006/relationships/tags" Target="../tags/tag47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2" Type="http://schemas.openxmlformats.org/officeDocument/2006/relationships/notesSlide" Target="../notesSlides/notesSlide22.xml"/><Relationship Id="rId11" Type="http://schemas.openxmlformats.org/officeDocument/2006/relationships/slideLayout" Target="../slideLayouts/slideLayout4.xml"/><Relationship Id="rId10" Type="http://schemas.openxmlformats.org/officeDocument/2006/relationships/tags" Target="../tags/tag50.xml"/><Relationship Id="rId1" Type="http://schemas.openxmlformats.org/officeDocument/2006/relationships/tags" Target="../tags/tag41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tags" Target="../tags/tag58.xml"/><Relationship Id="rId7" Type="http://schemas.openxmlformats.org/officeDocument/2006/relationships/tags" Target="../tags/tag57.xml"/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2" Type="http://schemas.openxmlformats.org/officeDocument/2006/relationships/notesSlide" Target="../notesSlides/notesSlide26.xml"/><Relationship Id="rId11" Type="http://schemas.openxmlformats.org/officeDocument/2006/relationships/slideLayout" Target="../slideLayouts/slideLayout4.xml"/><Relationship Id="rId10" Type="http://schemas.openxmlformats.org/officeDocument/2006/relationships/tags" Target="../tags/tag60.xml"/><Relationship Id="rId1" Type="http://schemas.openxmlformats.org/officeDocument/2006/relationships/tags" Target="../tags/tag5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9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3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386634" y="331380"/>
            <a:ext cx="3174367" cy="95297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3"/>
          <p:cNvSpPr txBox="1"/>
          <p:nvPr/>
        </p:nvSpPr>
        <p:spPr>
          <a:xfrm>
            <a:off x="263525" y="1701165"/>
            <a:ext cx="9582785" cy="848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5400"/>
              <a:buFont typeface="Lato" panose="020F0502020204030203"/>
              <a:buNone/>
            </a:pP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NGHI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Ê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N CỨU V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À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 X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Â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Y DỰNG HỆ THỐNG PH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Â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N T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Í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CH 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Đ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A PH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ƯƠ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NG THỨC HỖ TRỢ CHẨN 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Đ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O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Á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N BỆNH DA LIỄU T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Í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CH HỢP HỎI </a:t>
            </a:r>
            <a:r>
              <a:rPr lang="en-US" altLang="en-US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ĐÁ</a:t>
            </a:r>
            <a:r>
              <a:rPr lang="en-US" altLang="en-GB" sz="3600" b="1" i="0" u="none" strike="noStrike" cap="none">
                <a:solidFill>
                  <a:srgbClr val="C00000"/>
                </a:solidFill>
                <a:latin typeface="+mj-lt"/>
                <a:ea typeface="Lato" panose="020F0502020204030203"/>
                <a:cs typeface="+mj-lt"/>
                <a:sym typeface="Lato" panose="020F0502020204030203"/>
              </a:rPr>
              <a:t>P TRỰC QUAN Y TẾ</a:t>
            </a:r>
            <a:endParaRPr lang="en-US" altLang="en-GB" sz="3600" b="1" i="0" u="none" strike="noStrike" cap="none">
              <a:solidFill>
                <a:srgbClr val="C00000"/>
              </a:solidFill>
              <a:latin typeface="+mj-lt"/>
              <a:ea typeface="Lato" panose="020F0502020204030203"/>
              <a:cs typeface="+mj-lt"/>
              <a:sym typeface="Lato" panose="020F0502020204030203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5400"/>
              <a:buFont typeface="Lato" panose="020F0502020204030203"/>
              <a:buNone/>
            </a:pPr>
            <a:endParaRPr lang="en-US" altLang="en-GB" sz="3600" b="1" i="0" u="none" strike="noStrike" cap="none">
              <a:solidFill>
                <a:srgbClr val="C00000"/>
              </a:solidFill>
              <a:latin typeface="+mj-lt"/>
              <a:ea typeface="Lato" panose="020F0502020204030203"/>
              <a:cs typeface="+mj-lt"/>
              <a:sym typeface="Lato" panose="020F0502020204030203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767715" y="3933190"/>
            <a:ext cx="10778490" cy="848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800"/>
              <a:buFont typeface="Lato" panose="020F0502020204030203"/>
              <a:buNone/>
            </a:pP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Sinh vi</a:t>
            </a:r>
            <a:r>
              <a:rPr lang="en-US" altLang="en-US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ê</a:t>
            </a: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n thực hiện: Nguyễn Thị H</a:t>
            </a:r>
            <a:r>
              <a:rPr lang="en-US" altLang="en-US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ư</a:t>
            </a:r>
            <a:r>
              <a:rPr lang="en-US" altLang="en-US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ơ</a:t>
            </a: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ng Giang </a:t>
            </a:r>
            <a:endParaRPr lang="en-US" altLang="en-GB" sz="2800" b="0" i="0" u="none" strike="noStrike" cap="none">
              <a:solidFill>
                <a:srgbClr val="C00000"/>
              </a:solidFill>
              <a:latin typeface="+mn-lt"/>
              <a:ea typeface="Lato" panose="020F0502020204030203"/>
              <a:cs typeface="+mn-lt"/>
              <a:sym typeface="Lato" panose="020F0502020204030203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800"/>
              <a:buFont typeface="Lato" panose="020F0502020204030203"/>
              <a:buNone/>
            </a:pP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MSSV: 20227106</a:t>
            </a:r>
            <a:endParaRPr lang="en-US" altLang="en-GB" sz="2800" b="0" i="0" u="none" strike="noStrike" cap="none">
              <a:solidFill>
                <a:srgbClr val="C00000"/>
              </a:solidFill>
              <a:latin typeface="+mn-lt"/>
              <a:ea typeface="Lato" panose="020F0502020204030203"/>
              <a:cs typeface="+mn-lt"/>
              <a:sym typeface="Lato" panose="020F0502020204030203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800"/>
              <a:buFont typeface="Lato" panose="020F0502020204030203"/>
              <a:buNone/>
            </a:pP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Chuy</a:t>
            </a:r>
            <a:r>
              <a:rPr lang="en-US" altLang="en-US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ê</a:t>
            </a: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n ngành: To</a:t>
            </a:r>
            <a:r>
              <a:rPr lang="en-US" altLang="en-US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á</a:t>
            </a: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n - Tin</a:t>
            </a:r>
            <a:endParaRPr lang="en-US" altLang="en-GB" sz="2800" b="0" i="0" u="none" strike="noStrike" cap="none">
              <a:solidFill>
                <a:srgbClr val="C00000"/>
              </a:solidFill>
              <a:latin typeface="+mn-lt"/>
              <a:ea typeface="Lato" panose="020F0502020204030203"/>
              <a:cs typeface="+mn-lt"/>
              <a:sym typeface="Lato" panose="020F0502020204030203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800"/>
              <a:buFont typeface="Lato" panose="020F0502020204030203"/>
              <a:buNone/>
            </a:pP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Giảng vi</a:t>
            </a:r>
            <a:r>
              <a:rPr lang="en-US" altLang="en-US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ê</a:t>
            </a: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n h</a:t>
            </a:r>
            <a:r>
              <a:rPr lang="en-US" altLang="en-US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ư</a:t>
            </a:r>
            <a:r>
              <a:rPr lang="en-US" altLang="en-GB" sz="2800" b="0" i="0" u="none" strike="noStrike" cap="none">
                <a:solidFill>
                  <a:srgbClr val="C00000"/>
                </a:solidFill>
                <a:latin typeface="+mn-lt"/>
                <a:ea typeface="Lato" panose="020F0502020204030203"/>
                <a:cs typeface="+mn-lt"/>
                <a:sym typeface="Lato" panose="020F0502020204030203"/>
              </a:rPr>
              <a:t>ớng dẫn: TS. Ngô Quốc Hoàn</a:t>
            </a:r>
            <a:endParaRPr lang="en-US" altLang="en-GB" sz="2800" b="0" i="0" u="none" strike="noStrike" cap="none">
              <a:solidFill>
                <a:srgbClr val="C00000"/>
              </a:solidFill>
              <a:latin typeface="+mn-lt"/>
              <a:ea typeface="Lato" panose="020F0502020204030203"/>
              <a:cs typeface="+mn-lt"/>
              <a:sym typeface="Lato" panose="020F0502020204030203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800"/>
              <a:buFont typeface="Lato" panose="020F0502020204030203"/>
              <a:buNone/>
            </a:pPr>
            <a:endParaRPr lang="en-US" altLang="en-GB" sz="2800" b="0" i="0" u="none" strike="noStrike" cap="none">
              <a:solidFill>
                <a:srgbClr val="C00000"/>
              </a:solidFill>
              <a:latin typeface="+mn-lt"/>
              <a:ea typeface="Lato" panose="020F0502020204030203"/>
              <a:cs typeface="+mn-lt"/>
              <a:sym typeface="Lato" panose="020F0502020204030203"/>
            </a:endParaRPr>
          </a:p>
        </p:txBody>
      </p:sp>
      <p:sp>
        <p:nvSpPr>
          <p:cNvPr id="95" name="Google Shape;95;p3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NỘI DUNG TRÌNH BÀY</a:t>
            </a:r>
            <a:endParaRPr>
              <a:latin typeface="+mj-lt"/>
              <a:cs typeface="+mj-lt"/>
            </a:endParaRPr>
          </a:p>
        </p:txBody>
      </p:sp>
      <p:sp>
        <p:nvSpPr>
          <p:cNvPr id="102" name="Google Shape;102;p4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31520" y="2011680"/>
            <a:ext cx="2715895" cy="260794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990000"/>
                </a:solidFill>
                <a:latin typeface="Arial" panose="020B0604020202020204"/>
              </a:defRPr>
            </a:pPr>
            <a:r>
              <a:t>MỤC</a:t>
            </a:r>
            <a:r>
              <a:rPr lang="en-US"/>
              <a:t> </a:t>
            </a:r>
            <a:r>
              <a:t>LỤC</a:t>
            </a:r>
            <a:endParaRPr sz="3200"/>
          </a:p>
        </p:txBody>
      </p:sp>
      <p:sp>
        <p:nvSpPr>
          <p:cNvPr id="8" name="Oval 7"/>
          <p:cNvSpPr/>
          <p:nvPr/>
        </p:nvSpPr>
        <p:spPr>
          <a:xfrm>
            <a:off x="251460" y="14630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53035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20" y="11887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39695" y="4754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" y="310896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>
            <p:custDataLst>
              <p:tags r:id="rId1"/>
            </p:custDataLst>
          </p:nvPr>
        </p:nvSpPr>
        <p:spPr>
          <a:xfrm>
            <a:off x="3575050" y="115570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01</a:t>
            </a:r>
            <a:endParaRPr sz="2400"/>
          </a:p>
        </p:txBody>
      </p:sp>
      <p:sp>
        <p:nvSpPr>
          <p:cNvPr id="104" name="TextBox 103"/>
          <p:cNvSpPr txBox="1"/>
          <p:nvPr>
            <p:custDataLst>
              <p:tags r:id="rId2"/>
            </p:custDataLst>
          </p:nvPr>
        </p:nvSpPr>
        <p:spPr>
          <a:xfrm>
            <a:off x="4306570" y="1174750"/>
            <a:ext cx="757110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1: Đặt Vấn Đề &amp; Mục Tiêu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Tính cấp thiết của chẩn đoán sớm và các mục tiêu nghiên cứu cốt lõi của đề tài.</a:t>
            </a:r>
            <a:endParaRPr sz="1600"/>
          </a:p>
        </p:txBody>
      </p:sp>
      <p:sp>
        <p:nvSpPr>
          <p:cNvPr id="14" name="Oval 13"/>
          <p:cNvSpPr/>
          <p:nvPr>
            <p:custDataLst>
              <p:tags r:id="rId3"/>
            </p:custDataLst>
          </p:nvPr>
        </p:nvSpPr>
        <p:spPr>
          <a:xfrm>
            <a:off x="3575050" y="220726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02</a:t>
            </a:r>
            <a:endParaRPr sz="2400"/>
          </a:p>
        </p:txBody>
      </p:sp>
      <p:sp>
        <p:nvSpPr>
          <p:cNvPr id="107" name="TextBox 106"/>
          <p:cNvSpPr txBox="1"/>
          <p:nvPr>
            <p:custDataLst>
              <p:tags r:id="rId4"/>
            </p:custDataLst>
          </p:nvPr>
        </p:nvSpPr>
        <p:spPr>
          <a:xfrm>
            <a:off x="4306570" y="2216785"/>
            <a:ext cx="722249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2: Phân Tích &amp; Thiết Kế Hệ Thống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Thiết kế luồng xử lý song song, bộ lọc Safety Gate và các biểu đồ Use Case.</a:t>
            </a:r>
            <a:endParaRPr sz="1600"/>
          </a:p>
        </p:txBody>
      </p:sp>
      <p:sp>
        <p:nvSpPr>
          <p:cNvPr id="15" name="Oval 14"/>
          <p:cNvSpPr/>
          <p:nvPr>
            <p:custDataLst>
              <p:tags r:id="rId5"/>
            </p:custDataLst>
          </p:nvPr>
        </p:nvSpPr>
        <p:spPr>
          <a:xfrm>
            <a:off x="3575050" y="325882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03</a:t>
            </a:r>
            <a:endParaRPr sz="2400"/>
          </a:p>
        </p:txBody>
      </p:sp>
      <p:sp>
        <p:nvSpPr>
          <p:cNvPr id="110" name="TextBox 109"/>
          <p:cNvSpPr txBox="1"/>
          <p:nvPr>
            <p:custDataLst>
              <p:tags r:id="rId6"/>
            </p:custDataLst>
          </p:nvPr>
        </p:nvSpPr>
        <p:spPr>
          <a:xfrm>
            <a:off x="4338955" y="3284855"/>
            <a:ext cx="791654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3: Thuật Toán &amp; Giải Thuật Nâng Cấp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SAM + GrabCut tương tác, OTSU dự phòng, late fusion Bayes và trợ lý VQA RAG.</a:t>
            </a:r>
            <a:endParaRPr sz="1600"/>
          </a:p>
        </p:txBody>
      </p:sp>
      <p:sp>
        <p:nvSpPr>
          <p:cNvPr id="16" name="Oval 15"/>
          <p:cNvSpPr/>
          <p:nvPr>
            <p:custDataLst>
              <p:tags r:id="rId7"/>
            </p:custDataLst>
          </p:nvPr>
        </p:nvSpPr>
        <p:spPr>
          <a:xfrm>
            <a:off x="3575050" y="431038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04</a:t>
            </a:r>
            <a:endParaRPr sz="2400"/>
          </a:p>
        </p:txBody>
      </p:sp>
      <p:sp>
        <p:nvSpPr>
          <p:cNvPr id="113" name="TextBox 112"/>
          <p:cNvSpPr txBox="1"/>
          <p:nvPr>
            <p:custDataLst>
              <p:tags r:id="rId8"/>
            </p:custDataLst>
          </p:nvPr>
        </p:nvSpPr>
        <p:spPr>
          <a:xfrm>
            <a:off x="4338955" y="4293235"/>
            <a:ext cx="815086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4: Thiết Kế CSDL &amp; Bảo Mật EHR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lang="en-US" altLang="en-GB" sz="1600"/>
              <a:t>Cấu tr</a:t>
            </a:r>
            <a:r>
              <a:rPr lang="en-US" altLang="en-US" sz="1600"/>
              <a:t>ú</a:t>
            </a:r>
            <a:r>
              <a:rPr lang="en-US" altLang="en-GB" sz="1600"/>
              <a:t>c Firestore ph</a:t>
            </a:r>
            <a:r>
              <a:rPr lang="en-US" altLang="en-US" sz="1600"/>
              <a:t>â</a:t>
            </a:r>
            <a:r>
              <a:rPr lang="en-US" altLang="en-GB" sz="1600"/>
              <a:t>n cấp, ẩn danh h</a:t>
            </a:r>
            <a:r>
              <a:rPr lang="en-US" altLang="en-US" sz="1600"/>
              <a:t>ó</a:t>
            </a:r>
            <a:r>
              <a:rPr lang="en-US" altLang="en-GB" sz="1600"/>
              <a:t>a dữ liệu và song song h</a:t>
            </a:r>
            <a:r>
              <a:rPr lang="en-US" altLang="en-US" sz="1600"/>
              <a:t>ó</a:t>
            </a:r>
            <a:r>
              <a:rPr lang="en-US" altLang="en-GB" sz="1600"/>
              <a:t>a </a:t>
            </a:r>
            <a:r>
              <a:rPr lang="en-US" altLang="en-US" sz="1600"/>
              <a:t>đ</a:t>
            </a:r>
            <a:r>
              <a:rPr lang="en-US" altLang="en-GB" sz="1600"/>
              <a:t>a luồng</a:t>
            </a:r>
            <a:r>
              <a:rPr lang="en-US" altLang="en-GB" sz="1600"/>
              <a:t>.</a:t>
            </a:r>
            <a:endParaRPr lang="en-US" altLang="en-GB" sz="1600"/>
          </a:p>
        </p:txBody>
      </p:sp>
      <p:sp>
        <p:nvSpPr>
          <p:cNvPr id="115" name="Oval 114"/>
          <p:cNvSpPr/>
          <p:nvPr>
            <p:custDataLst>
              <p:tags r:id="rId9"/>
            </p:custDataLst>
          </p:nvPr>
        </p:nvSpPr>
        <p:spPr>
          <a:xfrm>
            <a:off x="3575050" y="536194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05</a:t>
            </a:r>
            <a:endParaRPr sz="2400"/>
          </a:p>
        </p:txBody>
      </p:sp>
      <p:sp>
        <p:nvSpPr>
          <p:cNvPr id="17" name="TextBox 115"/>
          <p:cNvSpPr txBox="1"/>
          <p:nvPr>
            <p:custDataLst>
              <p:tags r:id="rId10"/>
            </p:custDataLst>
          </p:nvPr>
        </p:nvSpPr>
        <p:spPr>
          <a:xfrm>
            <a:off x="4306570" y="5373370"/>
            <a:ext cx="700722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5: Kết Quả Thử Nghiệm &amp; Kết Luận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Đánh giá độ chính xác, thời gian trễ và đóng góp thực tế.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NỘI DUNG TRÌNH BÀY</a:t>
            </a:r>
            <a:endParaRPr>
              <a:latin typeface="+mj-lt"/>
              <a:cs typeface="+mj-lt"/>
            </a:endParaRPr>
          </a:p>
        </p:txBody>
      </p:sp>
      <p:sp>
        <p:nvSpPr>
          <p:cNvPr id="102" name="Google Shape;102;p4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31520" y="2011680"/>
            <a:ext cx="2715895" cy="260794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990000"/>
                </a:solidFill>
                <a:latin typeface="Arial" panose="020B0604020202020204"/>
              </a:defRPr>
            </a:pPr>
            <a:r>
              <a:t>MỤC</a:t>
            </a:r>
            <a:r>
              <a:rPr lang="en-US"/>
              <a:t> </a:t>
            </a:r>
            <a:r>
              <a:t>LỤC</a:t>
            </a:r>
            <a:endParaRPr sz="3200"/>
          </a:p>
        </p:txBody>
      </p:sp>
      <p:sp>
        <p:nvSpPr>
          <p:cNvPr id="8" name="Oval 7"/>
          <p:cNvSpPr/>
          <p:nvPr/>
        </p:nvSpPr>
        <p:spPr>
          <a:xfrm>
            <a:off x="251460" y="14630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53035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20" y="11887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39695" y="4754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" y="310896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>
            <p:custDataLst>
              <p:tags r:id="rId1"/>
            </p:custDataLst>
          </p:nvPr>
        </p:nvSpPr>
        <p:spPr>
          <a:xfrm>
            <a:off x="3575050" y="115570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01</a:t>
            </a:r>
            <a:endParaRPr sz="2400"/>
          </a:p>
        </p:txBody>
      </p:sp>
      <p:sp>
        <p:nvSpPr>
          <p:cNvPr id="104" name="TextBox 103"/>
          <p:cNvSpPr txBox="1"/>
          <p:nvPr>
            <p:custDataLst>
              <p:tags r:id="rId2"/>
            </p:custDataLst>
          </p:nvPr>
        </p:nvSpPr>
        <p:spPr>
          <a:xfrm>
            <a:off x="4306570" y="1174750"/>
            <a:ext cx="757110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1: Đặt Vấn Đề &amp; Mục Tiêu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Tính cấp thiết của chẩn đoán sớm và các mục tiêu nghiên cứu cốt lõi của đề tài.</a:t>
            </a:r>
            <a:endParaRPr sz="1600"/>
          </a:p>
        </p:txBody>
      </p:sp>
      <p:sp>
        <p:nvSpPr>
          <p:cNvPr id="14" name="Oval 13"/>
          <p:cNvSpPr/>
          <p:nvPr>
            <p:custDataLst>
              <p:tags r:id="rId3"/>
            </p:custDataLst>
          </p:nvPr>
        </p:nvSpPr>
        <p:spPr>
          <a:xfrm>
            <a:off x="3575050" y="220726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02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7" name="TextBox 106"/>
          <p:cNvSpPr txBox="1"/>
          <p:nvPr>
            <p:custDataLst>
              <p:tags r:id="rId4"/>
            </p:custDataLst>
          </p:nvPr>
        </p:nvSpPr>
        <p:spPr>
          <a:xfrm>
            <a:off x="4306570" y="2216785"/>
            <a:ext cx="722249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2: Phân Tích &amp; Thiết Kế Hệ Thống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Thiết kế luồng xử lý song song, bộ lọc Safety Gate và các biểu đồ Use Case.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5" name="Oval 14"/>
          <p:cNvSpPr/>
          <p:nvPr>
            <p:custDataLst>
              <p:tags r:id="rId5"/>
            </p:custDataLst>
          </p:nvPr>
        </p:nvSpPr>
        <p:spPr>
          <a:xfrm>
            <a:off x="3575050" y="325882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03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0" name="TextBox 109"/>
          <p:cNvSpPr txBox="1"/>
          <p:nvPr>
            <p:custDataLst>
              <p:tags r:id="rId6"/>
            </p:custDataLst>
          </p:nvPr>
        </p:nvSpPr>
        <p:spPr>
          <a:xfrm>
            <a:off x="4338955" y="3284855"/>
            <a:ext cx="791654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3: Thuật Toán &amp; Giải Thuật Nâng Cấp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SAM + GrabCut tương tác, OTSU dự phòng, late fusion Bayes và trợ lý VQA RAG.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6" name="Oval 15"/>
          <p:cNvSpPr/>
          <p:nvPr>
            <p:custDataLst>
              <p:tags r:id="rId7"/>
            </p:custDataLst>
          </p:nvPr>
        </p:nvSpPr>
        <p:spPr>
          <a:xfrm>
            <a:off x="3575050" y="431038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04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3" name="TextBox 112"/>
          <p:cNvSpPr txBox="1"/>
          <p:nvPr>
            <p:custDataLst>
              <p:tags r:id="rId8"/>
            </p:custDataLst>
          </p:nvPr>
        </p:nvSpPr>
        <p:spPr>
          <a:xfrm>
            <a:off x="4338955" y="4293235"/>
            <a:ext cx="815086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4: Thiết Kế CSDL &amp; Bảo Mật EHR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Cấu tr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ú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 Firestore ph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â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n cấp, ẩn danh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dữ liệu và song song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đ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luồng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.</a:t>
            </a:r>
            <a:endParaRPr lang="en-US" altLang="en-GB"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15" name="Oval 114"/>
          <p:cNvSpPr/>
          <p:nvPr>
            <p:custDataLst>
              <p:tags r:id="rId9"/>
            </p:custDataLst>
          </p:nvPr>
        </p:nvSpPr>
        <p:spPr>
          <a:xfrm>
            <a:off x="3575050" y="536194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05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7" name="TextBox 115"/>
          <p:cNvSpPr txBox="1"/>
          <p:nvPr>
            <p:custDataLst>
              <p:tags r:id="rId10"/>
            </p:custDataLst>
          </p:nvPr>
        </p:nvSpPr>
        <p:spPr>
          <a:xfrm>
            <a:off x="4306570" y="5373370"/>
            <a:ext cx="700722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5:</a:t>
            </a:r>
            <a:r>
              <a:rPr lang="en-US" sz="2400">
                <a:solidFill>
                  <a:srgbClr val="990000">
                    <a:alpha val="20000"/>
                  </a:srgbClr>
                </a:solidFill>
              </a:rPr>
              <a:t> </a:t>
            </a:r>
            <a:r>
              <a:rPr sz="2400">
                <a:solidFill>
                  <a:srgbClr val="990000">
                    <a:alpha val="20000"/>
                  </a:srgbClr>
                </a:solidFill>
              </a:rPr>
              <a:t>Kết Quả Thử Nghiệm &amp; Kết Luận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Đánh giá độ chính xác, thời gian trễ và đóng góp thực tế.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1: ĐẶT VẤN ĐỀ &amp; MỤC TIÊU ĐỀ TÀI</a:t>
            </a:r>
            <a:endParaRPr>
              <a:latin typeface="+mj-lt"/>
              <a:cs typeface="+mj-lt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5221605" cy="35306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ym typeface="+mn-ea"/>
              </a:rPr>
              <a:t>ĐẶT VẤN ĐỀ &amp; TÍNH CẤP THIẾT</a:t>
            </a:r>
            <a:endParaRPr lang="en-GB" altLang="en-US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479425" y="1484630"/>
            <a:ext cx="10500360" cy="2471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latin typeface="+mn-lt"/>
                <a:cs typeface="+mn-lt"/>
              </a:rPr>
              <a:t>Gánh nặng bệnh ác tính</a:t>
            </a:r>
            <a:r>
              <a:rPr sz="2000">
                <a:solidFill>
                  <a:srgbClr val="1E293B"/>
                </a:solidFill>
                <a:latin typeface="+mn-lt"/>
                <a:cs typeface="+mn-lt"/>
              </a:rPr>
              <a:t>: Các bệnh ung thư hắc tố (Melanoma, BCC) tăng trưởng nhanh. Chẩn đoán và điều trị sớm 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</a:rPr>
              <a:t>đ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</a:rPr>
              <a:t>ó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</a:rPr>
              <a:t>ng vai tr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</a:rPr>
              <a:t>ò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</a:rPr>
              <a:t> quan trọng trong việc t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</a:rPr>
              <a:t>ă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</a:rPr>
              <a:t>ng tỷ lệ sống s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</a:rPr>
              <a:t>ó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</a:rPr>
              <a:t>t</a:t>
            </a:r>
            <a:r>
              <a:rPr sz="2000">
                <a:solidFill>
                  <a:srgbClr val="1E293B"/>
                </a:solidFill>
                <a:latin typeface="+mn-lt"/>
                <a:cs typeface="+mn-lt"/>
              </a:rPr>
              <a:t> trên </a:t>
            </a:r>
            <a:r>
              <a:rPr sz="2000" b="1">
                <a:solidFill>
                  <a:srgbClr val="990000"/>
                </a:solidFill>
                <a:latin typeface="+mn-lt"/>
                <a:cs typeface="+mn-lt"/>
              </a:rPr>
              <a:t>95%</a:t>
            </a:r>
            <a:r>
              <a:rPr sz="2000">
                <a:solidFill>
                  <a:srgbClr val="1E293B"/>
                </a:solidFill>
                <a:latin typeface="+mn-lt"/>
                <a:cs typeface="+mn-lt"/>
              </a:rPr>
              <a:t>.</a:t>
            </a:r>
            <a:endParaRPr sz="2000">
              <a:solidFill>
                <a:srgbClr val="1E293B"/>
              </a:solidFill>
              <a:latin typeface="+mn-lt"/>
              <a:cs typeface="+mn-lt"/>
            </a:endParaRPr>
          </a:p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latin typeface="+mn-lt"/>
                <a:cs typeface="+mn-lt"/>
              </a:rPr>
              <a:t>Thực trạng tuyến cơ sở</a:t>
            </a:r>
            <a:r>
              <a:rPr sz="2000">
                <a:solidFill>
                  <a:srgbClr val="1E293B"/>
                </a:solidFill>
                <a:latin typeface="+mn-lt"/>
                <a:cs typeface="+mn-lt"/>
              </a:rPr>
              <a:t>: Thiếu hụt nghiêm trọng bác sĩ chuyên khoa sâu và các thiết bị soi chuyên dụng ở tuyến huyện, xã.</a:t>
            </a:r>
            <a:endParaRPr sz="2000">
              <a:solidFill>
                <a:srgbClr val="1E293B"/>
              </a:solidFill>
              <a:latin typeface="+mn-lt"/>
              <a:cs typeface="+mn-lt"/>
            </a:endParaRPr>
          </a:p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latin typeface="+mn-lt"/>
                <a:cs typeface="+mn-lt"/>
              </a:rPr>
              <a:t>Giới hạn của mô hình AI cũ</a:t>
            </a:r>
            <a:r>
              <a:rPr sz="2000">
                <a:solidFill>
                  <a:srgbClr val="1E293B"/>
                </a:solidFill>
                <a:latin typeface="+mn-lt"/>
                <a:cs typeface="+mn-lt"/>
              </a:rPr>
              <a:t>: Hầu hết là mô hình Black-box không có giải thích lâm sàng, </a:t>
            </a:r>
            <a:r>
              <a:rPr lang="en-US" sz="2000">
                <a:solidFill>
                  <a:srgbClr val="1E293B"/>
                </a:solidFill>
                <a:latin typeface="+mn-lt"/>
                <a:cs typeface="+mn-lt"/>
              </a:rPr>
              <a:t>chỉ dùng một loại dữ liệu ảnh</a:t>
            </a:r>
            <a:r>
              <a:rPr sz="2000">
                <a:solidFill>
                  <a:srgbClr val="1E293B"/>
                </a:solidFill>
                <a:latin typeface="+mn-lt"/>
                <a:cs typeface="+mn-lt"/>
              </a:rPr>
              <a:t> và có nguy cơ rò rỉ dữ liệu qua Cloud API công cộng.</a:t>
            </a:r>
            <a:endParaRPr sz="2000">
              <a:solidFill>
                <a:srgbClr val="1E293B"/>
              </a:solidFill>
              <a:latin typeface="+mn-lt"/>
              <a:cs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1: ĐẶT VẤN ĐỀ &amp; MỤC TIÊU ĐỀ TÀI</a:t>
            </a:r>
            <a:endParaRPr>
              <a:latin typeface="+mj-lt"/>
              <a:cs typeface="+mj-lt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5221605" cy="35306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ym typeface="+mn-ea"/>
              </a:rPr>
              <a:t>ĐỐI TƯỢNG &amp; MỤC TIÊU ĐỀ TÀI</a:t>
            </a:r>
            <a:endParaRPr lang="en-GB" altLang="en-US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48640" y="1412875"/>
            <a:ext cx="8114030" cy="3179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Đối tượng nghiên cứu</a:t>
            </a:r>
            <a:r>
              <a:rPr sz="2000">
                <a:solidFill>
                  <a:srgbClr val="1E293B"/>
                </a:solidFill>
                <a:sym typeface="+mn-ea"/>
              </a:rPr>
              <a:t>: 7 lớp bệnh da liễu phổ biến (HAM10000: AKIEC, BCC, BKL, DF, MEL, NV, VASC). Dữ liệu ảnh da RGB thường/DICOM và demographics bệnh nhân.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Đối tượng thụ hưởng</a:t>
            </a:r>
            <a:r>
              <a:rPr sz="2000">
                <a:solidFill>
                  <a:srgbClr val="1E293B"/>
                </a:solidFill>
                <a:sym typeface="+mn-ea"/>
              </a:rPr>
              <a:t>: Bác sĩ đa khoa tại phòng khám, trạm y tế tuyến cơ sở.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Mục tiêu đồ án</a:t>
            </a:r>
            <a:r>
              <a:rPr sz="2000">
                <a:solidFill>
                  <a:srgbClr val="1E293B"/>
                </a:solidFill>
                <a:sym typeface="+mn-ea"/>
              </a:rPr>
              <a:t>: Xây dựng hệ thống CDSS đa phương thức toàn diện giúp chẩn đoán chính xác, biện giải minh bạch (ABCD, Grad-CAM), hỗ trợ offline và quản lý EHR bảo mật.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120" name="Picture 119" descr="ham10000_classes_178344517937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8215" y="1243330"/>
            <a:ext cx="3613785" cy="36137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1: ĐẶT VẤN ĐỀ &amp; MỤC TIÊU ĐỀ TÀI</a:t>
            </a:r>
            <a:endParaRPr>
              <a:latin typeface="+mj-lt"/>
              <a:cs typeface="+mj-lt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193915" cy="35306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ym typeface="+mn-ea"/>
              </a:rPr>
              <a:t>Đ</a:t>
            </a:r>
            <a:r>
              <a:rPr lang="en-US" sz="2400">
                <a:sym typeface="+mn-ea"/>
              </a:rPr>
              <a:t>IỂM MỚI SO VỚI CÁC GIẢI PHÁP HIỆN CÓ</a:t>
            </a:r>
            <a:endParaRPr lang="en-US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51180" y="1004570"/>
            <a:ext cx="11351260" cy="1763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 b="1">
                <a:solidFill>
                  <a:srgbClr val="990000"/>
                </a:solidFill>
                <a:sym typeface="+mn-ea"/>
              </a:rPr>
              <a:t>C</a:t>
            </a:r>
            <a:r>
              <a:rPr lang="en-US" altLang="en-US" sz="2000" b="1">
                <a:solidFill>
                  <a:srgbClr val="990000"/>
                </a:solidFill>
                <a:sym typeface="+mn-ea"/>
              </a:rPr>
              <a:t>á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c ứng dụng đã có (SkinVision / Google DermAssist): </a:t>
            </a:r>
            <a:endParaRPr lang="en-US" altLang="en-GB" sz="2000" b="1">
              <a:solidFill>
                <a:srgbClr val="990000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chemeClr val="tx1"/>
                </a:solidFill>
                <a:sym typeface="+mn-ea"/>
              </a:rPr>
              <a:t>- Ph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â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loại ảnh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ph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ư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thức, b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ắt buộc phải có kết nối mạng</a:t>
            </a:r>
            <a:endParaRPr lang="en-US" altLang="en-GB" sz="2000">
              <a:solidFill>
                <a:schemeClr val="tx1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chemeClr val="tx1"/>
                </a:solidFill>
                <a:sym typeface="+mn-ea"/>
              </a:rPr>
              <a:t>- Hộp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en — chỉ trả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iểm rủi ro (SkinVision) hoặc danh 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ch bệnh gợi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ý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 (DermAssist), không hiển thị v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ù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tổn th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ư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hay 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ă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cứ.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3083560" y="2637155"/>
            <a:ext cx="6287135" cy="34042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1: ĐẶT VẤN ĐỀ &amp; MỤC TIÊU ĐỀ TÀI</a:t>
            </a:r>
            <a:endParaRPr>
              <a:latin typeface="+mj-lt"/>
              <a:cs typeface="+mj-lt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193915" cy="35306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ym typeface="+mn-ea"/>
              </a:rPr>
              <a:t>Đ</a:t>
            </a:r>
            <a:r>
              <a:rPr lang="en-US" sz="2400">
                <a:sym typeface="+mn-ea"/>
              </a:rPr>
              <a:t>IỂM MỚI SO VỚI CÁC GIẢI PHÁP HIỆN CÓ</a:t>
            </a:r>
            <a:endParaRPr lang="en-US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51180" y="1004570"/>
            <a:ext cx="11351260" cy="1763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 b="1">
                <a:solidFill>
                  <a:srgbClr val="990000"/>
                </a:solidFill>
                <a:sym typeface="+mn-ea"/>
              </a:rPr>
              <a:t>C</a:t>
            </a:r>
            <a:r>
              <a:rPr lang="en-US" altLang="en-US" sz="2000" b="1">
                <a:solidFill>
                  <a:srgbClr val="990000"/>
                </a:solidFill>
                <a:sym typeface="+mn-ea"/>
              </a:rPr>
              <a:t>á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c ứng dụng đã có (SkinVision / Google DermAssist): </a:t>
            </a:r>
            <a:endParaRPr lang="en-US" altLang="en-GB" sz="2000" b="1">
              <a:solidFill>
                <a:srgbClr val="990000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chemeClr val="tx1"/>
                </a:solidFill>
                <a:sym typeface="+mn-ea"/>
              </a:rPr>
              <a:t>- Ph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â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loại ảnh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ph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ư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thức, b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ắt buộc phải có kết nối mạng</a:t>
            </a:r>
            <a:endParaRPr lang="en-US" altLang="en-GB" sz="2000">
              <a:solidFill>
                <a:schemeClr val="tx1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chemeClr val="tx1"/>
                </a:solidFill>
                <a:sym typeface="+mn-ea"/>
              </a:rPr>
              <a:t>- Hộp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en — chỉ trả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iểm rủi ro (SkinVision) hoặc danh 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ch bệnh gợi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ý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 (DermAssist), không hiển thị v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ù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tổn th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ư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hay 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ă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cứ.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6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3348355" y="2637155"/>
            <a:ext cx="5808345" cy="3618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1: ĐẶT VẤN ĐỀ &amp; MỤC TIÊU ĐỀ TÀI</a:t>
            </a:r>
            <a:endParaRPr>
              <a:latin typeface="+mj-lt"/>
              <a:cs typeface="+mj-lt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193915" cy="35306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ym typeface="+mn-ea"/>
              </a:rPr>
              <a:t>Đ</a:t>
            </a:r>
            <a:r>
              <a:rPr lang="en-US" sz="2400">
                <a:sym typeface="+mn-ea"/>
              </a:rPr>
              <a:t>IỂM MỚI SO VỚI CÁC GIẢI PHÁP HIỆN CÓ</a:t>
            </a:r>
            <a:endParaRPr lang="en-US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51180" y="1196975"/>
            <a:ext cx="11351260" cy="3081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 b="1">
                <a:solidFill>
                  <a:srgbClr val="990000"/>
                </a:solidFill>
                <a:sym typeface="+mn-ea"/>
              </a:rPr>
              <a:t>C</a:t>
            </a:r>
            <a:r>
              <a:rPr lang="en-US" altLang="en-US" sz="2000" b="1">
                <a:solidFill>
                  <a:srgbClr val="990000"/>
                </a:solidFill>
                <a:sym typeface="+mn-ea"/>
              </a:rPr>
              <a:t>á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c ứng dụng đã có (SkinVision / Google DermAssist): </a:t>
            </a:r>
            <a:endParaRPr lang="en-US" altLang="en-GB" sz="2000" b="1">
              <a:solidFill>
                <a:srgbClr val="990000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chemeClr val="tx1"/>
                </a:solidFill>
                <a:sym typeface="+mn-ea"/>
              </a:rPr>
              <a:t>- Ph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â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loại ảnh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ph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ư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thức, b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ắt buộc phải có kết nối mạng</a:t>
            </a:r>
            <a:endParaRPr lang="en-US" altLang="en-GB" sz="2000">
              <a:solidFill>
                <a:schemeClr val="tx1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chemeClr val="tx1"/>
                </a:solidFill>
                <a:sym typeface="+mn-ea"/>
              </a:rPr>
              <a:t>- Hộp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en — chỉ trả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đ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iểm rủi ro (SkinVision) hoặc danh 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ch bệnh gợi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ý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 (DermAssist), không hiển thị v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ù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tổn th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ư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ơ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ng hay 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ă</a:t>
            </a:r>
            <a:r>
              <a:rPr lang="en-US" altLang="en-GB" sz="2000">
                <a:solidFill>
                  <a:schemeClr val="tx1"/>
                </a:solidFill>
                <a:sym typeface="+mn-ea"/>
              </a:rPr>
              <a:t>n cứ.</a:t>
            </a:r>
            <a:endParaRPr lang="en-US" altLang="en-GB" sz="2000">
              <a:solidFill>
                <a:schemeClr val="tx1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endParaRPr lang="en-US" altLang="en-US" sz="2000" b="1">
              <a:solidFill>
                <a:srgbClr val="990000"/>
              </a:solidFill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US" sz="2000" b="1">
                <a:solidFill>
                  <a:srgbClr val="990000"/>
                </a:solidFill>
                <a:sym typeface="+mn-ea"/>
              </a:rPr>
              <a:t>Đ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ồ </a:t>
            </a:r>
            <a:r>
              <a:rPr lang="en-US" altLang="en-US" sz="2000" b="1">
                <a:solidFill>
                  <a:srgbClr val="990000"/>
                </a:solidFill>
                <a:sym typeface="+mn-ea"/>
              </a:rPr>
              <a:t>á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n khắc phục bằng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: chỉ số ABCD + Grad-CAM minh bạch, hợp nhất x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c suất ảnh với dịch tễ (tuổi/giới/vị tr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), nh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nh VQA có thể chạy offline hoàn toàn tr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ê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 CPU.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NỘI DUNG TRÌNH BÀY</a:t>
            </a:r>
            <a:endParaRPr>
              <a:latin typeface="+mj-lt"/>
              <a:cs typeface="+mj-lt"/>
            </a:endParaRPr>
          </a:p>
        </p:txBody>
      </p:sp>
      <p:sp>
        <p:nvSpPr>
          <p:cNvPr id="102" name="Google Shape;102;p4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31520" y="2011680"/>
            <a:ext cx="2715895" cy="260794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990000"/>
                </a:solidFill>
                <a:latin typeface="Arial" panose="020B0604020202020204"/>
              </a:defRPr>
            </a:pPr>
            <a:r>
              <a:t>MỤC</a:t>
            </a:r>
            <a:r>
              <a:rPr lang="en-US"/>
              <a:t> </a:t>
            </a:r>
            <a:r>
              <a:t>LỤC</a:t>
            </a:r>
            <a:endParaRPr sz="3200"/>
          </a:p>
        </p:txBody>
      </p:sp>
      <p:sp>
        <p:nvSpPr>
          <p:cNvPr id="8" name="Oval 7"/>
          <p:cNvSpPr/>
          <p:nvPr/>
        </p:nvSpPr>
        <p:spPr>
          <a:xfrm>
            <a:off x="251460" y="14630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53035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20" y="11887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39695" y="4754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" y="310896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>
            <p:custDataLst>
              <p:tags r:id="rId1"/>
            </p:custDataLst>
          </p:nvPr>
        </p:nvSpPr>
        <p:spPr>
          <a:xfrm>
            <a:off x="3575050" y="115570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01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4" name="TextBox 103"/>
          <p:cNvSpPr txBox="1"/>
          <p:nvPr>
            <p:custDataLst>
              <p:tags r:id="rId2"/>
            </p:custDataLst>
          </p:nvPr>
        </p:nvSpPr>
        <p:spPr>
          <a:xfrm>
            <a:off x="4306570" y="1174750"/>
            <a:ext cx="757110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1: Đặt Vấn Đề &amp; Mục Tiêu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Tính cấp thiết của chẩn đoán sớm và các mục tiêu nghiên cứu cốt lõi của đề tài.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4" name="Oval 13"/>
          <p:cNvSpPr/>
          <p:nvPr>
            <p:custDataLst>
              <p:tags r:id="rId3"/>
            </p:custDataLst>
          </p:nvPr>
        </p:nvSpPr>
        <p:spPr>
          <a:xfrm>
            <a:off x="3575050" y="220726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02</a:t>
            </a:r>
            <a:endParaRPr sz="2400"/>
          </a:p>
        </p:txBody>
      </p:sp>
      <p:sp>
        <p:nvSpPr>
          <p:cNvPr id="107" name="TextBox 106"/>
          <p:cNvSpPr txBox="1"/>
          <p:nvPr>
            <p:custDataLst>
              <p:tags r:id="rId4"/>
            </p:custDataLst>
          </p:nvPr>
        </p:nvSpPr>
        <p:spPr>
          <a:xfrm>
            <a:off x="4306570" y="2216785"/>
            <a:ext cx="722249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2: Phân Tích &amp; Thiết Kế Hệ Thống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Thiết kế luồng xử lý song song, bộ lọc Safety Gate và các biểu đồ Use Case.</a:t>
            </a:r>
            <a:endParaRPr sz="1600"/>
          </a:p>
        </p:txBody>
      </p:sp>
      <p:sp>
        <p:nvSpPr>
          <p:cNvPr id="15" name="Oval 14"/>
          <p:cNvSpPr/>
          <p:nvPr>
            <p:custDataLst>
              <p:tags r:id="rId5"/>
            </p:custDataLst>
          </p:nvPr>
        </p:nvSpPr>
        <p:spPr>
          <a:xfrm>
            <a:off x="3575050" y="325882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03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0" name="TextBox 109"/>
          <p:cNvSpPr txBox="1"/>
          <p:nvPr>
            <p:custDataLst>
              <p:tags r:id="rId6"/>
            </p:custDataLst>
          </p:nvPr>
        </p:nvSpPr>
        <p:spPr>
          <a:xfrm>
            <a:off x="4338955" y="3284855"/>
            <a:ext cx="791654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3: Thuật Toán &amp; Giải Thuật Nâng Cấp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SAM + GrabCut tương tác, OTSU dự phòng, late fusion Bayes và trợ lý VQA RAG.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6" name="Oval 15"/>
          <p:cNvSpPr/>
          <p:nvPr>
            <p:custDataLst>
              <p:tags r:id="rId7"/>
            </p:custDataLst>
          </p:nvPr>
        </p:nvSpPr>
        <p:spPr>
          <a:xfrm>
            <a:off x="3575050" y="431038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04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3" name="TextBox 112"/>
          <p:cNvSpPr txBox="1"/>
          <p:nvPr>
            <p:custDataLst>
              <p:tags r:id="rId8"/>
            </p:custDataLst>
          </p:nvPr>
        </p:nvSpPr>
        <p:spPr>
          <a:xfrm>
            <a:off x="4338955" y="4293235"/>
            <a:ext cx="815086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4: Thiết Kế CSDL &amp; Bảo Mật EHR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Cấu tr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ú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 Firestore ph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â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n cấp, ẩn danh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dữ liệu và song song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đ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luồng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.</a:t>
            </a:r>
            <a:endParaRPr lang="en-US" altLang="en-GB"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15" name="Oval 114"/>
          <p:cNvSpPr/>
          <p:nvPr>
            <p:custDataLst>
              <p:tags r:id="rId9"/>
            </p:custDataLst>
          </p:nvPr>
        </p:nvSpPr>
        <p:spPr>
          <a:xfrm>
            <a:off x="3575050" y="536194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05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7" name="TextBox 115"/>
          <p:cNvSpPr txBox="1"/>
          <p:nvPr>
            <p:custDataLst>
              <p:tags r:id="rId10"/>
            </p:custDataLst>
          </p:nvPr>
        </p:nvSpPr>
        <p:spPr>
          <a:xfrm>
            <a:off x="4306570" y="5373370"/>
            <a:ext cx="700722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5: Kết Quả Thử Nghiệm &amp; Kết Luận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Đánh giá độ chính xác, thời gian trễ và đóng góp thực tế.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2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PHÂN TÍCH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THIẾT KẾ HỆ THỐNG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6555105" cy="33718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ym typeface="+mn-ea"/>
              </a:rPr>
              <a:t>KIẾN TRÚC TỔNG QUAN HỆ THỐNG</a:t>
            </a:r>
            <a:endParaRPr lang="en-GB" altLang="en-US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47625" y="1207135"/>
            <a:ext cx="12281535" cy="927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Phân luồng song song độc lập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2 nh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nh Ph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oạn &amp; Ph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loại chạy t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ch biệt, tr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nh nhiễu ch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é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o dữ liệu.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Bộ lọc Safety Gate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nh gi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 diện t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ch/bi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ê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n mặt nạ +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ộ tin cậy ph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n loại, ng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ỡng th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ch ứng theo loại ảnh.</a:t>
            </a:r>
            <a:endParaRPr lang="en-US" altLang="en-GB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1" name="Picture 0" descr="Screenshot 2026-07-20 0953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18025" y="2709545"/>
            <a:ext cx="7501255" cy="3799840"/>
          </a:xfrm>
          <a:prstGeom prst="rect">
            <a:avLst/>
          </a:prstGeom>
        </p:spPr>
      </p:pic>
      <p:sp>
        <p:nvSpPr>
          <p:cNvPr id="3" name="TextBox 111"/>
          <p:cNvSpPr txBox="1"/>
          <p:nvPr/>
        </p:nvSpPr>
        <p:spPr>
          <a:xfrm>
            <a:off x="119380" y="2204720"/>
            <a:ext cx="12022455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Hợp nhất Bayes &amp; VQA</a:t>
            </a:r>
            <a:r>
              <a:rPr sz="2000">
                <a:solidFill>
                  <a:srgbClr val="1E293B"/>
                </a:solidFill>
                <a:sym typeface="+mn-ea"/>
              </a:rPr>
              <a:t>: Late Fusion Bayes kết hợp kết quả vision với demographics, đưa vào trợ lý đàm thoại VQA RAG.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2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PHÂN TÍCH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THIẾT KẾ HỆ THỐNG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6555105" cy="33718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ym typeface="+mn-ea"/>
              </a:rPr>
              <a:t>KIẾN TRÚC TỔNG QUAN HỆ THỐNG</a:t>
            </a:r>
            <a:endParaRPr lang="en-GB" altLang="en-US" sz="2400">
              <a:sym typeface="+mn-ea"/>
            </a:endParaRPr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1271270" y="1076325"/>
            <a:ext cx="9591675" cy="52609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2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PHÂN TÍCH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THIẾT KẾ HỆ THỐNG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07670" y="781685"/>
            <a:ext cx="6555105" cy="33718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PH</a:t>
            </a:r>
            <a:r>
              <a:rPr lang="en-US" altLang="en-US" sz="2400">
                <a:sym typeface="+mn-ea"/>
              </a:rPr>
              <a:t>Â</a:t>
            </a:r>
            <a:r>
              <a:rPr lang="en-US" altLang="en-GB" sz="2400">
                <a:sym typeface="+mn-ea"/>
              </a:rPr>
              <a:t>N T</a:t>
            </a:r>
            <a:r>
              <a:rPr lang="en-US" altLang="en-US" sz="2400">
                <a:sym typeface="+mn-ea"/>
              </a:rPr>
              <a:t>Í</a:t>
            </a:r>
            <a:r>
              <a:rPr lang="en-US" altLang="en-GB" sz="2400">
                <a:sym typeface="+mn-ea"/>
              </a:rPr>
              <a:t>CH CHỨC N</a:t>
            </a:r>
            <a:r>
              <a:rPr lang="en-US" altLang="en-US" sz="2400">
                <a:sym typeface="+mn-ea"/>
              </a:rPr>
              <a:t>Ă</a:t>
            </a:r>
            <a:r>
              <a:rPr lang="en-US" altLang="en-GB" sz="2400">
                <a:sym typeface="+mn-ea"/>
              </a:rPr>
              <a:t>NG HỆ THỐNG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00660" y="1412875"/>
            <a:ext cx="11698605" cy="2471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Giao diện đơn nhân (Single-user)</a:t>
            </a:r>
            <a:r>
              <a:rPr sz="2000">
                <a:solidFill>
                  <a:srgbClr val="1E293B"/>
                </a:solidFill>
                <a:sym typeface="+mn-ea"/>
              </a:rPr>
              <a:t>: Hệ thống tối giản hóa quy trình sử dụng cho bác sĩ lâm sàng cơ sở, không yêu cầu đăng nhập phức tạp.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Nghiệp vụ Chẩn đoán</a:t>
            </a:r>
            <a:r>
              <a:rPr sz="2000">
                <a:solidFill>
                  <a:srgbClr val="1E293B"/>
                </a:solidFill>
                <a:sym typeface="+mn-ea"/>
              </a:rPr>
              <a:t>: Tải ảnh chụp/DICOM, cấu hình cổng Safety Gate, vẽ mồi phân đoạn tổn thương SAM, đo đạc ABCD và late fusion Bayes.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Nghiệp vụ Tham vấn &amp; Quản lý</a:t>
            </a:r>
            <a:r>
              <a:rPr sz="2000">
                <a:solidFill>
                  <a:srgbClr val="1E293B"/>
                </a:solidFill>
                <a:sym typeface="+mn-ea"/>
              </a:rPr>
              <a:t>: Hỏi đáp VQA y văn offline, đồng bộ hóa bệnh án EHR và trích xuất báo cáo PDF bệnh lý.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119380" y="3884295"/>
            <a:ext cx="12021185" cy="21456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NỘI DUNG TRÌNH BÀY</a:t>
            </a:r>
            <a:endParaRPr>
              <a:latin typeface="+mj-lt"/>
              <a:cs typeface="+mj-lt"/>
            </a:endParaRPr>
          </a:p>
        </p:txBody>
      </p:sp>
      <p:sp>
        <p:nvSpPr>
          <p:cNvPr id="102" name="Google Shape;102;p4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31520" y="2011680"/>
            <a:ext cx="2715895" cy="260794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990000"/>
                </a:solidFill>
                <a:latin typeface="Arial" panose="020B0604020202020204"/>
              </a:defRPr>
            </a:pPr>
            <a:r>
              <a:t>MỤC</a:t>
            </a:r>
            <a:r>
              <a:rPr lang="en-US"/>
              <a:t> </a:t>
            </a:r>
            <a:r>
              <a:t>LỤC</a:t>
            </a:r>
            <a:endParaRPr sz="3200"/>
          </a:p>
        </p:txBody>
      </p:sp>
      <p:sp>
        <p:nvSpPr>
          <p:cNvPr id="8" name="Oval 7"/>
          <p:cNvSpPr/>
          <p:nvPr/>
        </p:nvSpPr>
        <p:spPr>
          <a:xfrm>
            <a:off x="251460" y="14630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53035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20" y="11887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39695" y="4754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" y="310896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>
            <p:custDataLst>
              <p:tags r:id="rId1"/>
            </p:custDataLst>
          </p:nvPr>
        </p:nvSpPr>
        <p:spPr>
          <a:xfrm>
            <a:off x="3575050" y="115570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01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4" name="TextBox 103"/>
          <p:cNvSpPr txBox="1"/>
          <p:nvPr>
            <p:custDataLst>
              <p:tags r:id="rId2"/>
            </p:custDataLst>
          </p:nvPr>
        </p:nvSpPr>
        <p:spPr>
          <a:xfrm>
            <a:off x="4306570" y="1174750"/>
            <a:ext cx="757110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1: Đặt Vấn Đề &amp; Mục Tiêu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Tính cấp thiết của chẩn đoán sớm và các mục tiêu nghiên cứu cốt lõi của đề tài.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4" name="Oval 13"/>
          <p:cNvSpPr/>
          <p:nvPr>
            <p:custDataLst>
              <p:tags r:id="rId3"/>
            </p:custDataLst>
          </p:nvPr>
        </p:nvSpPr>
        <p:spPr>
          <a:xfrm>
            <a:off x="3575050" y="220726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02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7" name="TextBox 106"/>
          <p:cNvSpPr txBox="1"/>
          <p:nvPr>
            <p:custDataLst>
              <p:tags r:id="rId4"/>
            </p:custDataLst>
          </p:nvPr>
        </p:nvSpPr>
        <p:spPr>
          <a:xfrm>
            <a:off x="4306570" y="2216785"/>
            <a:ext cx="722249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2: Phân Tích &amp; Thiết Kế Hệ Thống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Thiết kế luồng xử lý song song, bộ lọc Safety Gate và các biểu đồ Use Case.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5" name="Oval 14"/>
          <p:cNvSpPr/>
          <p:nvPr>
            <p:custDataLst>
              <p:tags r:id="rId5"/>
            </p:custDataLst>
          </p:nvPr>
        </p:nvSpPr>
        <p:spPr>
          <a:xfrm>
            <a:off x="3575050" y="325882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03</a:t>
            </a:r>
            <a:endParaRPr sz="2400"/>
          </a:p>
        </p:txBody>
      </p:sp>
      <p:sp>
        <p:nvSpPr>
          <p:cNvPr id="110" name="TextBox 109"/>
          <p:cNvSpPr txBox="1"/>
          <p:nvPr>
            <p:custDataLst>
              <p:tags r:id="rId6"/>
            </p:custDataLst>
          </p:nvPr>
        </p:nvSpPr>
        <p:spPr>
          <a:xfrm>
            <a:off x="4338955" y="3284855"/>
            <a:ext cx="791654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3: Thuật Toán &amp; Giải Thuật Nâng Cấp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SAM + GrabCut tương tác, OTSU dự phòng, late fusion Bayes và trợ lý VQA RAG.</a:t>
            </a:r>
            <a:endParaRPr sz="1600"/>
          </a:p>
        </p:txBody>
      </p:sp>
      <p:sp>
        <p:nvSpPr>
          <p:cNvPr id="16" name="Oval 15"/>
          <p:cNvSpPr/>
          <p:nvPr>
            <p:custDataLst>
              <p:tags r:id="rId7"/>
            </p:custDataLst>
          </p:nvPr>
        </p:nvSpPr>
        <p:spPr>
          <a:xfrm>
            <a:off x="3575050" y="431038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04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3" name="TextBox 112"/>
          <p:cNvSpPr txBox="1"/>
          <p:nvPr>
            <p:custDataLst>
              <p:tags r:id="rId8"/>
            </p:custDataLst>
          </p:nvPr>
        </p:nvSpPr>
        <p:spPr>
          <a:xfrm>
            <a:off x="4338955" y="4293235"/>
            <a:ext cx="815086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4: Thiết Kế CSDL &amp; Bảo Mật EHR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Cấu tr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ú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 Firestore ph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â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n cấp, ẩn danh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dữ liệu và song song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đ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luồng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.</a:t>
            </a:r>
            <a:endParaRPr lang="en-US" altLang="en-GB"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15" name="Oval 114"/>
          <p:cNvSpPr/>
          <p:nvPr>
            <p:custDataLst>
              <p:tags r:id="rId9"/>
            </p:custDataLst>
          </p:nvPr>
        </p:nvSpPr>
        <p:spPr>
          <a:xfrm>
            <a:off x="3575050" y="536194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05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7" name="TextBox 115"/>
          <p:cNvSpPr txBox="1"/>
          <p:nvPr>
            <p:custDataLst>
              <p:tags r:id="rId10"/>
            </p:custDataLst>
          </p:nvPr>
        </p:nvSpPr>
        <p:spPr>
          <a:xfrm>
            <a:off x="4306570" y="5373370"/>
            <a:ext cx="700722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5: Kết Quả Thử Nghiệm &amp; Kết Luận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Đánh giá độ chính xác, thời gian trễ và đóng góp thực tế.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6555105" cy="33718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GIẢI THUẬT PH</a:t>
            </a:r>
            <a:r>
              <a:rPr lang="en-US" altLang="en-US" sz="2400">
                <a:sym typeface="+mn-ea"/>
              </a:rPr>
              <a:t>Â</a:t>
            </a:r>
            <a:r>
              <a:rPr lang="en-US" altLang="en-GB" sz="2400">
                <a:sym typeface="+mn-ea"/>
              </a:rPr>
              <a:t>N </a:t>
            </a:r>
            <a:r>
              <a:rPr lang="en-US" altLang="en-US" sz="2400">
                <a:sym typeface="+mn-ea"/>
              </a:rPr>
              <a:t>Đ</a:t>
            </a:r>
            <a:r>
              <a:rPr lang="en-US" altLang="en-GB" sz="2400">
                <a:sym typeface="+mn-ea"/>
              </a:rPr>
              <a:t>OẠN TỔN TH</a:t>
            </a:r>
            <a:r>
              <a:rPr lang="en-US" altLang="en-US" sz="2400">
                <a:sym typeface="+mn-ea"/>
              </a:rPr>
              <a:t>ƯƠ</a:t>
            </a:r>
            <a:r>
              <a:rPr lang="en-US" altLang="en-GB" sz="2400">
                <a:sym typeface="+mn-ea"/>
              </a:rPr>
              <a:t>NG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191135" y="1196340"/>
            <a:ext cx="1191387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Phân đoạn tự động</a:t>
            </a:r>
            <a:r>
              <a:rPr sz="2000">
                <a:solidFill>
                  <a:srgbClr val="1E293B"/>
                </a:solidFill>
                <a:sym typeface="+mn-ea"/>
              </a:rPr>
              <a:t>: Sử dụng mạng DeepLabV3+ (ResNet50) và Multi-scale TTA ({1.0, 0.75, 0.5}) 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cải thiện IoU trung b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ì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nh khoảng 0.6 tr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ê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 tập ISIC 390 ảnh, thắng tr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ê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 217/390 ảnh kiểm thử </a:t>
            </a:r>
            <a:r>
              <a:rPr sz="2000">
                <a:solidFill>
                  <a:srgbClr val="1E293B"/>
                </a:solidFill>
                <a:sym typeface="+mn-ea"/>
              </a:rPr>
              <a:t>phân đoạn.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GrabCut tương tác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sz="2000">
                <a:solidFill>
                  <a:srgbClr val="1E293B"/>
                </a:solidFill>
                <a:sym typeface="+mn-ea"/>
              </a:rPr>
              <a:t>K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hởi tạo từ mặt nạ mồi theo 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iểm click b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c s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ĩ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.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OTSU dự phòng y khoa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sz="2000">
                <a:solidFill>
                  <a:srgbClr val="1E293B"/>
                </a:solidFill>
                <a:sym typeface="+mn-ea"/>
              </a:rPr>
              <a:t>F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allback </a:t>
            </a:r>
            <a:r>
              <a:rPr sz="2000">
                <a:solidFill>
                  <a:srgbClr val="1E293B"/>
                </a:solidFill>
                <a:sym typeface="+mn-ea"/>
              </a:rPr>
              <a:t>về bộ lọc OTSU nghịch đảo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 khi model ch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nh lỗi (mặt nạ rỗng), giảm rủi ro </a:t>
            </a:r>
            <a:r>
              <a:rPr lang="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o </a:t>
            </a:r>
            <a:r>
              <a:rPr lang="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ạc thất bại.</a:t>
            </a:r>
            <a:r>
              <a:rPr sz="2000">
                <a:solidFill>
                  <a:srgbClr val="1E293B"/>
                </a:solidFill>
                <a:sym typeface="+mn-ea"/>
              </a:rPr>
              <a:t> 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142" name="Picture 141" descr="seg_comparis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" y="3490595"/>
            <a:ext cx="5114925" cy="3288665"/>
          </a:xfrm>
          <a:prstGeom prst="rect">
            <a:avLst/>
          </a:prstGeom>
        </p:spPr>
      </p:pic>
      <p:pic>
        <p:nvPicPr>
          <p:cNvPr id="1" name="Picture 0" descr="Ảnh ghép Màu trắng và Hồng Hình trái tim"/>
          <p:cNvPicPr>
            <a:picLocks noChangeAspect="1"/>
          </p:cNvPicPr>
          <p:nvPr/>
        </p:nvPicPr>
        <p:blipFill>
          <a:blip r:embed="rId2"/>
          <a:srcRect t="18500" b="18500"/>
          <a:stretch>
            <a:fillRect/>
          </a:stretch>
        </p:blipFill>
        <p:spPr>
          <a:xfrm>
            <a:off x="5375910" y="3429000"/>
            <a:ext cx="6633845" cy="334391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07670" y="781685"/>
            <a:ext cx="6555105" cy="33718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GIẢI THUẬT PH</a:t>
            </a:r>
            <a:r>
              <a:rPr lang="en-US" altLang="en-US" sz="2400">
                <a:sym typeface="+mn-ea"/>
              </a:rPr>
              <a:t>Â</a:t>
            </a:r>
            <a:r>
              <a:rPr lang="en-US" altLang="en-GB" sz="2400">
                <a:sym typeface="+mn-ea"/>
              </a:rPr>
              <a:t>N </a:t>
            </a:r>
            <a:r>
              <a:rPr lang="en-US" altLang="en-US" sz="2400">
                <a:sym typeface="+mn-ea"/>
              </a:rPr>
              <a:t>Đ</a:t>
            </a:r>
            <a:r>
              <a:rPr lang="en-US" altLang="en-GB" sz="2400">
                <a:sym typeface="+mn-ea"/>
              </a:rPr>
              <a:t>OẠN TỔN TH</a:t>
            </a:r>
            <a:r>
              <a:rPr lang="en-US" altLang="en-US" sz="2400">
                <a:sym typeface="+mn-ea"/>
              </a:rPr>
              <a:t>ƯƠ</a:t>
            </a:r>
            <a:r>
              <a:rPr lang="en-US" altLang="en-GB" sz="2400">
                <a:sym typeface="+mn-ea"/>
              </a:rPr>
              <a:t>NG</a:t>
            </a:r>
            <a:endParaRPr lang="en-US" altLang="en-GB" sz="2400">
              <a:sym typeface="+mn-ea"/>
            </a:endParaRPr>
          </a:p>
        </p:txBody>
      </p:sp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2423795" y="1118870"/>
            <a:ext cx="7662545" cy="52514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US" sz="2400">
                <a:sym typeface="+mn-ea"/>
              </a:rPr>
              <a:t>Đ</a:t>
            </a:r>
            <a:r>
              <a:rPr lang="en-US" altLang="en-GB" sz="2400">
                <a:sym typeface="+mn-ea"/>
              </a:rPr>
              <a:t>O </a:t>
            </a:r>
            <a:r>
              <a:rPr lang="en-US" altLang="en-US" sz="2400">
                <a:sym typeface="+mn-ea"/>
              </a:rPr>
              <a:t>Đ</a:t>
            </a:r>
            <a:r>
              <a:rPr lang="en-US" altLang="en-GB" sz="2400">
                <a:sym typeface="+mn-ea"/>
              </a:rPr>
              <a:t>ẠC CHỈ SỐ H</a:t>
            </a:r>
            <a:r>
              <a:rPr lang="en-US" altLang="en-US" sz="2400">
                <a:sym typeface="+mn-ea"/>
              </a:rPr>
              <a:t>Ì</a:t>
            </a:r>
            <a:r>
              <a:rPr lang="en-US" altLang="en-GB" sz="2400">
                <a:sym typeface="+mn-ea"/>
              </a:rPr>
              <a:t>NH HỌC L</a:t>
            </a:r>
            <a:r>
              <a:rPr lang="en-US" altLang="en-US" sz="2400">
                <a:sym typeface="+mn-ea"/>
              </a:rPr>
              <a:t>Â</a:t>
            </a:r>
            <a:r>
              <a:rPr lang="en-US" altLang="en-GB" sz="2400">
                <a:sym typeface="+mn-ea"/>
              </a:rPr>
              <a:t>M S</a:t>
            </a:r>
            <a:r>
              <a:rPr lang="en-US" altLang="en-US" sz="2400">
                <a:sym typeface="+mn-ea"/>
              </a:rPr>
              <a:t>À</a:t>
            </a:r>
            <a:r>
              <a:rPr lang="en-US" altLang="en-GB" sz="2400">
                <a:sym typeface="+mn-ea"/>
              </a:rPr>
              <a:t>NG ABCD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00660" y="1196975"/>
            <a:ext cx="11790045" cy="1509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Asymmetry (Bất đối xứng)</a:t>
            </a:r>
            <a:r>
              <a:rPr sz="2000">
                <a:solidFill>
                  <a:srgbClr val="1E293B"/>
                </a:solidFill>
                <a:sym typeface="+mn-ea"/>
              </a:rPr>
              <a:t>: Tính tỷ lệ bất đối xứng của mặt nạ tổn thương qua hai trục đối xứng trực quan X và Y.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Border (Biên bờ)</a:t>
            </a:r>
            <a:r>
              <a:rPr sz="2000">
                <a:solidFill>
                  <a:srgbClr val="1E293B"/>
                </a:solidFill>
                <a:sym typeface="+mn-ea"/>
              </a:rPr>
              <a:t>: Tính độ phức tạp bờ tổn thương dựa trên chu vi và diện tích mặt nạ, giúp bác sĩ phát hiện bờ không đều.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7190" y="2492375"/>
            <a:ext cx="7959090" cy="3534410"/>
          </a:xfrm>
          <a:prstGeom prst="rect">
            <a:avLst/>
          </a:prstGeom>
        </p:spPr>
      </p:pic>
      <p:sp>
        <p:nvSpPr>
          <p:cNvPr id="4" name="TextBox 111"/>
          <p:cNvSpPr txBox="1"/>
          <p:nvPr/>
        </p:nvSpPr>
        <p:spPr>
          <a:xfrm>
            <a:off x="191135" y="2852420"/>
            <a:ext cx="4081145" cy="3122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Color (Màu sắc)</a:t>
            </a:r>
            <a:r>
              <a:rPr sz="2000">
                <a:solidFill>
                  <a:srgbClr val="1E293B"/>
                </a:solidFill>
                <a:sym typeface="+mn-ea"/>
              </a:rPr>
              <a:t>: Đo độ lệch chuẩn màu sắc RGB trong vùng tổn thương.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Diameter (Đường kính)</a:t>
            </a:r>
            <a:r>
              <a:rPr sz="2000">
                <a:solidFill>
                  <a:srgbClr val="1E293B"/>
                </a:solidFill>
                <a:sym typeface="+mn-ea"/>
              </a:rPr>
              <a:t>: Siêu dữ liệu từ tệp DICOM 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đư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ợc tr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ch xuất 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ể quy 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ổi pixel sang k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ch th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ư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ớc thực tế, g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ó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p phần cải thiện 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ộ ch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nh x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c quy 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ổi khi ảnh c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ó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 k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è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m metadata DICOM.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PH</a:t>
            </a:r>
            <a:r>
              <a:rPr lang="en-US" altLang="en-US" sz="2400">
                <a:sym typeface="+mn-ea"/>
              </a:rPr>
              <a:t>Â</a:t>
            </a:r>
            <a:r>
              <a:rPr lang="en-US" altLang="en-GB" sz="2400">
                <a:sym typeface="+mn-ea"/>
              </a:rPr>
              <a:t>N LOẠI &amp; HỢP NHẤT BAYES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119380" y="1268730"/>
            <a:ext cx="12006580" cy="1281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Phân loại ảnh (Classifier)</a:t>
            </a:r>
            <a:r>
              <a:rPr sz="2000">
                <a:solidFill>
                  <a:srgbClr val="1E293B"/>
                </a:solidFill>
                <a:sym typeface="+mn-ea"/>
              </a:rPr>
              <a:t>: Kiến trúc EfficientNet-B1 nhúng khối chú ý CBAM giúp hội tụ chính xác vào tổn thương da sắc tố.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endParaRPr lang="en-US" altLang="en-GB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2" name="TextBox 111"/>
          <p:cNvSpPr txBox="1"/>
          <p:nvPr/>
        </p:nvSpPr>
        <p:spPr>
          <a:xfrm>
            <a:off x="0" y="3932555"/>
            <a:ext cx="11897995" cy="1635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 b="1">
                <a:solidFill>
                  <a:srgbClr val="990000"/>
                </a:solidFill>
                <a:sym typeface="+mn-ea"/>
              </a:rPr>
              <a:t>Hợp nhất x</a:t>
            </a:r>
            <a:r>
              <a:rPr lang="en-US" altLang="en-US" sz="2000" b="1">
                <a:solidFill>
                  <a:srgbClr val="990000"/>
                </a:solidFill>
                <a:sym typeface="+mn-ea"/>
              </a:rPr>
              <a:t>á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c suất kiểu Bayes c</a:t>
            </a:r>
            <a:r>
              <a:rPr lang="en-US" altLang="en-US" sz="2000" b="1">
                <a:solidFill>
                  <a:srgbClr val="990000"/>
                </a:solidFill>
                <a:sym typeface="+mn-ea"/>
              </a:rPr>
              <a:t>ó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 trọng số</a:t>
            </a:r>
            <a:r>
              <a:rPr sz="2000">
                <a:solidFill>
                  <a:srgbClr val="1E293B"/>
                </a:solidFill>
                <a:sym typeface="+mn-ea"/>
              </a:rPr>
              <a:t>: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 P(bệnh|dịch tễ) theo Bayes chuẩn, trộn với P(bệnh|ảnh) bằng λ tự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ộng theo entropy (hoặc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ặt tay).</a:t>
            </a:r>
            <a:endParaRPr lang="en-US" altLang="en-GB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Trọng số điều phối (lambda)</a:t>
            </a:r>
            <a:r>
              <a:rPr sz="2000">
                <a:solidFill>
                  <a:srgbClr val="1E293B"/>
                </a:solidFill>
                <a:sym typeface="+mn-ea"/>
              </a:rPr>
              <a:t>: Tích hợp slider trọng số lambda trên giao diện giúp bác sĩ chủ động 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kiểm so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t mức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ộ tin t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ởng giữa kết quả ảnh và dữ liệu dịch tễ.</a:t>
            </a:r>
            <a:endParaRPr lang="en-US" altLang="en-GB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1" name="Picture 0" descr="Screenshot 2026-07-20 1012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8030" y="1700530"/>
            <a:ext cx="8326755" cy="232346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PH</a:t>
            </a:r>
            <a:r>
              <a:rPr lang="en-US" altLang="en-US" sz="2400">
                <a:sym typeface="+mn-ea"/>
              </a:rPr>
              <a:t>Â</a:t>
            </a:r>
            <a:r>
              <a:rPr lang="en-US" altLang="en-GB" sz="2400">
                <a:sym typeface="+mn-ea"/>
              </a:rPr>
              <a:t>N LOẠI &amp; HỢP NHẤT BAYES</a:t>
            </a:r>
            <a:endParaRPr lang="en-US" altLang="en-GB" sz="2400">
              <a:sym typeface="+mn-ea"/>
            </a:endParaRPr>
          </a:p>
        </p:txBody>
      </p:sp>
      <p:pic>
        <p:nvPicPr>
          <p:cNvPr id="1" name="Picture 0"/>
          <p:cNvPicPr/>
          <p:nvPr/>
        </p:nvPicPr>
        <p:blipFill>
          <a:blip r:embed="rId1"/>
          <a:stretch>
            <a:fillRect/>
          </a:stretch>
        </p:blipFill>
        <p:spPr>
          <a:xfrm>
            <a:off x="119380" y="1700530"/>
            <a:ext cx="11979910" cy="3708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TRỢ L</a:t>
            </a:r>
            <a:r>
              <a:rPr lang="en-US" altLang="en-US" sz="2400">
                <a:sym typeface="+mn-ea"/>
              </a:rPr>
              <a:t>Ý</a:t>
            </a:r>
            <a:r>
              <a:rPr lang="en-US" altLang="en-GB" sz="2400">
                <a:sym typeface="+mn-ea"/>
              </a:rPr>
              <a:t> </a:t>
            </a:r>
            <a:r>
              <a:rPr lang="en-US" altLang="en-US" sz="2400">
                <a:sym typeface="+mn-ea"/>
              </a:rPr>
              <a:t>ĐÀ</a:t>
            </a:r>
            <a:r>
              <a:rPr lang="en-US" altLang="en-GB" sz="2400">
                <a:sym typeface="+mn-ea"/>
              </a:rPr>
              <a:t>M THOẠI VQA &amp; RAG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119380" y="1196975"/>
            <a:ext cx="12061190" cy="1281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VQA ngoại tuyến (Offline)</a:t>
            </a:r>
            <a:r>
              <a:rPr sz="2000">
                <a:solidFill>
                  <a:srgbClr val="1E293B"/>
                </a:solidFill>
                <a:sym typeface="+mn-ea"/>
              </a:rPr>
              <a:t>: Tinh chỉnh DistilGPT-2 LoRA (rank 8, chỉ huấn luyện 2.13% tham số) chạy trên CPU, hoặc kết nối Ollama API cục bộ để chạy các LLM 3B/7B lớn hơn.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RAG y văn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truy vấn ChromaDB (Cosine similarity), nhồi tài liệu Bộ Y tế vào prompt, giảm ảo gi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c.</a:t>
            </a:r>
            <a:endParaRPr lang="en-US" altLang="en-GB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157" name="Picture 156" descr="training_histo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1630" y="3141345"/>
            <a:ext cx="8092440" cy="3315970"/>
          </a:xfrm>
          <a:prstGeom prst="rect">
            <a:avLst/>
          </a:prstGeom>
        </p:spPr>
      </p:pic>
      <p:sp>
        <p:nvSpPr>
          <p:cNvPr id="3" name="TextBox 111"/>
          <p:cNvSpPr txBox="1"/>
          <p:nvPr/>
        </p:nvSpPr>
        <p:spPr>
          <a:xfrm>
            <a:off x="47625" y="2781300"/>
            <a:ext cx="12094845" cy="37312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Aft>
                <a:spcPts val="1000"/>
              </a:spcAft>
            </a:pPr>
            <a:r>
              <a:rPr lang="en-US" altLang="en-US" sz="2000" b="1">
                <a:solidFill>
                  <a:srgbClr val="990000"/>
                </a:solidFill>
                <a:latin typeface="Arial" panose="020B0604020202020204"/>
              </a:rPr>
              <a:t>Đ</a:t>
            </a:r>
            <a:r>
              <a:rPr lang="en-US" altLang="en-US" sz="2000" b="1">
                <a:solidFill>
                  <a:srgbClr val="990000"/>
                </a:solidFill>
                <a:latin typeface="Arial" panose="020B0604020202020204"/>
              </a:rPr>
              <a:t>á</a:t>
            </a:r>
            <a:r>
              <a:rPr lang="en-US" altLang="en-GB" sz="2000" b="1">
                <a:solidFill>
                  <a:srgbClr val="990000"/>
                </a:solidFill>
                <a:latin typeface="Arial" panose="020B0604020202020204"/>
              </a:rPr>
              <a:t>nh gi</a:t>
            </a:r>
            <a:r>
              <a:rPr lang="en-US" altLang="en-US" sz="2000" b="1">
                <a:solidFill>
                  <a:srgbClr val="990000"/>
                </a:solidFill>
                <a:latin typeface="Arial" panose="020B0604020202020204"/>
              </a:rPr>
              <a:t>á</a:t>
            </a:r>
            <a:r>
              <a:rPr lang="en-US" altLang="en-GB" sz="2000" b="1">
                <a:solidFill>
                  <a:srgbClr val="990000"/>
                </a:solidFill>
                <a:latin typeface="Arial" panose="020B0604020202020204"/>
              </a:rPr>
              <a:t> chất l</a:t>
            </a:r>
            <a:r>
              <a:rPr lang="en-US" altLang="en-US" sz="2000" b="1">
                <a:solidFill>
                  <a:srgbClr val="990000"/>
                </a:solidFill>
                <a:latin typeface="Arial" panose="020B0604020202020204"/>
              </a:rPr>
              <a:t>ư</a:t>
            </a:r>
            <a:r>
              <a:rPr lang="en-US" altLang="en-GB" sz="2000" b="1">
                <a:solidFill>
                  <a:srgbClr val="990000"/>
                </a:solidFill>
                <a:latin typeface="Arial" panose="020B0604020202020204"/>
              </a:rPr>
              <a:t>ợng phản hồi (12 c</a:t>
            </a:r>
            <a:r>
              <a:rPr lang="en-US" altLang="en-US" sz="2000" b="1">
                <a:solidFill>
                  <a:srgbClr val="990000"/>
                </a:solidFill>
                <a:latin typeface="Arial" panose="020B0604020202020204"/>
              </a:rPr>
              <a:t>â</a:t>
            </a:r>
            <a:r>
              <a:rPr lang="en-US" altLang="en-GB" sz="2000" b="1">
                <a:solidFill>
                  <a:srgbClr val="990000"/>
                </a:solidFill>
                <a:latin typeface="Arial" panose="020B0604020202020204"/>
              </a:rPr>
              <a:t>u hỏi kiểm thử)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: Offline BLEU-1 = 0.73, Online GPT-4o-mini+RAG BLEU-1 = 0.12. 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5000"/>
              </a:lnSpc>
              <a:spcAft>
                <a:spcPts val="1000"/>
              </a:spcAft>
            </a:pP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BLEU không phản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nh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ầy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ủ chất 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5000"/>
              </a:lnSpc>
              <a:spcAft>
                <a:spcPts val="1000"/>
              </a:spcAft>
            </a:pP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l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ợng l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m sàng, cần kết hợp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nh 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5000"/>
              </a:lnSpc>
              <a:spcAft>
                <a:spcPts val="1000"/>
              </a:spcAft>
            </a:pP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gi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ịnh t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í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nh.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8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Rào cản an toàn thuốc</a:t>
            </a:r>
            <a:r>
              <a:rPr sz="2000">
                <a:solidFill>
                  <a:srgbClr val="1E293B"/>
                </a:solidFill>
                <a:sym typeface="+mn-ea"/>
              </a:rPr>
              <a:t>: Medication </a:t>
            </a:r>
            <a:endParaRPr sz="2000">
              <a:solidFill>
                <a:srgbClr val="1E293B"/>
              </a:solidFill>
              <a:sym typeface="+mn-ea"/>
            </a:endParaRPr>
          </a:p>
          <a:p>
            <a:pPr>
              <a:lnSpc>
                <a:spcPct val="85000"/>
              </a:lnSpc>
              <a:spcAft>
                <a:spcPts val="1000"/>
              </a:spcAft>
            </a:pPr>
            <a:r>
              <a:rPr sz="2000">
                <a:solidFill>
                  <a:srgbClr val="1E293B"/>
                </a:solidFill>
                <a:sym typeface="+mn-ea"/>
              </a:rPr>
              <a:t>Guardrails tự động lọc ngăn chặn </a:t>
            </a:r>
            <a:endParaRPr sz="2000">
              <a:solidFill>
                <a:srgbClr val="1E293B"/>
              </a:solidFill>
              <a:sym typeface="+mn-ea"/>
            </a:endParaRPr>
          </a:p>
          <a:p>
            <a:pPr>
              <a:lnSpc>
                <a:spcPct val="85000"/>
              </a:lnSpc>
              <a:spcAft>
                <a:spcPts val="1000"/>
              </a:spcAft>
            </a:pPr>
            <a:r>
              <a:rPr sz="2000">
                <a:solidFill>
                  <a:srgbClr val="1E293B"/>
                </a:solidFill>
                <a:sym typeface="+mn-ea"/>
              </a:rPr>
              <a:t>các câu trả lời tự kê đơn thuốc của </a:t>
            </a:r>
            <a:endParaRPr sz="2000">
              <a:solidFill>
                <a:srgbClr val="1E293B"/>
              </a:solidFill>
              <a:sym typeface="+mn-ea"/>
            </a:endParaRPr>
          </a:p>
          <a:p>
            <a:pPr>
              <a:lnSpc>
                <a:spcPct val="85000"/>
              </a:lnSpc>
              <a:spcAft>
                <a:spcPts val="1000"/>
              </a:spcAft>
            </a:pPr>
            <a:r>
              <a:rPr sz="2000">
                <a:solidFill>
                  <a:srgbClr val="1E293B"/>
                </a:solidFill>
                <a:sym typeface="+mn-ea"/>
              </a:rPr>
              <a:t>AI trực tuyến.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TRỢ L</a:t>
            </a:r>
            <a:r>
              <a:rPr lang="en-US" altLang="en-US" sz="2400">
                <a:sym typeface="+mn-ea"/>
              </a:rPr>
              <a:t>Ý</a:t>
            </a:r>
            <a:r>
              <a:rPr lang="en-US" altLang="en-GB" sz="2400">
                <a:sym typeface="+mn-ea"/>
              </a:rPr>
              <a:t> </a:t>
            </a:r>
            <a:r>
              <a:rPr lang="en-US" altLang="en-US" sz="2400">
                <a:sym typeface="+mn-ea"/>
              </a:rPr>
              <a:t>ĐÀ</a:t>
            </a:r>
            <a:r>
              <a:rPr lang="en-US" altLang="en-GB" sz="2400">
                <a:sym typeface="+mn-ea"/>
              </a:rPr>
              <a:t>M THOẠI VQA &amp; RAG</a:t>
            </a:r>
            <a:endParaRPr lang="en-US" altLang="en-GB" sz="2400">
              <a:sym typeface="+mn-ea"/>
            </a:endParaRPr>
          </a:p>
        </p:txBody>
      </p:sp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1160780" y="1268730"/>
            <a:ext cx="10435590" cy="501459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3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THUẬT TOÁN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GIẢI THUẬT NÂNG CẤP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TRỢ L</a:t>
            </a:r>
            <a:r>
              <a:rPr lang="en-US" altLang="en-US" sz="2400">
                <a:sym typeface="+mn-ea"/>
              </a:rPr>
              <a:t>Ý</a:t>
            </a:r>
            <a:r>
              <a:rPr lang="en-US" altLang="en-GB" sz="2400">
                <a:sym typeface="+mn-ea"/>
              </a:rPr>
              <a:t> </a:t>
            </a:r>
            <a:r>
              <a:rPr lang="en-US" altLang="en-US" sz="2400">
                <a:sym typeface="+mn-ea"/>
              </a:rPr>
              <a:t>ĐÀ</a:t>
            </a:r>
            <a:r>
              <a:rPr lang="en-US" altLang="en-GB" sz="2400">
                <a:sym typeface="+mn-ea"/>
              </a:rPr>
              <a:t>M THOẠI VQA &amp; RAG</a:t>
            </a:r>
            <a:endParaRPr lang="en-US" altLang="en-GB" sz="2400">
              <a:sym typeface="+mn-ea"/>
            </a:endParaRPr>
          </a:p>
        </p:txBody>
      </p:sp>
      <p:pic>
        <p:nvPicPr>
          <p:cNvPr id="1" name="Picture 0" descr="Screenshot 2026-07-20 1018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3840" y="1268730"/>
            <a:ext cx="6597015" cy="318071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4725035"/>
            <a:ext cx="11094720" cy="131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NỘI DUNG TRÌNH BÀY</a:t>
            </a:r>
            <a:endParaRPr>
              <a:latin typeface="+mj-lt"/>
              <a:cs typeface="+mj-lt"/>
            </a:endParaRPr>
          </a:p>
        </p:txBody>
      </p:sp>
      <p:sp>
        <p:nvSpPr>
          <p:cNvPr id="102" name="Google Shape;102;p4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31520" y="2011680"/>
            <a:ext cx="2715895" cy="260794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990000"/>
                </a:solidFill>
                <a:latin typeface="Arial" panose="020B0604020202020204"/>
              </a:defRPr>
            </a:pPr>
            <a:r>
              <a:t>MỤC</a:t>
            </a:r>
            <a:r>
              <a:rPr lang="en-US"/>
              <a:t> </a:t>
            </a:r>
            <a:r>
              <a:t>LỤC</a:t>
            </a:r>
            <a:endParaRPr sz="3200"/>
          </a:p>
        </p:txBody>
      </p:sp>
      <p:sp>
        <p:nvSpPr>
          <p:cNvPr id="8" name="Oval 7"/>
          <p:cNvSpPr/>
          <p:nvPr/>
        </p:nvSpPr>
        <p:spPr>
          <a:xfrm>
            <a:off x="251460" y="14630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53035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20" y="11887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39695" y="4754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" y="310896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>
            <p:custDataLst>
              <p:tags r:id="rId1"/>
            </p:custDataLst>
          </p:nvPr>
        </p:nvSpPr>
        <p:spPr>
          <a:xfrm>
            <a:off x="3575050" y="115570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01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4" name="TextBox 103"/>
          <p:cNvSpPr txBox="1"/>
          <p:nvPr>
            <p:custDataLst>
              <p:tags r:id="rId2"/>
            </p:custDataLst>
          </p:nvPr>
        </p:nvSpPr>
        <p:spPr>
          <a:xfrm>
            <a:off x="4306570" y="1174750"/>
            <a:ext cx="757110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1: Đặt Vấn Đề &amp; Mục Tiêu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Tính cấp thiết của chẩn đoán sớm và các mục tiêu nghiên cứu cốt lõi của đề tài.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4" name="Oval 13"/>
          <p:cNvSpPr/>
          <p:nvPr>
            <p:custDataLst>
              <p:tags r:id="rId3"/>
            </p:custDataLst>
          </p:nvPr>
        </p:nvSpPr>
        <p:spPr>
          <a:xfrm>
            <a:off x="3575050" y="220726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02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7" name="TextBox 106"/>
          <p:cNvSpPr txBox="1"/>
          <p:nvPr>
            <p:custDataLst>
              <p:tags r:id="rId4"/>
            </p:custDataLst>
          </p:nvPr>
        </p:nvSpPr>
        <p:spPr>
          <a:xfrm>
            <a:off x="4306570" y="2216785"/>
            <a:ext cx="722249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2: Phân Tích &amp; Thiết Kế Hệ Thống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Thiết kế luồng xử lý song song, bộ lọc Safety Gate và các biểu đồ Use Case.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5" name="Oval 14"/>
          <p:cNvSpPr/>
          <p:nvPr>
            <p:custDataLst>
              <p:tags r:id="rId5"/>
            </p:custDataLst>
          </p:nvPr>
        </p:nvSpPr>
        <p:spPr>
          <a:xfrm>
            <a:off x="3575050" y="325882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03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0" name="TextBox 109"/>
          <p:cNvSpPr txBox="1"/>
          <p:nvPr>
            <p:custDataLst>
              <p:tags r:id="rId6"/>
            </p:custDataLst>
          </p:nvPr>
        </p:nvSpPr>
        <p:spPr>
          <a:xfrm>
            <a:off x="4338955" y="3284855"/>
            <a:ext cx="791654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3: Thuật Toán &amp; Giải Thuật Nâng Cấp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SAM + GrabCut tương tác, OTSU dự phòng, late fusion Bayes và trợ lý VQA RAG.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6" name="Oval 15"/>
          <p:cNvSpPr/>
          <p:nvPr>
            <p:custDataLst>
              <p:tags r:id="rId7"/>
            </p:custDataLst>
          </p:nvPr>
        </p:nvSpPr>
        <p:spPr>
          <a:xfrm>
            <a:off x="3575050" y="431038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04</a:t>
            </a:r>
            <a:endParaRPr sz="2400"/>
          </a:p>
        </p:txBody>
      </p:sp>
      <p:sp>
        <p:nvSpPr>
          <p:cNvPr id="113" name="TextBox 112"/>
          <p:cNvSpPr txBox="1"/>
          <p:nvPr>
            <p:custDataLst>
              <p:tags r:id="rId8"/>
            </p:custDataLst>
          </p:nvPr>
        </p:nvSpPr>
        <p:spPr>
          <a:xfrm>
            <a:off x="4338955" y="4293235"/>
            <a:ext cx="815086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4: Thiết Kế CSDL &amp; Bảo Mật EHR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lang="en-US" altLang="en-GB" sz="1600"/>
              <a:t>Cấu tr</a:t>
            </a:r>
            <a:r>
              <a:rPr lang="en-US" altLang="en-US" sz="1600"/>
              <a:t>ú</a:t>
            </a:r>
            <a:r>
              <a:rPr lang="en-US" altLang="en-GB" sz="1600"/>
              <a:t>c Firestore ph</a:t>
            </a:r>
            <a:r>
              <a:rPr lang="en-US" altLang="en-US" sz="1600"/>
              <a:t>â</a:t>
            </a:r>
            <a:r>
              <a:rPr lang="en-US" altLang="en-GB" sz="1600"/>
              <a:t>n cấp, ẩn danh h</a:t>
            </a:r>
            <a:r>
              <a:rPr lang="en-US" altLang="en-US" sz="1600"/>
              <a:t>ó</a:t>
            </a:r>
            <a:r>
              <a:rPr lang="en-US" altLang="en-GB" sz="1600"/>
              <a:t>a dữ liệu và song song h</a:t>
            </a:r>
            <a:r>
              <a:rPr lang="en-US" altLang="en-US" sz="1600"/>
              <a:t>ó</a:t>
            </a:r>
            <a:r>
              <a:rPr lang="en-US" altLang="en-GB" sz="1600"/>
              <a:t>a </a:t>
            </a:r>
            <a:r>
              <a:rPr lang="en-US" altLang="en-US" sz="1600"/>
              <a:t>đ</a:t>
            </a:r>
            <a:r>
              <a:rPr lang="en-US" altLang="en-GB" sz="1600"/>
              <a:t>a luồng</a:t>
            </a:r>
            <a:r>
              <a:rPr lang="en-US" altLang="en-GB" sz="1600"/>
              <a:t>.</a:t>
            </a:r>
            <a:endParaRPr lang="en-US" altLang="en-GB" sz="1600"/>
          </a:p>
        </p:txBody>
      </p:sp>
      <p:sp>
        <p:nvSpPr>
          <p:cNvPr id="115" name="Oval 114"/>
          <p:cNvSpPr/>
          <p:nvPr>
            <p:custDataLst>
              <p:tags r:id="rId9"/>
            </p:custDataLst>
          </p:nvPr>
        </p:nvSpPr>
        <p:spPr>
          <a:xfrm>
            <a:off x="3575050" y="536194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05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7" name="TextBox 115"/>
          <p:cNvSpPr txBox="1"/>
          <p:nvPr>
            <p:custDataLst>
              <p:tags r:id="rId10"/>
            </p:custDataLst>
          </p:nvPr>
        </p:nvSpPr>
        <p:spPr>
          <a:xfrm>
            <a:off x="4306570" y="5373370"/>
            <a:ext cx="700722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5: Kết Quả Thử Nghiệm &amp; Kết Luận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Đánh giá độ chính xác, thời gian trễ và đóng góp thực tế.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4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THIẾT KẾ CSDL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BẢO MẬT EHR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THIẾT KẾ C</a:t>
            </a:r>
            <a:r>
              <a:rPr lang="en-US" altLang="en-US" sz="2400">
                <a:sym typeface="+mn-ea"/>
              </a:rPr>
              <a:t>Ơ</a:t>
            </a:r>
            <a:r>
              <a:rPr lang="en-US" altLang="en-GB" sz="2400">
                <a:sym typeface="+mn-ea"/>
              </a:rPr>
              <a:t> SỞ DỮ LIỆU EHR BỆNH </a:t>
            </a:r>
            <a:r>
              <a:rPr lang="en-US" altLang="en-US" sz="2400">
                <a:sym typeface="+mn-ea"/>
              </a:rPr>
              <a:t>Á</a:t>
            </a:r>
            <a:r>
              <a:rPr lang="en-US" altLang="en-GB" sz="2400">
                <a:sym typeface="+mn-ea"/>
              </a:rPr>
              <a:t>N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119380" y="1429385"/>
            <a:ext cx="12061190" cy="1635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CSDL Firestore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L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u trữ hồ s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trong một collection Firestore duy nhất medical_records, mỗi document t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ng ứng một bệnh nh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n, chứa ảnh gốc, mask, Grad-CAM, chỉ số ABCD và lịch sử hỏi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p VQA</a:t>
            </a:r>
            <a:r>
              <a:rPr sz="2000">
                <a:solidFill>
                  <a:srgbClr val="1E293B"/>
                </a:solidFill>
                <a:sym typeface="+mn-ea"/>
              </a:rPr>
              <a:t>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Dòng thời gian lâm sàng</a:t>
            </a:r>
            <a:r>
              <a:rPr sz="2000">
                <a:solidFill>
                  <a:srgbClr val="1E293B"/>
                </a:solidFill>
                <a:sym typeface="+mn-ea"/>
              </a:rPr>
              <a:t>: Theo dõi trực quan tiến triển kích thước tổn thương qua nhiều mốc thời gian khám bệnh, giúp bác sĩ đánh giá hiệu quả điều trị.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3" name="Picture 2" descr="Screenshot 2026-07-20 102138"/>
          <p:cNvPicPr>
            <a:picLocks noChangeAspect="1"/>
          </p:cNvPicPr>
          <p:nvPr/>
        </p:nvPicPr>
        <p:blipFill>
          <a:blip r:embed="rId1"/>
          <a:srcRect t="-120" b="10224"/>
          <a:stretch>
            <a:fillRect/>
          </a:stretch>
        </p:blipFill>
        <p:spPr>
          <a:xfrm>
            <a:off x="47625" y="3136265"/>
            <a:ext cx="6236970" cy="3316605"/>
          </a:xfrm>
          <a:prstGeom prst="rect">
            <a:avLst/>
          </a:prstGeom>
        </p:spPr>
      </p:pic>
      <p:pic>
        <p:nvPicPr>
          <p:cNvPr id="4" name="Picture 3" descr="Screenshot 2026-07-20 095408"/>
          <p:cNvPicPr>
            <a:picLocks noChangeAspect="1"/>
          </p:cNvPicPr>
          <p:nvPr/>
        </p:nvPicPr>
        <p:blipFill>
          <a:blip r:embed="rId2"/>
          <a:srcRect l="20252" t="10706" r="2636" b="1670"/>
          <a:stretch>
            <a:fillRect/>
          </a:stretch>
        </p:blipFill>
        <p:spPr>
          <a:xfrm>
            <a:off x="6311900" y="3109595"/>
            <a:ext cx="5832475" cy="334327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4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THIẾT KẾ CSDL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BẢO MẬT EHR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BẢO MẬT EHR &amp; TỐI </a:t>
            </a:r>
            <a:r>
              <a:rPr lang="en-US" altLang="en-US" sz="2400">
                <a:sym typeface="+mn-ea"/>
              </a:rPr>
              <a:t>Ư</a:t>
            </a:r>
            <a:r>
              <a:rPr lang="en-US" altLang="en-GB" sz="2400">
                <a:sym typeface="+mn-ea"/>
              </a:rPr>
              <a:t>U H</a:t>
            </a:r>
            <a:r>
              <a:rPr lang="en-US" altLang="en-US" sz="2400">
                <a:sym typeface="+mn-ea"/>
              </a:rPr>
              <a:t>Ó</a:t>
            </a:r>
            <a:r>
              <a:rPr lang="en-US" altLang="en-GB" sz="2400">
                <a:sym typeface="+mn-ea"/>
              </a:rPr>
              <a:t>A L</a:t>
            </a:r>
            <a:r>
              <a:rPr lang="en-US" altLang="en-US" sz="2400">
                <a:sym typeface="+mn-ea"/>
              </a:rPr>
              <a:t>Ư</a:t>
            </a:r>
            <a:r>
              <a:rPr lang="en-US" altLang="en-GB" sz="2400">
                <a:sym typeface="+mn-ea"/>
              </a:rPr>
              <a:t>U TRỮ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26695" y="1429385"/>
            <a:ext cx="11595735" cy="2117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Ẩn danh &amp; Mã hóa bệnh án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sz="2000">
                <a:solidFill>
                  <a:srgbClr val="1E293B"/>
                </a:solidFill>
                <a:sym typeface="+mn-ea"/>
              </a:rPr>
              <a:t>S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HA-256 (16 k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ý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tự) làm Document ID; XOR+Base64 ở mức nguy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ê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mẫu.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ThreadPool song song hóa</a:t>
            </a:r>
            <a:r>
              <a:rPr sz="2000">
                <a:solidFill>
                  <a:srgbClr val="1E293B"/>
                </a:solidFill>
                <a:sym typeface="+mn-ea"/>
              </a:rPr>
              <a:t>: Tải đồng thời 3 ảnh lên cloud (gốc, mặt nạ, Grad-CAM) bằng `ThreadPoolExecutor` thay vì tuần tự.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Giảm thiểu độ trễ UI</a:t>
            </a:r>
            <a:r>
              <a:rPr sz="2000">
                <a:solidFill>
                  <a:srgbClr val="1E293B"/>
                </a:solidFill>
                <a:sym typeface="+mn-ea"/>
              </a:rPr>
              <a:t>: Rút ngắn thời gian khóa giao diện chính</a:t>
            </a:r>
            <a:r>
              <a:rPr lang="en-US" sz="2000">
                <a:solidFill>
                  <a:srgbClr val="1E293B"/>
                </a:solidFill>
                <a:sym typeface="+mn-ea"/>
              </a:rPr>
              <a:t> </a:t>
            </a:r>
            <a:r>
              <a:rPr sz="2000">
                <a:solidFill>
                  <a:srgbClr val="1E293B"/>
                </a:solidFill>
                <a:sym typeface="+mn-ea"/>
              </a:rPr>
              <a:t>từ 5 giây xuống chỉ còn </a:t>
            </a:r>
            <a:r>
              <a:rPr sz="2000" b="1">
                <a:solidFill>
                  <a:srgbClr val="990000"/>
                </a:solidFill>
                <a:sym typeface="+mn-ea"/>
              </a:rPr>
              <a:t>1.5 giây</a:t>
            </a:r>
            <a:r>
              <a:rPr sz="2000">
                <a:solidFill>
                  <a:srgbClr val="1E293B"/>
                </a:solidFill>
                <a:sym typeface="+mn-ea"/>
              </a:rPr>
              <a:t>.</a:t>
            </a:r>
            <a:endParaRPr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4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THIẾT KẾ CSDL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BẢO MẬT EHR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BẢO MẬT EHR &amp; TỐI </a:t>
            </a:r>
            <a:r>
              <a:rPr lang="en-US" altLang="en-US" sz="2400">
                <a:sym typeface="+mn-ea"/>
              </a:rPr>
              <a:t>Ư</a:t>
            </a:r>
            <a:r>
              <a:rPr lang="en-US" altLang="en-GB" sz="2400">
                <a:sym typeface="+mn-ea"/>
              </a:rPr>
              <a:t>U H</a:t>
            </a:r>
            <a:r>
              <a:rPr lang="en-US" altLang="en-US" sz="2400">
                <a:sym typeface="+mn-ea"/>
              </a:rPr>
              <a:t>Ó</a:t>
            </a:r>
            <a:r>
              <a:rPr lang="en-US" altLang="en-GB" sz="2400">
                <a:sym typeface="+mn-ea"/>
              </a:rPr>
              <a:t>A L</a:t>
            </a:r>
            <a:r>
              <a:rPr lang="en-US" altLang="en-US" sz="2400">
                <a:sym typeface="+mn-ea"/>
              </a:rPr>
              <a:t>Ư</a:t>
            </a:r>
            <a:r>
              <a:rPr lang="en-US" altLang="en-GB" sz="2400">
                <a:sym typeface="+mn-ea"/>
              </a:rPr>
              <a:t>U TRỮ</a:t>
            </a:r>
            <a:endParaRPr lang="en-US" altLang="en-GB" sz="2400">
              <a:sym typeface="+mn-ea"/>
            </a:endParaRPr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51180" y="1268730"/>
            <a:ext cx="11366500" cy="500443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NỘI DUNG TRÌNH BÀY</a:t>
            </a:r>
            <a:endParaRPr>
              <a:latin typeface="+mj-lt"/>
              <a:cs typeface="+mj-lt"/>
            </a:endParaRPr>
          </a:p>
        </p:txBody>
      </p:sp>
      <p:sp>
        <p:nvSpPr>
          <p:cNvPr id="102" name="Google Shape;102;p4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31520" y="2011680"/>
            <a:ext cx="2715895" cy="260794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990000"/>
                </a:solidFill>
                <a:latin typeface="Arial" panose="020B0604020202020204"/>
              </a:defRPr>
            </a:pPr>
            <a:r>
              <a:t>MỤC</a:t>
            </a:r>
            <a:r>
              <a:rPr lang="en-US"/>
              <a:t> </a:t>
            </a:r>
            <a:r>
              <a:t>LỤC</a:t>
            </a:r>
            <a:endParaRPr sz="3200"/>
          </a:p>
        </p:txBody>
      </p:sp>
      <p:sp>
        <p:nvSpPr>
          <p:cNvPr id="8" name="Oval 7"/>
          <p:cNvSpPr/>
          <p:nvPr/>
        </p:nvSpPr>
        <p:spPr>
          <a:xfrm>
            <a:off x="251460" y="14630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53035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20" y="11887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39695" y="4754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" y="310896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>
            <p:custDataLst>
              <p:tags r:id="rId1"/>
            </p:custDataLst>
          </p:nvPr>
        </p:nvSpPr>
        <p:spPr>
          <a:xfrm>
            <a:off x="3575050" y="115570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01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4" name="TextBox 103"/>
          <p:cNvSpPr txBox="1"/>
          <p:nvPr>
            <p:custDataLst>
              <p:tags r:id="rId2"/>
            </p:custDataLst>
          </p:nvPr>
        </p:nvSpPr>
        <p:spPr>
          <a:xfrm>
            <a:off x="4306570" y="1174750"/>
            <a:ext cx="757110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1: Đặt Vấn Đề &amp; Mục Tiêu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Tính cấp thiết của chẩn đoán sớm và các mục tiêu nghiên cứu cốt lõi của đề tài.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4" name="Oval 13"/>
          <p:cNvSpPr/>
          <p:nvPr>
            <p:custDataLst>
              <p:tags r:id="rId3"/>
            </p:custDataLst>
          </p:nvPr>
        </p:nvSpPr>
        <p:spPr>
          <a:xfrm>
            <a:off x="3575050" y="220726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02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07" name="TextBox 106"/>
          <p:cNvSpPr txBox="1"/>
          <p:nvPr>
            <p:custDataLst>
              <p:tags r:id="rId4"/>
            </p:custDataLst>
          </p:nvPr>
        </p:nvSpPr>
        <p:spPr>
          <a:xfrm>
            <a:off x="4306570" y="2216785"/>
            <a:ext cx="722249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2: Phân Tích &amp; Thiết Kế Hệ Thống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Thiết kế luồng xử lý song song, bộ lọc Safety Gate và các biểu đồ Use Case.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5" name="Oval 14"/>
          <p:cNvSpPr/>
          <p:nvPr>
            <p:custDataLst>
              <p:tags r:id="rId5"/>
            </p:custDataLst>
          </p:nvPr>
        </p:nvSpPr>
        <p:spPr>
          <a:xfrm>
            <a:off x="3575050" y="325882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03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0" name="TextBox 109"/>
          <p:cNvSpPr txBox="1"/>
          <p:nvPr>
            <p:custDataLst>
              <p:tags r:id="rId6"/>
            </p:custDataLst>
          </p:nvPr>
        </p:nvSpPr>
        <p:spPr>
          <a:xfrm>
            <a:off x="4338955" y="3284855"/>
            <a:ext cx="791654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3: Thuật Toán &amp; Giải Thuật Nâng Cấp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>
                <a:solidFill>
                  <a:srgbClr val="1E293B">
                    <a:alpha val="20000"/>
                  </a:srgbClr>
                </a:solidFill>
              </a:rPr>
              <a:t>SAM + GrabCut tương tác, OTSU dự phòng, late fusion Bayes và trợ lý VQA RAG.</a:t>
            </a:r>
            <a:endParaRPr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6" name="Oval 15"/>
          <p:cNvSpPr/>
          <p:nvPr>
            <p:custDataLst>
              <p:tags r:id="rId7"/>
            </p:custDataLst>
          </p:nvPr>
        </p:nvSpPr>
        <p:spPr>
          <a:xfrm>
            <a:off x="3575050" y="431038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>
                <a:solidFill>
                  <a:srgbClr val="FFFFFF">
                    <a:alpha val="20000"/>
                  </a:srgbClr>
                </a:solidFill>
              </a:rPr>
              <a:t>04</a:t>
            </a:r>
            <a:endParaRPr sz="2400">
              <a:solidFill>
                <a:srgbClr val="FFFFFF">
                  <a:alpha val="20000"/>
                </a:srgbClr>
              </a:solidFill>
            </a:endParaRPr>
          </a:p>
        </p:txBody>
      </p:sp>
      <p:sp>
        <p:nvSpPr>
          <p:cNvPr id="113" name="TextBox 112"/>
          <p:cNvSpPr txBox="1"/>
          <p:nvPr>
            <p:custDataLst>
              <p:tags r:id="rId8"/>
            </p:custDataLst>
          </p:nvPr>
        </p:nvSpPr>
        <p:spPr>
          <a:xfrm>
            <a:off x="4338955" y="4293235"/>
            <a:ext cx="8150860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>
                <a:solidFill>
                  <a:srgbClr val="990000">
                    <a:alpha val="20000"/>
                  </a:srgbClr>
                </a:solidFill>
              </a:rPr>
              <a:t>Phần 4: Thiết Kế CSDL &amp; Bảo Mật EHR</a:t>
            </a:r>
            <a:endParaRPr sz="2400">
              <a:solidFill>
                <a:srgbClr val="990000">
                  <a:alpha val="20000"/>
                </a:srgbClr>
              </a:solidFill>
            </a:endParaRP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Cấu tr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ú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c Firestore ph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â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n cấp, ẩn danh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dữ liệu và song song h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ó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</a:t>
            </a:r>
            <a:r>
              <a:rPr lang="en-US" altLang="en-US" sz="1600">
                <a:solidFill>
                  <a:srgbClr val="1E293B">
                    <a:alpha val="20000"/>
                  </a:srgbClr>
                </a:solidFill>
              </a:rPr>
              <a:t>đ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a luồng</a:t>
            </a:r>
            <a:r>
              <a:rPr lang="en-US" altLang="en-GB" sz="1600">
                <a:solidFill>
                  <a:srgbClr val="1E293B">
                    <a:alpha val="20000"/>
                  </a:srgbClr>
                </a:solidFill>
              </a:rPr>
              <a:t>.</a:t>
            </a:r>
            <a:endParaRPr lang="en-US" altLang="en-GB" sz="1600">
              <a:solidFill>
                <a:srgbClr val="1E293B">
                  <a:alpha val="20000"/>
                </a:srgbClr>
              </a:solidFill>
            </a:endParaRPr>
          </a:p>
        </p:txBody>
      </p:sp>
      <p:sp>
        <p:nvSpPr>
          <p:cNvPr id="115" name="Oval 114"/>
          <p:cNvSpPr/>
          <p:nvPr>
            <p:custDataLst>
              <p:tags r:id="rId9"/>
            </p:custDataLst>
          </p:nvPr>
        </p:nvSpPr>
        <p:spPr>
          <a:xfrm>
            <a:off x="3575050" y="5361940"/>
            <a:ext cx="763905" cy="763905"/>
          </a:xfrm>
          <a:prstGeom prst="ellipse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400"/>
              <a:t>05</a:t>
            </a:r>
            <a:endParaRPr sz="2400"/>
          </a:p>
        </p:txBody>
      </p:sp>
      <p:sp>
        <p:nvSpPr>
          <p:cNvPr id="17" name="TextBox 115"/>
          <p:cNvSpPr txBox="1"/>
          <p:nvPr>
            <p:custDataLst>
              <p:tags r:id="rId10"/>
            </p:custDataLst>
          </p:nvPr>
        </p:nvSpPr>
        <p:spPr>
          <a:xfrm>
            <a:off x="4306570" y="5373370"/>
            <a:ext cx="7007225" cy="744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90000"/>
                </a:solidFill>
                <a:latin typeface="Arial" panose="020B0604020202020204"/>
              </a:defRPr>
            </a:pPr>
            <a:r>
              <a:rPr sz="2400"/>
              <a:t>Phần 5:</a:t>
            </a:r>
            <a:r>
              <a:rPr lang="en-US" sz="2400"/>
              <a:t> </a:t>
            </a:r>
            <a:r>
              <a:rPr sz="2400"/>
              <a:t>Kết Quả Thử Nghiệm &amp; Kết Luận</a:t>
            </a:r>
            <a:endParaRPr sz="2400"/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Arial" panose="020B0604020202020204"/>
              </a:defRPr>
            </a:pPr>
            <a:r>
              <a:rPr sz="1600"/>
              <a:t>Đánh giá độ chính xác, thời gian trễ và đóng góp thực tế.</a:t>
            </a:r>
            <a:endParaRPr sz="16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5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KẾT QUẢ THỬ NGHIỆM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KẾT LUẬN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KIẾN TR</a:t>
            </a:r>
            <a:r>
              <a:rPr lang="en-US" altLang="en-US" sz="2400">
                <a:sym typeface="+mn-ea"/>
              </a:rPr>
              <a:t>Ú</a:t>
            </a:r>
            <a:r>
              <a:rPr lang="en-US" altLang="en-GB" sz="2400">
                <a:sym typeface="+mn-ea"/>
              </a:rPr>
              <a:t>C PHẦN MỀM &amp; BIỂU </a:t>
            </a:r>
            <a:r>
              <a:rPr lang="en-US" altLang="en-US" sz="2400">
                <a:sym typeface="+mn-ea"/>
              </a:rPr>
              <a:t>Đ</a:t>
            </a:r>
            <a:r>
              <a:rPr lang="en-US" altLang="en-GB" sz="2400">
                <a:sym typeface="+mn-ea"/>
              </a:rPr>
              <a:t>Ồ LỚP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26695" y="1268730"/>
            <a:ext cx="11787505" cy="2286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Thiết kế hướng đối tượng (OOP)</a:t>
            </a:r>
            <a:r>
              <a:rPr sz="2000">
                <a:solidFill>
                  <a:srgbClr val="1E293B"/>
                </a:solidFill>
                <a:sym typeface="+mn-ea"/>
              </a:rPr>
              <a:t>: Phân rã hệ thống thành các module nghiệp vụ tách biệt, độc lập và dễ bảo trì.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Lớp điều phối trung tâm</a:t>
            </a:r>
            <a:r>
              <a:rPr sz="2000">
                <a:solidFill>
                  <a:srgbClr val="1E293B"/>
                </a:solidFill>
                <a:sym typeface="+mn-ea"/>
              </a:rPr>
              <a:t>: `UnifiedDermatologyPipeline` đóng vai trò Controller quản lý luồng dữ liệu chẩn đoán.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Các lớp dịch vụ</a:t>
            </a:r>
            <a:r>
              <a:rPr sz="2000">
                <a:solidFill>
                  <a:srgbClr val="1E293B"/>
                </a:solidFill>
                <a:sym typeface="+mn-ea"/>
              </a:rPr>
              <a:t>:</a:t>
            </a:r>
            <a:r>
              <a:rPr lang="en-US" sz="2000">
                <a:solidFill>
                  <a:srgbClr val="1E293B"/>
                </a:solidFill>
                <a:sym typeface="+mn-ea"/>
              </a:rPr>
              <a:t> 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SafetyGate (kiểm tra chất l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ợng), InteractiveSegmenter (ph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n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oạn), MultimodalBayesianFusion (hợp nhất x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c suất). Việc m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ã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 h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ó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a và l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u trữ EHR hiện là c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c hàm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ộc lập trong app_streamlit.py,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đư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ợc gọi song song với pipeline từ lớp giao diện.</a:t>
            </a:r>
            <a:endParaRPr lang="en-US" altLang="en-GB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1468120" y="3500755"/>
            <a:ext cx="9239250" cy="277812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5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KẾT QUẢ THỬ NGHIỆM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KẾT LUẬN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KỊCH BẢN THỬ NGHIỆM &amp; KẾT QUẢ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47625" y="1124585"/>
            <a:ext cx="6464935" cy="1973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Triển khai &amp; Kiểm thử</a:t>
            </a:r>
            <a:r>
              <a:rPr sz="2000">
                <a:solidFill>
                  <a:srgbClr val="1E293B"/>
                </a:solidFill>
                <a:sym typeface="+mn-ea"/>
              </a:rPr>
              <a:t>: Đánh giá </a:t>
            </a:r>
            <a:r>
              <a:rPr 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ộ ch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nh x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c ph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â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 loại bệnh l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ý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 (EfficientNet-B1 + CBAM): 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88.65%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 tr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ê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 tập kiểm thử HAM10000-ROI (3.005 mẫu), best validation accuracy </a:t>
            </a:r>
            <a:r>
              <a:rPr lang="en-US" altLang="en-GB" sz="2000" b="1">
                <a:solidFill>
                  <a:srgbClr val="990000"/>
                </a:solidFill>
                <a:sym typeface="+mn-ea"/>
              </a:rPr>
              <a:t>89.39%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, </a:t>
            </a:r>
            <a:r>
              <a:rPr sz="2000">
                <a:solidFill>
                  <a:srgbClr val="1E293B"/>
                </a:solidFill>
                <a:sym typeface="+mn-ea"/>
              </a:rPr>
              <a:t>độ trễ suy luận trung bình </a:t>
            </a:r>
            <a:r>
              <a:rPr sz="2000" b="1">
                <a:solidFill>
                  <a:srgbClr val="990000"/>
                </a:solidFill>
                <a:sym typeface="+mn-ea"/>
              </a:rPr>
              <a:t>232.27 ms</a:t>
            </a:r>
            <a:r>
              <a:rPr sz="2000">
                <a:solidFill>
                  <a:srgbClr val="1E293B"/>
                </a:solidFill>
                <a:sym typeface="+mn-ea"/>
              </a:rPr>
              <a:t> đầu cuối.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>
              <a:lnSpc>
                <a:spcPct val="95000"/>
              </a:lnSpc>
              <a:spcAft>
                <a:spcPts val="1000"/>
              </a:spcAft>
            </a:pPr>
            <a:endParaRPr lang="en-US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2" name="Picture 1" descr="inference_breakdown.png"/>
          <p:cNvPicPr>
            <a:picLocks noChangeAspect="1"/>
          </p:cNvPicPr>
          <p:nvPr/>
        </p:nvPicPr>
        <p:blipFill>
          <a:blip r:embed="rId1"/>
          <a:srcRect t="2144" b="3188"/>
          <a:stretch>
            <a:fillRect/>
          </a:stretch>
        </p:blipFill>
        <p:spPr>
          <a:xfrm>
            <a:off x="695325" y="3683000"/>
            <a:ext cx="5147945" cy="3168015"/>
          </a:xfrm>
          <a:prstGeom prst="rect">
            <a:avLst/>
          </a:prstGeom>
        </p:spPr>
      </p:pic>
      <p:pic>
        <p:nvPicPr>
          <p:cNvPr id="1" name="Picture 0"/>
          <p:cNvPicPr/>
          <p:nvPr/>
        </p:nvPicPr>
        <p:blipFill>
          <a:blip r:embed="rId2"/>
          <a:srcRect l="584" r="5366"/>
          <a:stretch>
            <a:fillRect/>
          </a:stretch>
        </p:blipFill>
        <p:spPr>
          <a:xfrm>
            <a:off x="6383655" y="1124585"/>
            <a:ext cx="5832475" cy="51689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0" name="Google Shape;100;p4"/>
          <p:cNvSpPr txBox="1"/>
          <p:nvPr/>
        </p:nvSpPr>
        <p:spPr>
          <a:xfrm>
            <a:off x="330481" y="11635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  <a:defRPr sz="2800" b="1" i="0" u="none" strike="noStrike" cap="none">
                <a:solidFill>
                  <a:schemeClr val="lt1"/>
                </a:solidFill>
                <a:latin typeface="Lato" panose="020F0502020204030203"/>
                <a:ea typeface="Lato" panose="020F0502020204030203"/>
                <a:cs typeface="Lato" panose="020F0502020204030203"/>
                <a:sym typeface="Lato" panose="020F050202020403020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PHẦN </a:t>
            </a:r>
            <a:r>
              <a:rPr lang="en-US">
                <a:latin typeface="+mj-lt"/>
                <a:cs typeface="+mj-lt"/>
                <a:sym typeface="+mn-ea"/>
              </a:rPr>
              <a:t>5</a:t>
            </a:r>
            <a:r>
              <a:rPr>
                <a:latin typeface="+mj-lt"/>
                <a:cs typeface="+mj-lt"/>
                <a:sym typeface="+mn-ea"/>
              </a:rPr>
              <a:t>: </a:t>
            </a:r>
            <a:r>
              <a:rPr lang="en-US">
                <a:latin typeface="+mj-lt"/>
                <a:cs typeface="+mj-lt"/>
                <a:sym typeface="+mn-ea"/>
              </a:rPr>
              <a:t>KẾT QUẢ THỬ NGHIỆM</a:t>
            </a:r>
            <a:r>
              <a:rPr>
                <a:latin typeface="+mj-lt"/>
                <a:cs typeface="+mj-lt"/>
                <a:sym typeface="+mn-ea"/>
              </a:rPr>
              <a:t> &amp; </a:t>
            </a:r>
            <a:r>
              <a:rPr lang="en-US">
                <a:latin typeface="+mj-lt"/>
                <a:cs typeface="+mj-lt"/>
                <a:sym typeface="+mn-ea"/>
              </a:rPr>
              <a:t>KẾT LUẬN</a:t>
            </a:r>
            <a:endParaRPr lang="en-US">
              <a:latin typeface="+mj-lt"/>
              <a:cs typeface="+mj-lt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07670" y="781685"/>
            <a:ext cx="7427595" cy="3708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>
              <a:defRPr sz="2200" b="1">
                <a:solidFill>
                  <a:srgbClr val="990000"/>
                </a:solidFill>
                <a:latin typeface="Arial" panose="020B0604020202020204"/>
              </a:defRPr>
            </a:pPr>
            <a:r>
              <a:rPr lang="en-US" altLang="en-GB" sz="2400">
                <a:sym typeface="+mn-ea"/>
              </a:rPr>
              <a:t>KỊCH BẢN THỬ NGHIỆM &amp; KẾT QUẢ</a:t>
            </a:r>
            <a:endParaRPr lang="en-US" altLang="en-GB" sz="2400">
              <a:sym typeface="+mn-ea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47625" y="1124585"/>
            <a:ext cx="12084050" cy="968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sym typeface="+mn-ea"/>
              </a:rPr>
              <a:t>Kịch bản y khoa đặc thù</a:t>
            </a:r>
            <a:r>
              <a:rPr sz="2000">
                <a:solidFill>
                  <a:srgbClr val="1E293B"/>
                </a:solidFill>
                <a:sym typeface="+mn-ea"/>
              </a:rPr>
              <a:t>: </a:t>
            </a:r>
            <a:r>
              <a:rPr lang="en-US" sz="2000">
                <a:solidFill>
                  <a:srgbClr val="1E293B"/>
                </a:solidFill>
                <a:sym typeface="+mn-ea"/>
              </a:rPr>
              <a:t>H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ệ thống vẫn hoạt </a:t>
            </a:r>
            <a:r>
              <a:rPr lang="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ộng ổn </a:t>
            </a:r>
            <a:r>
              <a:rPr lang="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ịnh, Safety Gate phản ứng </a:t>
            </a:r>
            <a:r>
              <a:rPr lang="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ú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ng d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ù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 </a:t>
            </a:r>
            <a:r>
              <a:rPr lang="" altLang="en-US" sz="2000">
                <a:solidFill>
                  <a:srgbClr val="1E293B"/>
                </a:solidFill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ộ ch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nh x</a:t>
            </a:r>
            <a:r>
              <a:rPr lang="en-US" altLang="en-US" sz="2000">
                <a:solidFill>
                  <a:srgbClr val="1E293B"/>
                </a:solidFill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sym typeface="+mn-ea"/>
              </a:rPr>
              <a:t>c giảm với</a:t>
            </a:r>
            <a:r>
              <a:rPr sz="2000">
                <a:solidFill>
                  <a:srgbClr val="1E293B"/>
                </a:solidFill>
                <a:sym typeface="+mn-ea"/>
              </a:rPr>
              <a:t> kịch bản ảnh phơi sáng kém, ảnh chứa nhiễu</a:t>
            </a:r>
            <a:r>
              <a:rPr lang="en-US" sz="2000">
                <a:solidFill>
                  <a:srgbClr val="1E293B"/>
                </a:solidFill>
                <a:sym typeface="+mn-ea"/>
              </a:rPr>
              <a:t> </a:t>
            </a:r>
            <a:r>
              <a:rPr sz="2000">
                <a:solidFill>
                  <a:srgbClr val="1E293B"/>
                </a:solidFill>
                <a:sym typeface="+mn-ea"/>
              </a:rPr>
              <a:t>và bác sĩ vẽ tay mồi bị lỗi</a:t>
            </a:r>
            <a:r>
              <a:rPr lang="en-US" sz="2000">
                <a:solidFill>
                  <a:srgbClr val="1E293B"/>
                </a:solidFill>
                <a:sym typeface="+mn-ea"/>
              </a:rPr>
              <a:t>,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nh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ổi giữa ng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ỡng Safety Gate và </a:t>
            </a:r>
            <a:r>
              <a:rPr lang="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ộ ch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í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nh x</a:t>
            </a:r>
            <a:r>
              <a:rPr lang="en-US" altLang="en-US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+mn-lt"/>
                <a:cs typeface="+mn-lt"/>
                <a:sym typeface="+mn-ea"/>
              </a:rPr>
              <a:t>c.</a:t>
            </a:r>
            <a:endParaRPr lang="en-US" altLang="en-GB" sz="2000">
              <a:solidFill>
                <a:srgbClr val="1E293B"/>
              </a:solidFill>
              <a:latin typeface="+mn-lt"/>
              <a:cs typeface="+mn-lt"/>
              <a:sym typeface="+mn-ea"/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288290" y="2038350"/>
            <a:ext cx="5768975" cy="4730750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2"/>
          <a:srcRect l="1989" r="1604"/>
          <a:stretch>
            <a:fillRect/>
          </a:stretch>
        </p:blipFill>
        <p:spPr>
          <a:xfrm>
            <a:off x="5663565" y="2038985"/>
            <a:ext cx="6440170" cy="445389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 lang="en-US">
                <a:latin typeface="+mj-lt"/>
                <a:cs typeface="+mj-lt"/>
              </a:rPr>
              <a:t>HẠN CHẾ</a:t>
            </a:r>
            <a:endParaRPr lang="en-US">
              <a:latin typeface="+mj-lt"/>
              <a:cs typeface="+mj-lt"/>
            </a:endParaRPr>
          </a:p>
        </p:txBody>
      </p:sp>
      <p:sp>
        <p:nvSpPr>
          <p:cNvPr id="117" name="Google Shape;117;p6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16535" y="1052830"/>
            <a:ext cx="11640820" cy="2117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- C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chế m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ã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ó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a EHR hiện ở mức nguy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ê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mẫu (XOR + kh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ó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a cố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ịnh trong m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ã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nguồn), ch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a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ạt chuẩn production nh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AES-256/KMS.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- Dữ liệu huấn luyện VQA c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ò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nhỏ rủi ro ghi nhớ mẫu 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là suy luận l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m sàng tổng qu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t</a:t>
            </a:r>
            <a:r>
              <a:rPr sz="2000">
                <a:solidFill>
                  <a:srgbClr val="1E293B"/>
                </a:solidFill>
                <a:latin typeface="Arial" panose="020B0604020202020204"/>
              </a:rPr>
              <a:t>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lang="en-US" sz="2000">
                <a:solidFill>
                  <a:srgbClr val="1E293B"/>
                </a:solidFill>
                <a:latin typeface="Arial" panose="020B0604020202020204"/>
              </a:rPr>
              <a:t>- 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ộ ch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í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nh x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c giảm 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ng kể tr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ê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ảnh chất l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ợng k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é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m (c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ò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57.1% ở kịch bản ph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i s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ng k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é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m,  nhiễu, mồi lỗi), cho thấy giới hạn thực tế khi 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iều kiện chụp không l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ý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t</a:t>
            </a:r>
            <a:r>
              <a:rPr lang="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ởng.</a:t>
            </a:r>
            <a:endParaRPr lang="en-US" altLang="en-GB" sz="2000">
              <a:solidFill>
                <a:srgbClr val="1E293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/>
          <p:nvPr>
            <p:ph type="title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 panose="020F0502020204030203"/>
              <a:buNone/>
            </a:pPr>
            <a:r>
              <a:rPr>
                <a:latin typeface="+mj-lt"/>
                <a:cs typeface="+mj-lt"/>
                <a:sym typeface="+mn-ea"/>
              </a:rPr>
              <a:t>KẾT LUẬN &amp; Đ</a:t>
            </a:r>
            <a:r>
              <a:rPr lang="en-US">
                <a:latin typeface="+mj-lt"/>
                <a:cs typeface="+mj-lt"/>
                <a:sym typeface="+mn-ea"/>
              </a:rPr>
              <a:t>Ó</a:t>
            </a:r>
            <a:r>
              <a:rPr>
                <a:latin typeface="+mj-lt"/>
                <a:cs typeface="+mj-lt"/>
                <a:sym typeface="+mn-ea"/>
              </a:rPr>
              <a:t>NG GÓP XÃ HỘI</a:t>
            </a:r>
            <a:endParaRPr>
              <a:latin typeface="+mj-lt"/>
              <a:cs typeface="+mj-lt"/>
            </a:endParaRPr>
          </a:p>
        </p:txBody>
      </p:sp>
      <p:sp>
        <p:nvSpPr>
          <p:cNvPr id="117" name="Google Shape;117;p6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16535" y="1052830"/>
            <a:ext cx="11748770" cy="2825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latin typeface="Arial" panose="020B0604020202020204"/>
              </a:rPr>
              <a:t>Bình đẳng hóa y tế cơ sở</a:t>
            </a:r>
            <a:r>
              <a:rPr sz="2000">
                <a:solidFill>
                  <a:srgbClr val="1E293B"/>
                </a:solidFill>
                <a:latin typeface="Arial" panose="020B0604020202020204"/>
              </a:rPr>
              <a:t>: Cho phép các trạm y tế tuyến trạm/huyện tầm soát sớm ung thư da với chi phí tối thiểu, mang công nghệ 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hỗ trợ chẩn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o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</a:t>
            </a:r>
            <a:r>
              <a:rPr sz="2000">
                <a:solidFill>
                  <a:srgbClr val="1E293B"/>
                </a:solidFill>
                <a:latin typeface="Arial" panose="020B0604020202020204"/>
              </a:rPr>
              <a:t> đến vùng sâu vùng xa.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latin typeface="Arial" panose="020B0604020202020204"/>
              </a:rPr>
              <a:t>Hỗ trợ tự đào tạo bác sĩ</a:t>
            </a:r>
            <a:r>
              <a:rPr sz="2000">
                <a:solidFill>
                  <a:srgbClr val="1E293B"/>
                </a:solidFill>
                <a:latin typeface="Arial" panose="020B0604020202020204"/>
              </a:rPr>
              <a:t>: Trợ lý VQA RAG y văn Bộ Y tế hoạt động như 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công cụ hỗ trợ tra cứu y v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ă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c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ó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sẵn li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ê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tục</a:t>
            </a:r>
            <a:r>
              <a:rPr sz="2000">
                <a:solidFill>
                  <a:srgbClr val="1E293B"/>
                </a:solidFill>
                <a:latin typeface="Arial" panose="020B0604020202020204"/>
              </a:rPr>
              <a:t> cho bác sĩ đa khoa.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990000"/>
                </a:solidFill>
                <a:latin typeface="Arial" panose="020B0604020202020204"/>
              </a:rPr>
              <a:t>Kết luận</a:t>
            </a:r>
            <a:r>
              <a:rPr sz="2000">
                <a:solidFill>
                  <a:srgbClr val="1E293B"/>
                </a:solidFill>
                <a:latin typeface="Arial" panose="020B0604020202020204"/>
              </a:rPr>
              <a:t>: Xây dựng thành công 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hệ thống nguy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ê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 mẫu CDSS da liễu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a ph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ng thức, hoàn thiện c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c module ch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í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nh, hoạt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ộng offline,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p dụng c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c biện ph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p bảo vệ dữ liệu c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 bản, và cải thiện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á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ng kể tốc 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đ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ộ phản hồi l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â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m sàng (232ms/l</a:t>
            </a:r>
            <a:r>
              <a:rPr lang="en-US" altLang="en-US" sz="2000">
                <a:solidFill>
                  <a:srgbClr val="1E293B"/>
                </a:solidFill>
                <a:latin typeface="Arial" panose="020B0604020202020204"/>
              </a:rPr>
              <a:t>ư</a:t>
            </a:r>
            <a:r>
              <a:rPr lang="en-US" altLang="en-GB" sz="2000">
                <a:solidFill>
                  <a:srgbClr val="1E293B"/>
                </a:solidFill>
                <a:latin typeface="Arial" panose="020B0604020202020204"/>
              </a:rPr>
              <a:t>ợt).</a:t>
            </a:r>
            <a:endParaRPr sz="2000">
              <a:solidFill>
                <a:srgbClr val="1E293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3"/>
          <p:cNvSpPr txBox="1"/>
          <p:nvPr/>
        </p:nvSpPr>
        <p:spPr>
          <a:xfrm>
            <a:off x="5304155" y="2708910"/>
            <a:ext cx="629412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6000"/>
              <a:buFont typeface="Lato" panose="020F0502020204030203"/>
              <a:buNone/>
            </a:pPr>
            <a:r>
              <a:rPr lang="en-US" sz="3600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Lato" panose="020F0502020204030203"/>
                <a:cs typeface="Arial" panose="020B0604020202020204" pitchFamily="34" charset="0"/>
                <a:sym typeface="Lato" panose="020F0502020204030203"/>
              </a:rPr>
              <a:t>CẢM ƠN QUÝ THẦY CÔ VÀ CÁC BẠN ĐÃ LẮNG NGHE!</a:t>
            </a:r>
            <a:endParaRPr lang="en-US" sz="3600" b="1" i="0" u="none" strike="noStrike" cap="none">
              <a:solidFill>
                <a:srgbClr val="C00000"/>
              </a:solidFill>
              <a:latin typeface="Arial" panose="020B0604020202020204" pitchFamily="34" charset="0"/>
              <a:ea typeface="Lato" panose="020F0502020204030203"/>
              <a:cs typeface="Arial" panose="020B0604020202020204" pitchFamily="34" charset="0"/>
              <a:sym typeface="Lato" panose="020F0502020204030203"/>
            </a:endParaRPr>
          </a:p>
        </p:txBody>
      </p:sp>
      <p:sp>
        <p:nvSpPr>
          <p:cNvPr id="168" name="Google Shape;168;p13"/>
          <p:cNvSpPr txBox="1"/>
          <p:nvPr>
            <p:ph type="sldNum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6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7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8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9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0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1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2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3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4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5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6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7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8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19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0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1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2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3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4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5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6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7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8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29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0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1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2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3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4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5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6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7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8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39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0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1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2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3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4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5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6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7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8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49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0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1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2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3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4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5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6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7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8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59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ags/tag60.xml><?xml version="1.0" encoding="utf-8"?>
<p:tagLst xmlns:p="http://schemas.openxmlformats.org/presentationml/2006/main">
  <p:tag name="KSO_WM_DIAGRAM_VIRTUALLY_FRAME" val="{&quot;height&quot;:402.15,&quot;left&quot;:281.5,&quot;top&quot;:80.2,&quot;width&quot;:701.95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12066</Words>
  <Application>WPS Presentation</Application>
  <PresentationFormat/>
  <Paragraphs>424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1" baseType="lpstr">
      <vt:lpstr>Arial</vt:lpstr>
      <vt:lpstr>SimSun</vt:lpstr>
      <vt:lpstr>Wingdings</vt:lpstr>
      <vt:lpstr>Arial</vt:lpstr>
      <vt:lpstr>Lato</vt:lpstr>
      <vt:lpstr>Calibri</vt:lpstr>
      <vt:lpstr>Microsoft YaHei</vt:lpstr>
      <vt:lpstr>Arial Unicode MS</vt:lpstr>
      <vt:lpstr>Office Theme</vt:lpstr>
      <vt:lpstr>PowerPoint 演示文稿</vt:lpstr>
      <vt:lpstr>NỘI DUNG TRÌNH BÀY</vt:lpstr>
      <vt:lpstr>NỘI DUNG TRÌNH BÀY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NỘI DUNG TRÌNH BÀY</vt:lpstr>
      <vt:lpstr>PowerPoint 演示文稿</vt:lpstr>
      <vt:lpstr>PowerPoint 演示文稿</vt:lpstr>
      <vt:lpstr>PowerPoint 演示文稿</vt:lpstr>
      <vt:lpstr>NỘI DUNG TRÌNH BÀY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NỘI DUNG TRÌNH BÀY</vt:lpstr>
      <vt:lpstr>PowerPoint 演示文稿</vt:lpstr>
      <vt:lpstr>PowerPoint 演示文稿</vt:lpstr>
      <vt:lpstr>PowerPoint 演示文稿</vt:lpstr>
      <vt:lpstr>NỘI DUNG TRÌNH BÀY</vt:lpstr>
      <vt:lpstr>PowerPoint 演示文稿</vt:lpstr>
      <vt:lpstr>PowerPoint 演示文稿</vt:lpstr>
      <vt:lpstr>PowerPoint 演示文稿</vt:lpstr>
      <vt:lpstr>HẠN CHẾ</vt:lpstr>
      <vt:lpstr>KẾT LUẬN &amp; ĐÓNG GÓP XÃ HỘI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Phong TT &amp; QTTH</dc:creator>
  <cp:lastModifiedBy>Hương Giang Nguyễn</cp:lastModifiedBy>
  <cp:revision>21</cp:revision>
  <dcterms:created xsi:type="dcterms:W3CDTF">2026-07-08T18:04:00Z</dcterms:created>
  <dcterms:modified xsi:type="dcterms:W3CDTF">2026-07-20T05:12:31Z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B1EE828611F648FB89CC6ED6192E9721_12</vt:lpwstr>
  </property>
  <property fmtid="{D5CDD505-2E9C-101B-9397-08002B2CF9AE}" pid="3" name="KSOProductBuildVer">
    <vt:lpwstr>2057-12.2.0.23206</vt:lpwstr>
  </property>
</Properties>
</file>